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31c71c9836d4bce" /><Relationship Type="http://schemas.openxmlformats.org/officeDocument/2006/relationships/extended-properties" Target="/docProps/app.xml" Id="Reafd2f7eb53041d8" /><Relationship Type="http://schemas.openxmlformats.org/officeDocument/2006/relationships/officeDocument" Target="/ppt/presentation.xml" Id="R8b78b909559f4f7a" /></Relationships>
</file>

<file path=ppt/presentation.xml><?xml version="1.0" encoding="utf-8"?>
<p:presentation xmlns:p="http://schemas.openxmlformats.org/presentationml/2006/main">
  <p:sldMasterIdLst>
    <p:sldMasterId xmlns:r="http://schemas.openxmlformats.org/officeDocument/2006/relationships" id="2147483648" r:id="R411343b284e140c4"/>
  </p:sldMasterIdLst>
  <p:notesMasterIdLst>
    <p:notesMasterId xmlns:r="http://schemas.openxmlformats.org/officeDocument/2006/relationships" r:id="R4799cc6f4f0c4969"/>
  </p:notesMasterIdLst>
  <p:sldIdLst>
    <p:sldId xmlns:r="http://schemas.openxmlformats.org/officeDocument/2006/relationships" id="256" r:id="Rdb9daf52d1b84331"/>
    <p:sldId xmlns:r="http://schemas.openxmlformats.org/officeDocument/2006/relationships" id="257" r:id="R1ddeb79ff9974c71"/>
    <p:sldId xmlns:r="http://schemas.openxmlformats.org/officeDocument/2006/relationships" id="258" r:id="Ra6bd0c7f20a749f8"/>
    <p:sldId xmlns:r="http://schemas.openxmlformats.org/officeDocument/2006/relationships" id="259" r:id="R995ec3729b1a4cfa"/>
    <p:sldId xmlns:r="http://schemas.openxmlformats.org/officeDocument/2006/relationships" id="260" r:id="Rf48414f483ed4358"/>
    <p:sldId xmlns:r="http://schemas.openxmlformats.org/officeDocument/2006/relationships" id="261" r:id="Rb542c6c3185140c9"/>
    <p:sldId xmlns:r="http://schemas.openxmlformats.org/officeDocument/2006/relationships" id="262" r:id="R023a46eb13994ca2"/>
    <p:sldId xmlns:r="http://schemas.openxmlformats.org/officeDocument/2006/relationships" id="263" r:id="Rd1471ddb2fc14f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ceec03d2734109" /><Relationship Type="http://schemas.openxmlformats.org/officeDocument/2006/relationships/slideMaster" Target="/ppt/slideMasters/slideMaster1.xml" Id="R411343b284e140c4" /><Relationship Type="http://schemas.openxmlformats.org/officeDocument/2006/relationships/notesMaster" Target="/ppt/notesMasters/notesMaster1.xml" Id="R4799cc6f4f0c4969" /><Relationship Type="http://schemas.openxmlformats.org/officeDocument/2006/relationships/presProps" Target="/ppt/presProps.xml" Id="R2ee47682c95949ad" /><Relationship Type="http://schemas.openxmlformats.org/officeDocument/2006/relationships/tableStyles" Target="/ppt/tableStyles.xml" Id="R96730693a0cd4ac9" /><Relationship Type="http://schemas.openxmlformats.org/officeDocument/2006/relationships/slide" Target="/ppt/slides/slide1.xml" Id="Rdb9daf52d1b84331" /><Relationship Type="http://schemas.openxmlformats.org/officeDocument/2006/relationships/slide" Target="/ppt/slides/slide2.xml" Id="R1ddeb79ff9974c71" /><Relationship Type="http://schemas.openxmlformats.org/officeDocument/2006/relationships/slide" Target="/ppt/slides/slide3.xml" Id="Ra6bd0c7f20a749f8" /><Relationship Type="http://schemas.openxmlformats.org/officeDocument/2006/relationships/slide" Target="/ppt/slides/slide4.xml" Id="R995ec3729b1a4cfa" /><Relationship Type="http://schemas.openxmlformats.org/officeDocument/2006/relationships/slide" Target="/ppt/slides/slide5.xml" Id="Rf48414f483ed4358" /><Relationship Type="http://schemas.openxmlformats.org/officeDocument/2006/relationships/slide" Target="/ppt/slides/slide6.xml" Id="Rb542c6c3185140c9" /><Relationship Type="http://schemas.openxmlformats.org/officeDocument/2006/relationships/slide" Target="/ppt/slides/slide7.xml" Id="R023a46eb13994ca2" /><Relationship Type="http://schemas.openxmlformats.org/officeDocument/2006/relationships/slide" Target="/ppt/slides/slide8.xml" Id="Rd1471ddb2fc14f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43ff99f13b4c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e5ca22cdb846c3" /><Relationship Type="http://schemas.openxmlformats.org/officeDocument/2006/relationships/notesMaster" Target="/ppt/notesMasters/notesMaster1.xml" Id="R3767f9c493854c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1f82cf003d41e0" /><Relationship Type="http://schemas.openxmlformats.org/officeDocument/2006/relationships/notesMaster" Target="/ppt/notesMasters/notesMaster1.xml" Id="R30be57b878d340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6a5dd6347c461a" /><Relationship Type="http://schemas.openxmlformats.org/officeDocument/2006/relationships/notesMaster" Target="/ppt/notesMasters/notesMaster1.xml" Id="R781f96c1cf1a40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738220985f46fa" /><Relationship Type="http://schemas.openxmlformats.org/officeDocument/2006/relationships/notesMaster" Target="/ppt/notesMasters/notesMaster1.xml" Id="R7ec67bb591e446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a58b452fd14171" /><Relationship Type="http://schemas.openxmlformats.org/officeDocument/2006/relationships/notesMaster" Target="/ppt/notesMasters/notesMaster1.xml" Id="Rad583eff733347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10f1257af64786" /><Relationship Type="http://schemas.openxmlformats.org/officeDocument/2006/relationships/notesMaster" Target="/ppt/notesMasters/notesMaster1.xml" Id="R644557c944a445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e9995aea254c0a" /><Relationship Type="http://schemas.openxmlformats.org/officeDocument/2006/relationships/notesMaster" Target="/ppt/notesMasters/notesMaster1.xml" Id="R342a9d92c5f744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933136b33b4fba" /><Relationship Type="http://schemas.openxmlformats.org/officeDocument/2006/relationships/notesMaster" Target="/ppt/notesMasters/notesMaster1.xml" Id="R9ffe2b6c2c2e48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spoken remarks (20 seconds)</a:t>
            </a:r>
          </a:p>
          <a:p xmlns:a="http://schemas.openxmlformats.org/drawingml/2006/main">
            <a:r>
              <a:t>We are Group 4. Our project is LEO-aware live video streaming using reinforcement learning for bitrate selection. This review covers the working testbed, policy integration, data preparation and neural export, followed by the remaining model-development and evaluation work.</a:t>
            </a:r>
          </a:p>
          <a:p xmlns:a="http://schemas.openxmlformats.org/drawingml/2006/main">
            <a:r>
              <a:t/>
            </a:r>
          </a:p>
          <a:p xmlns:a="http://schemas.openxmlformats.org/drawingml/2006/main">
            <a:r>
              <a:t>Technical backup and sources</a:t>
            </a:r>
          </a:p>
          <a:p xmlns:a="http://schemas.openxmlformats.org/drawingml/2006/main">
            <a:r>
              <a:t>20 seconds. We are Group 4. Our project is LEO-aware live video streaming using reinforcement learning for adaptive bitrate selection. This mid-review covers the working implementation, what we verified, and the next model-development and evaluation work. We focus on the proposal's mandatory ABR scope.</a:t>
            </a:r>
          </a:p>
          <a:p xmlns:a="http://schemas.openxmlformats.org/drawingml/2006/main">
            <a:r>
              <a:t>Source: C:/Users/HP/Desktop/LEO/resources/CS6048_Group4_Project_Proposal.pdf, title and team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spoken remarks (90 seconds)</a:t>
            </a:r>
          </a:p>
          <a:p xmlns:a="http://schemas.openxmlformats.org/drawingml/2006/main">
            <a:r>
              <a:t>The figure shows the authors’ emulated setup. Their implemented contextual bandit uses linear Thompson sampling, with throughput, playback rate and measured RTT as its inputs. The objective is a reward to maximize. It combines the P.1203 quality estimate with target-to-current live latency and selected-to-maximum bitrate ratios, then subtracts the selected bitrate’s share of recorded stall time. There are three limitations we want to address. First, the code scores the new choice before its segment finishes downloading, using existing observations. Second, stall share is not an absolute stall-seconds penalty, and the single-segment P.1203 input supplies no explicit quality-switching cost. Third, the policy forgets history at fixed 15-second boundaries and initially forces the highest bitrate. Buffer and live latency are absent from the bandit input, although live latency does affect its reward. The paper itself discusses frequent switching and too few samples per slot. This motivates a sequential policy with history and outcome-based playback rewards.</a:t>
            </a:r>
          </a:p>
          <a:p xmlns:a="http://schemas.openxmlformats.org/drawingml/2006/main">
            <a:r>
              <a:t/>
            </a:r>
          </a:p>
          <a:p xmlns:a="http://schemas.openxmlformats.org/drawingml/2006/main">
            <a:r>
              <a:t>Technical backup and sources</a:t>
            </a:r>
          </a:p>
          <a:p xmlns:a="http://schemas.openxmlformats.org/drawingml/2006/main">
            <a:r>
              <a:t>90 seconds. This is the authors’ emulated setup, not a physical Starlink deployment in our experiment. The implemented controller uses linear Thompson sampling, or LinTS, with throughput, playback rate and measured network latency as context. CMAB maximizes a reward rather than a neural loss. Q1203 is the P.1203 perceptual-quality estimate, L is live latency, b is selected bitrate, and T is recorded stall time. The reward scales quality by target/current latency and selected/maximum bitrate, then subtracts the selected bitrate’s share of all stall time. The share is zero if total recorded stalls are zero. Our critique concerns this implementation: the reward is computed immediately after choosing the arm, before that new segment downloads, using the selected representation and previously observed conditions. The supplied P.1203 JSON describes a single segment and an empty stalling list, so it supplies no explicit cross-segment switching cost. A ratio of stall times does not directly penalize absolute stall duration. Live latency appears in the reward but not in the three-feature bandit input; buffer is also absent from that input. History resets in fixed 15-second slots, and the implementation initially forces the highest bitrate. The paper itself discusses frequent switching and insufficient samples per slot. These limitations motivate a history-aware sequential policy and outcome-based rewards. They do not prove that our pilot already improves CMAB.</a:t>
            </a:r>
          </a:p>
          <a:p xmlns:a="http://schemas.openxmlformats.org/drawingml/2006/main">
            <a:r>
              <a:t>Sources: README.md, Emulation section and assets/Emulation-Testbed.png; dash.js/src/streaming/rules/abr/cmab/CMABAbrController.js, embedded LinTS code, calculateReward(), generateITUP1203InputJSON(), getCMABNextQuality(); ../resources/LeoPaper(1).pdf, Eq.6 and Sections 4.1/5, pp.6–7 and 9–10. Image credit: Jinwei Zhao and Jianping Pan, upstream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spoken remarks (65 seconds)</a:t>
            </a:r>
          </a:p>
          <a:p xmlns:a="http://schemas.openxmlformats.org/drawingml/2006/main">
            <a:r>
              <a:t>We first established a reproducible experiment. Recursive submodules and pinned images fix the source versions. Our Dockerfile now builds the edited local player, and Compose overrides select it without replacing the rest of the system. We also repaired the common traffic shaper: it lacked a root HTB queue and specified a rate above its ceiling. The repair applies to every policy. We verified configured capacity, delay, outage and recovery. Separately, the original analysis regenerated 25 figures from archived measurements. Fresh CMAB, Dynamic, L2A-LL and LoL+ runs verified moving video and MongoDB records. Archived figure regeneration and new streaming experiments are separate results.</a:t>
            </a:r>
          </a:p>
          <a:p xmlns:a="http://schemas.openxmlformats.org/drawingml/2006/main">
            <a:r>
              <a:t/>
            </a:r>
          </a:p>
          <a:p xmlns:a="http://schemas.openxmlformats.org/drawingml/2006/main">
            <a:r>
              <a:t>Technical backup and sources</a:t>
            </a:r>
          </a:p>
          <a:p xmlns:a="http://schemas.openxmlformats.org/drawingml/2006/main">
            <a:r>
              <a:t>65 seconds. We first made the original experiment reproducible. We cloned the fork recursively, pinned the player and source revisions, and ran Docker through WSL2. The source, shaper, Chrome, statistics server and MongoDB all work. Editing dash.js alone would not affect the upstream prebuilt player image. Dockerfile-player-anjan now copies the local edited player, and the Compose overrides select it while preserving the remaining services. We also found a shared infrastructure defect: the original traffic-control script omitted the HTB root and specified a rate above its ceiling. Our tc-phase-a.py creates a valid hierarchy and replays the same trace semantics for all policies. Reverse-link tests measured 1.97 and 7.61 Mbps at configured 2 and 8 Mbps, and checked outage and recovery. Separately, the authors’ archived analysis regenerated 25 figures. Fresh CMAB, Dynamic, L2A-LL and LoL+ runs verified actual playback and MongoDB records. We retained failed or stalled runs rather than counting a container exit as success.</a:t>
            </a:r>
          </a:p>
          <a:p xmlns:a="http://schemas.openxmlformats.org/drawingml/2006/main">
            <a:r>
              <a:t>Sources: reports/phase-a/README.md; artifacts/reproduction/verification.json; artifacts/baselines/verified.json; artifacts/setup/link-verification.json; Dockerfile-player-anjan; docker-compose.player.yaml; docker-compose.phase-a.yaml; shaper/tc-phase-a.py.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spoken remarks (75 seconds)</a:t>
            </a:r>
          </a:p>
          <a:p xmlns:a="http://schemas.openxmlformats.org/drawingml/2006/main">
            <a:r>
              <a:t>We added a simple throughput-and-buffer policy first, so we could test the player integration independently of neural learning. Constants and the ABR rule collection register the policy. AnjanRule collects actual player observations and maps its action to a real representation. The player page loads the assets. The policy reads current measurements and history in memory; the existing backend records evidence asynchronously. We then linked decisions to completed HTTP requests and played-quality events. In this demonstration, 39 completed requests linked to 40 decisions. Capacity fell from eight to one megabit per second and recovered, and the selected bitrate followed the change. We also checked startup, stale data, repeated callbacks and seeks.</a:t>
            </a:r>
          </a:p>
          <a:p xmlns:a="http://schemas.openxmlformats.org/drawingml/2006/main">
            <a:r>
              <a:t/>
            </a:r>
          </a:p>
          <a:p xmlns:a="http://schemas.openxmlformats.org/drawingml/2006/main">
            <a:r>
              <a:t>Technical backup and sources</a:t>
            </a:r>
          </a:p>
          <a:p xmlns:a="http://schemas.openxmlformats.org/drawingml/2006/main">
            <a:r>
              <a:t>75 seconds. We introduced a simple measured-throughput and buffer policy first, to separate integration problems from learning problems. Constants.js defines the new strategy labels, ABRRulesCollection.js selects our rule, and testplayer.html exposes the policies and preloads the assets. AnjanRule.js collects completed video-download history, buffer and previous quality, maps the action through actual representation IDs, and returns a synchronous SwitchRequest. policy_core.js shares causal preprocessing and the simple rule. We reuse the existing event/metric backend path and do not query MongoDB during inference. We match logged decisions to actual completed HTTP requests and played-quality events, rather than assuming a printed action controlled the player. On the first 75-second simple-policy case, 39 completed requests linked to 40 logged decisions. When capacity fell from 8 to 1 Mbps and recovered, typical selected bitrate changed from 1500 to 450 and back to 1500 kbps. The native chart uses the recorded player samples, approximately every two seconds, so steps occur at sampled observation times. Controlled stage times in this first run were about 26.7 and 51.7 seconds. We also tested startup, missing/stale data, repeated-callback deduplication and seek/reset behaviour.</a:t>
            </a:r>
          </a:p>
          <a:p xmlns:a="http://schemas.openxmlformats.org/drawingml/2006/main">
            <a:r>
              <a:t>Sources: artifacts/runs/phasea-abrAnjanSimple-20261029T222254-d1324b/samples.json and summary.json; artifacts/integration/phasea-abrAnjanSimple-20261029T222254-d1324b.json; dash.js/src/streaming/constants/Constants.js; dash.js/src/streaming/rules/abr/ABRRulesCollection.js; dash.js/src/streaming/rules/abr/anjan/AnjanRule.js; dash.js/samples/starlink/testplayer/testplayer.html; rl/web/policy_core.js; scripts/browser_trial.py; scripts/verify_live_policy.py.</a:t>
            </a:r>
          </a:p>
          <a:p xmlns:a="http://schemas.openxmlformats.org/drawingml/2006/main">
            <a:br/>
            <a:r>
              <a:t>Chart portability: displayed elapsed times round to the nearest millisecond. Original run logs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spoken remarks (70 seconds)</a:t>
            </a:r>
          </a:p>
          <a:p xmlns:a="http://schemas.openxmlformats.org/drawingml/2006/main">
            <a:r>
              <a:t>The original RTT file and replay CSV describe one recording, not two independent sessions. Two short throughput examples also provide limited training diversity. RTT alone cannot describe changing capacity. We therefore combine measured RTT windows with controlled synthetic capacity, interruption and recovery profiles. We split the source recording first, add 60-second guard gaps, then generate windows without moving derivatives between splits. This produces 48 training, 18 validation and 18 sealed test scenarios. For another measured session, we downloaded a public one-hour LENS Victoria IRTT recording collected through active Starlink probes. It is reserved for later calibration, outside the pilot split. Generated scenarios give controlled coverage, while independent measured bandwidth sessions remain necessary for broader generalization.</a:t>
            </a:r>
          </a:p>
          <a:p xmlns:a="http://schemas.openxmlformats.org/drawingml/2006/main">
            <a:r>
              <a:t/>
            </a:r>
          </a:p>
          <a:p xmlns:a="http://schemas.openxmlformats.org/drawingml/2006/main">
            <a:r>
              <a:t>Technical backup and sources</a:t>
            </a:r>
          </a:p>
          <a:p xmlns:a="http://schemas.openxmlformats.org/drawingml/2006/main">
            <a:r>
              <a:t>70 seconds. The supplied replay CSV and the original one-hour Seychelles RTT file are the same measurement session. The two supplied downlink throughput examples are short diagnostics, not enough independent data for a defensible three-way training split. RTT alone does not describe available capacity, and MongoDB playback outcomes depend on whichever policy produced them. To obtain another measured session, we downloaded one public LENS Victoria one-hour IRTT recording from the authors’ measurement archive and checked its gzip integrity and checksum. The underlying observations come from repeated active round-trip probes over Starlink, not measurements we made with our own dish. We reserved this additional hour for later calibration; it is not silently included in the pilot’s split. For the pilot, we split the original recording chronologically with 60-second guard gaps before cropping windows, then combine those measured RTT windows with programmatically generated capacity variation, explicit outages and recovery profiles. The package contains 48 training, 18 validation and 18 test scenarios covering the five mandatory families plus mixed stress cases. These are synthetic-assisted scenarios, not 84 independent real Starlink recordings. This is useful for controlled development; independent measured bandwidth sessions remain a priority for generalization.</a:t>
            </a:r>
          </a:p>
          <a:p xmlns:a="http://schemas.openxmlformats.org/drawingml/2006/main">
            <a:r>
              <a:t>Sources: data/manifests/sources.json; split-policy.json; train.json; validation.json; test.json; lens-reserve.json; scripts/prepare_data.py and check_data.py. Public archive: https://lens-starlink.jinwei.me/victoria/irtt/2025/11/2025-11-14/irtt-sttlwax1-10ms-1h-2025-11-14-19-00-00.json.gz. LENS attribution: Jinwei Zhao and Jianping Pan, LENS, MMSys 2024, doi:10.1145/3625468.3652170, dataset CC-BY-SA-4.0. StarNet throughput was not imported.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spoken remarks (105 seconds)</a:t>
            </a:r>
          </a:p>
          <a:p xmlns:a="http://schemas.openxmlformats.org/drawingml/2006/main">
            <a:r>
              <a:t>Gelato and Plume provide our modern live-streaming actor-critic reference and public A2C workflow. The released Puffer actor needs ten actions and future metadata our player lacks, so we verified its export separately and trained a compatible eight-action pilot. Our actor uses 36 causal streaming inputs and two 64-unit hidden layers. The critic helps training; only the actor runs in the browser. Early fits collapsed to conservative choices, so the delivered pilot uses documented training-only teacher initialization followed by about 50 thousand A2C decisions. We export the actor weights and Float32 forward calculation to JavaScript, preload them, and preserve the same normalization and representation mapping. Its synchronous result fits dash.js directly. The tradeoffs are main-thread blocking and maintaining numerical parity when the model changes. Python and JavaScript chose the same actions on 44 fixtures and all 39 real Chrome decisions. Complete-decision p99 was about 0.4 milliseconds on this laptop testbed. This verifies the deployment path; final LEO-aware policy quality still needs the next training and evaluation phase.</a:t>
            </a:r>
          </a:p>
          <a:p xmlns:a="http://schemas.openxmlformats.org/drawingml/2006/main">
            <a:r>
              <a:t/>
            </a:r>
          </a:p>
          <a:p xmlns:a="http://schemas.openxmlformats.org/drawingml/2006/main">
            <a:r>
              <a:t>Technical backup and sources</a:t>
            </a:r>
          </a:p>
          <a:p xmlns:a="http://schemas.openxmlformats.org/drawingml/2006/main">
            <a:r>
              <a:t>105 seconds. Gelato/Plume is our starting research reference because it provides a modern live-streaming actor-critic workflow, public model code, and an emphasis on representative training conditions. A2C means advantage actor-critic: the actor chooses a bitrate, while the critic guides learning during training. Only the actor runs during playback. The released Puffer/Maguro reference assumes ten actions and future size/SSIM metadata that our player does not provide. We faithfully ported that reference forward calculation separately and checked 64 native-format fixtures. It is not the deployed policy. We trained a compatible compact actor with 36 normalized streaming inputs, two 64-unit ReLU layers and eight outputs. Early random-initialization fits collapsed to conservative choices. The delivered integration pilot imitates the simple causal rule on 12000 training-only simulator states, then receives 50176 A2C decisions. Validation improved slightly relative to that warm-start policy, but a fortunate random initial actor scored higher in those validation cases. This is not a claim of optimality or CMAB improvement. We export actor weights and dense Float32 calculations, preload them before timed playback and apply identical preprocessing/action mapping. The synchronous result fits dash.js getMaxIndex directly. The cost is main-thread blocking and responsibility for export parity as architectures change. Python/Node actions matched on 44 fixtures, including 40 recorded player inputs. All 39 real Chrome actions also matched; complete-decision p99 was about 0.4ms on this laptop testbed after preload/warm-up. This is a small timing sample, not a universal guarantee. The final slides describe the runtime study.</a:t>
            </a:r>
          </a:p>
          <a:p xmlns:a="http://schemas.openxmlformats.org/drawingml/2006/main">
            <a:r>
              <a:t>Sources: models/reference/manifest.json; models/pilot/manifest.json; artifacts/training/pilot-manifest.json and learning-verification.json; artifacts/exports/reference-parity.json, pilot-parity.json and browser-parity-and-timing.json; rl/web/sync_actor.js, pilot_model.js, pilot_setup.js. Research source: https://github.com/sagar-pa/plume, pinned reference commit 7dab8ce3961f8627a453bacd447b7b89052a4fa2; https://github.com/sagar-pa/abr_rl_test/tree/b9c4069a947be0ba3a145ea65c7088e1a5402aea; Practically High Performant Neural Adaptive Video Streaming, CoNEXT 2024, doi:10.1145/3696401.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spoken remarks (75 seconds)</a:t>
            </a:r>
          </a:p>
          <a:p xmlns:a="http://schemas.openxmlformats.org/drawingml/2006/main">
            <a:r>
              <a:t>Next, we calibrate the fast environment against browser downloads, buffers, stalls and seeking. We then add RTT history, live latency and causal disruption estimates to the conventional pilot state, using balanced scenarios and more independent measured sessions. We will train repeated seeds, choose settings using validation, and then evaluate on sealed tests. The primary comparison is CMAB versus our LEO policy with the same media, network and catch-up settings. Throughput, BOLA and conventional RL provide supporting baselines. The reward will credit played quality and penalize stalls, switching and excessive live delay. We will judge success using QoE and physical playback metrics, rather than a classifier-style accuracy percentage.</a:t>
            </a:r>
          </a:p>
          <a:p xmlns:a="http://schemas.openxmlformats.org/drawingml/2006/main">
            <a:r>
              <a:t/>
            </a:r>
          </a:p>
          <a:p xmlns:a="http://schemas.openxmlformats.org/drawingml/2006/main">
            <a:r>
              <a:t>Technical backup and sources</a:t>
            </a:r>
          </a:p>
          <a:p xmlns:a="http://schemas.openxmlformats.org/drawingml/2006/main">
            <a:r>
              <a:t>75 seconds. The final LEO-aware model is the next phase. First, calibrate the fast training environment against real browser behaviour, especially downloads, stalls and seek/catch-up timing. The current simulator is a useful checked prototype, not a fully calibrated network model. Second, add RTT history, live latency and causal recent-disruption estimates to the conventional pilot state. An estimated interruption is not a ground-truth satellite handover label. Expand independent measured bandwidth and RTT sessions and keep ordinary conditions in training alongside difficult cases. Third, train multiple independent seeds, select settings and checkpoints only with validation, then unseal the final test set. The primary comparison is CMAB versus our LEO policy with the same media, network, target latency and catch-up settings. The proposal also requires throughput, buffer-based BOLA and a Pensieve-style conventional RL baseline. The planned reward credits played quality and penalizes stalls, variation and excessive live latency, with consistent units and a common offline QoE ledger. We will report bitrate, stalls, switches, startup, live latency and QoE rather than a classifier-style accuracy percentage.</a:t>
            </a:r>
          </a:p>
          <a:p xmlns:a="http://schemas.openxmlformats.org/drawingml/2006/main">
            <a:r>
              <a:t>Sources: roadmap.md Steps8–13; proposal mandatory deliverables and QoE objective; rl/pilot_env.py limitations; reports/phase-a/README.md.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spoken remarks (60 seconds)</a:t>
            </a:r>
          </a:p>
          <a:p xmlns:a="http://schemas.openxmlformats.org/drawingml/2006/main">
            <a:r>
              <a:t>We will compare the same actor as synchronous JavaScript, a Python/NumPy forward pass through WebAssembly, and ONNX inference in a worker. The worker moves calculation off the UI thread but returns later. Because dash.js expects an immediate result, a Promise alone is insufficient; the integration needs a scheduling bridge. We will compare complete decision delay, responsiveness and playback QoE. Rajat owns player integration, builds and the runtime bridge. Anjan owns the RL environment, training and model exports. Deviprasad owns emulation scenarios, baseline experiments and QoE evaluation. The final goal is a reproducible improvement over CMAB under a common system.</a:t>
            </a:r>
          </a:p>
          <a:p xmlns:a="http://schemas.openxmlformats.org/drawingml/2006/main">
            <a:r>
              <a:t/>
            </a:r>
          </a:p>
          <a:p xmlns:a="http://schemas.openxmlformats.org/drawingml/2006/main">
            <a:r>
              <a:t>Technical backup and sources</a:t>
            </a:r>
          </a:p>
          <a:p xmlns:a="http://schemas.openxmlformats.org/drawingml/2006/main">
            <a:r>
              <a:t>60 seconds. Direct synchronous JavaScript is our established integration route. We will compare it with the same actor implemented as synchronous Python/NumPy through Pyodide/WebAssembly, and with ONNX Runtime Web in a worker. The first two still execute on the main thread when used synchronously. The worker frees the UI thread but returns its result later, so inference speed alone is not sufficient. dash.js immediately reads getMaxIndex, so a Promise does not make it wait. Rajat will need a scheduling bridge that holds and resumes the intended media request, handles timeouts and discards obsolete results after seeks or resets. We will first check identical outputs for the same weights and inputs, then measure total decision delay, main-thread responsiveness, fallback frequency and playback QoE. The domain split remains: Rajat owns player integration, Docker builds and integration coordination; Anjan owns environment/model/training/export work; Deviprasad owns trace scenarios, baseline experiments and QoE evaluation. The objective is a reproducible improvement over CMAB under the same remaining system.</a:t>
            </a:r>
          </a:p>
          <a:p xmlns:a="http://schemas.openxmlformats.org/drawingml/2006/main">
            <a:r>
              <a:t>Sources: roadmap.md Steps12–14 and team responsibility split supplied by the user; dash.js/src/streaming/rules/abr/ABRRulesCollection.js synchronous getMaxQuality() mapping over getMaxIndex(); reports/phase-a/README.md runtime status. Technical caution: the Pyodide route means a NumPy actor forward pass, not loading full PyTorch in the browser.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6bd0ac9eaa4cd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d45de0ac0514d4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6962069a83441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4c394c2964546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569e021ab27400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1e9d0222fa844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24C2FC-4FF0-4DEE-A6EA-5B5EC657500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361DE60-A42D-4E82-AFFB-BE2A6EAA2DD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4AAD281-7011-4CEE-B286-1F1388B30AC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75CD79-9FC2-45CE-8615-AA3EE3CF79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9E5866B-0C8B-475F-8BCE-DD5DD468FB9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DD806E-B121-4C3F-81B7-69EE45EA23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07D561-09FA-4F9B-BC38-6998DEE7C1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AEEA824-B599-411E-85CF-5FA43E17118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E72DA7-2559-4509-8C23-CD6B58CC95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DED1450-851D-4817-B425-98B697CBF1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733d7f85cd4f7f" /><Relationship Type="http://schemas.openxmlformats.org/officeDocument/2006/relationships/slideLayout" Target="/ppt/slideLayouts/slideLayout1.xml" Id="R1662c2e8ed394e42" /><Relationship Type="http://schemas.openxmlformats.org/officeDocument/2006/relationships/slideLayout" Target="/ppt/slideLayouts/slideLayout2.xml" Id="Rc8cfaea50f6c4d26" /><Relationship Type="http://schemas.openxmlformats.org/officeDocument/2006/relationships/slideLayout" Target="/ppt/slideLayouts/slideLayout3.xml" Id="R8aeeaea3cc3641a7" /><Relationship Type="http://schemas.openxmlformats.org/officeDocument/2006/relationships/slideLayout" Target="/ppt/slideLayouts/slideLayout4.xml" Id="R0f7237967e774754" /><Relationship Type="http://schemas.openxmlformats.org/officeDocument/2006/relationships/slideLayout" Target="/ppt/slideLayouts/slideLayout5.xml" Id="R1301ca09496646b5" /><Relationship Type="http://schemas.openxmlformats.org/officeDocument/2006/relationships/slideLayout" Target="/ppt/slideLayouts/slideLayout6.xml" Id="Rf8e50da1bf404d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62c2e8ed394e42"/>
    <p:sldLayoutId xmlns:r="http://schemas.openxmlformats.org/officeDocument/2006/relationships" id="2147483650" r:id="Rc8cfaea50f6c4d26"/>
    <p:sldLayoutId xmlns:r="http://schemas.openxmlformats.org/officeDocument/2006/relationships" id="2147483651" r:id="R8aeeaea3cc3641a7"/>
    <p:sldLayoutId xmlns:r="http://schemas.openxmlformats.org/officeDocument/2006/relationships" id="2147483652" r:id="R0f7237967e774754"/>
    <p:sldLayoutId xmlns:r="http://schemas.openxmlformats.org/officeDocument/2006/relationships" id="2147483653" r:id="R1301ca09496646b5"/>
    <p:sldLayoutId xmlns:r="http://schemas.openxmlformats.org/officeDocument/2006/relationships" id="2147483654" r:id="Rf8e50da1bf404d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205560ee58b48c0" /><Relationship Type="http://schemas.openxmlformats.org/officeDocument/2006/relationships/notesSlide" Target="/ppt/notesSlides/notesSlide1.xml" Id="R945a82255f0542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379c73b9fad461d" /><Relationship Type="http://schemas.openxmlformats.org/officeDocument/2006/relationships/image" Target="/ppt/media/image.png" Id="R49497488010445b7" /><Relationship Type="http://schemas.openxmlformats.org/officeDocument/2006/relationships/notesSlide" Target="/ppt/notesSlides/notesSlide2.xml" Id="R5254231f660c48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44e4280836741cb" /><Relationship Type="http://schemas.openxmlformats.org/officeDocument/2006/relationships/notesSlide" Target="/ppt/notesSlides/notesSlide3.xml" Id="R92dc71366deb45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e3b0acf37044851" /><Relationship Type="http://schemas.openxmlformats.org/officeDocument/2006/relationships/chart" Target="/ppt/slides/charts/chart1.xml" Id="R51b5f662e4914cf0" /><Relationship Type="http://schemas.openxmlformats.org/officeDocument/2006/relationships/notesSlide" Target="/ppt/notesSlides/notesSlide4.xml" Id="R0a266a280c444e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e9632eadcca4078" /><Relationship Type="http://schemas.openxmlformats.org/officeDocument/2006/relationships/notesSlide" Target="/ppt/notesSlides/notesSlide5.xml" Id="R44ddd3e826f343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b13ec2604e549d4" /><Relationship Type="http://schemas.openxmlformats.org/officeDocument/2006/relationships/notesSlide" Target="/ppt/notesSlides/notesSlide6.xml" Id="Rc005ab73106042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0ef113eef8b4e3b" /><Relationship Type="http://schemas.openxmlformats.org/officeDocument/2006/relationships/notesSlide" Target="/ppt/notesSlides/notesSlide7.xml" Id="Rf727d905a7f048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a4c11dad72b4f2d" /><Relationship Type="http://schemas.openxmlformats.org/officeDocument/2006/relationships/notesSlide" Target="/ppt/notesSlides/notesSlide8.xml" Id="R411b665da750479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Selected bitrate</c:v>
          </c:tx>
          <c:spPr>
            <a:ln xmlns:a="http://schemas.openxmlformats.org/drawingml/2006/main" w="28575">
              <a:solidFill>
                <a:srgbClr val="0B7A75"/>
              </a:solidFill>
              <a:prstDash val="solid"/>
            </a:ln>
          </c:spPr>
          <c:marker>
            <c:symbol val="none"/>
          </c:marker>
          <c:xVal>
            <c:numRef>
              <c:f>'Chart Data'!$A$2:$A$76</c:f>
              <c:numCache>
                <c:formatCode>General</c:formatCode>
                <c:ptCount val="75"/>
                <c:pt idx="0">
                  <c:v>0</c:v>
                </c:pt>
                <c:pt idx="1">
                  <c:v>2.046</c:v>
                </c:pt>
                <c:pt idx="2">
                  <c:v>2.046</c:v>
                </c:pt>
                <c:pt idx="3">
                  <c:v>4.109</c:v>
                </c:pt>
                <c:pt idx="4">
                  <c:v>4.109</c:v>
                </c:pt>
                <c:pt idx="5">
                  <c:v>6.156</c:v>
                </c:pt>
                <c:pt idx="6">
                  <c:v>6.156</c:v>
                </c:pt>
                <c:pt idx="7">
                  <c:v>8.203</c:v>
                </c:pt>
                <c:pt idx="8">
                  <c:v>8.203</c:v>
                </c:pt>
                <c:pt idx="9">
                  <c:v>10.265</c:v>
                </c:pt>
                <c:pt idx="10">
                  <c:v>10.265</c:v>
                </c:pt>
                <c:pt idx="11">
                  <c:v>12.312</c:v>
                </c:pt>
                <c:pt idx="12">
                  <c:v>12.312</c:v>
                </c:pt>
                <c:pt idx="13">
                  <c:v>14.375</c:v>
                </c:pt>
                <c:pt idx="14">
                  <c:v>14.375</c:v>
                </c:pt>
                <c:pt idx="15">
                  <c:v>16.421</c:v>
                </c:pt>
                <c:pt idx="16">
                  <c:v>16.421</c:v>
                </c:pt>
                <c:pt idx="17">
                  <c:v>18.484</c:v>
                </c:pt>
                <c:pt idx="18">
                  <c:v>18.484</c:v>
                </c:pt>
                <c:pt idx="19">
                  <c:v>20.546</c:v>
                </c:pt>
                <c:pt idx="20">
                  <c:v>20.546</c:v>
                </c:pt>
                <c:pt idx="21">
                  <c:v>22.609</c:v>
                </c:pt>
                <c:pt idx="22">
                  <c:v>22.609</c:v>
                </c:pt>
                <c:pt idx="23">
                  <c:v>24.656</c:v>
                </c:pt>
                <c:pt idx="24">
                  <c:v>24.656</c:v>
                </c:pt>
                <c:pt idx="25">
                  <c:v>26.718</c:v>
                </c:pt>
                <c:pt idx="26">
                  <c:v>26.718</c:v>
                </c:pt>
                <c:pt idx="27">
                  <c:v>29</c:v>
                </c:pt>
                <c:pt idx="28">
                  <c:v>29</c:v>
                </c:pt>
                <c:pt idx="29">
                  <c:v>31.062</c:v>
                </c:pt>
                <c:pt idx="30">
                  <c:v>31.062</c:v>
                </c:pt>
                <c:pt idx="31">
                  <c:v>33.109</c:v>
                </c:pt>
                <c:pt idx="32">
                  <c:v>33.109</c:v>
                </c:pt>
                <c:pt idx="33">
                  <c:v>35.171</c:v>
                </c:pt>
                <c:pt idx="34">
                  <c:v>35.171</c:v>
                </c:pt>
                <c:pt idx="35">
                  <c:v>37.234</c:v>
                </c:pt>
                <c:pt idx="36">
                  <c:v>37.234</c:v>
                </c:pt>
                <c:pt idx="37">
                  <c:v>39.312</c:v>
                </c:pt>
                <c:pt idx="38">
                  <c:v>39.312</c:v>
                </c:pt>
                <c:pt idx="39">
                  <c:v>41.359</c:v>
                </c:pt>
                <c:pt idx="40">
                  <c:v>41.359</c:v>
                </c:pt>
                <c:pt idx="41">
                  <c:v>43.421</c:v>
                </c:pt>
                <c:pt idx="42">
                  <c:v>43.421</c:v>
                </c:pt>
                <c:pt idx="43">
                  <c:v>45.5</c:v>
                </c:pt>
                <c:pt idx="44">
                  <c:v>45.5</c:v>
                </c:pt>
                <c:pt idx="45">
                  <c:v>47.562</c:v>
                </c:pt>
                <c:pt idx="46">
                  <c:v>47.562</c:v>
                </c:pt>
                <c:pt idx="47">
                  <c:v>49.625</c:v>
                </c:pt>
                <c:pt idx="48">
                  <c:v>49.625</c:v>
                </c:pt>
                <c:pt idx="49">
                  <c:v>51.671</c:v>
                </c:pt>
                <c:pt idx="50">
                  <c:v>51.671</c:v>
                </c:pt>
                <c:pt idx="51">
                  <c:v>53.953</c:v>
                </c:pt>
                <c:pt idx="52">
                  <c:v>53.953</c:v>
                </c:pt>
                <c:pt idx="53">
                  <c:v>56.015</c:v>
                </c:pt>
                <c:pt idx="54">
                  <c:v>56.015</c:v>
                </c:pt>
                <c:pt idx="55">
                  <c:v>58.078</c:v>
                </c:pt>
                <c:pt idx="56">
                  <c:v>58.078</c:v>
                </c:pt>
                <c:pt idx="57">
                  <c:v>60.14</c:v>
                </c:pt>
                <c:pt idx="58">
                  <c:v>60.14</c:v>
                </c:pt>
                <c:pt idx="59">
                  <c:v>62.203</c:v>
                </c:pt>
                <c:pt idx="60">
                  <c:v>62.203</c:v>
                </c:pt>
                <c:pt idx="61">
                  <c:v>64.265</c:v>
                </c:pt>
                <c:pt idx="62">
                  <c:v>64.265</c:v>
                </c:pt>
                <c:pt idx="63">
                  <c:v>66.328</c:v>
                </c:pt>
                <c:pt idx="64">
                  <c:v>66.328</c:v>
                </c:pt>
                <c:pt idx="65">
                  <c:v>68.39</c:v>
                </c:pt>
                <c:pt idx="66">
                  <c:v>68.39</c:v>
                </c:pt>
                <c:pt idx="67">
                  <c:v>70.453</c:v>
                </c:pt>
                <c:pt idx="68">
                  <c:v>70.453</c:v>
                </c:pt>
                <c:pt idx="69">
                  <c:v>72.515</c:v>
                </c:pt>
                <c:pt idx="70">
                  <c:v>72.515</c:v>
                </c:pt>
                <c:pt idx="71">
                  <c:v>74.578</c:v>
                </c:pt>
                <c:pt idx="72">
                  <c:v>74.578</c:v>
                </c:pt>
                <c:pt idx="73">
                  <c:v>76.859</c:v>
                </c:pt>
                <c:pt idx="74">
                  <c:v>76.859</c:v>
                </c:pt>
              </c:numCache>
            </c:numRef>
          </c:xVal>
          <c:yVal>
            <c:numRef>
              <c:f>'Chart Data'!$B$2:$B$76</c:f>
              <c:numCache>
                <c:formatCode>0</c:formatCode>
                <c:ptCount val="75"/>
                <c:pt idx="0">
                  <c:v>300</c:v>
                </c:pt>
                <c:pt idx="1">
                  <c:v>300</c:v>
                </c:pt>
                <c:pt idx="2">
                  <c:v>1500</c:v>
                </c:pt>
                <c:pt idx="3">
                  <c:v>1500</c:v>
                </c:pt>
                <c:pt idx="4">
                  <c:v>1500</c:v>
                </c:pt>
                <c:pt idx="5">
                  <c:v>1500</c:v>
                </c:pt>
                <c:pt idx="6">
                  <c:v>1500</c:v>
                </c:pt>
                <c:pt idx="7">
                  <c:v>1500</c:v>
                </c:pt>
                <c:pt idx="8">
                  <c:v>1500</c:v>
                </c:pt>
                <c:pt idx="9">
                  <c:v>1500</c:v>
                </c:pt>
                <c:pt idx="10">
                  <c:v>1500</c:v>
                </c:pt>
                <c:pt idx="11">
                  <c:v>1500</c:v>
                </c:pt>
                <c:pt idx="12">
                  <c:v>1500</c:v>
                </c:pt>
                <c:pt idx="13">
                  <c:v>1500</c:v>
                </c:pt>
                <c:pt idx="14">
                  <c:v>1500</c:v>
                </c:pt>
                <c:pt idx="15">
                  <c:v>1500</c:v>
                </c:pt>
                <c:pt idx="16">
                  <c:v>1500</c:v>
                </c:pt>
                <c:pt idx="17">
                  <c:v>1500</c:v>
                </c:pt>
                <c:pt idx="18">
                  <c:v>1500</c:v>
                </c:pt>
                <c:pt idx="19">
                  <c:v>1500</c:v>
                </c:pt>
                <c:pt idx="20">
                  <c:v>1500</c:v>
                </c:pt>
                <c:pt idx="21">
                  <c:v>1500</c:v>
                </c:pt>
                <c:pt idx="22">
                  <c:v>1500</c:v>
                </c:pt>
                <c:pt idx="23">
                  <c:v>1500</c:v>
                </c:pt>
                <c:pt idx="24">
                  <c:v>1500</c:v>
                </c:pt>
                <c:pt idx="25">
                  <c:v>1500</c:v>
                </c:pt>
                <c:pt idx="26">
                  <c:v>1500</c:v>
                </c:pt>
                <c:pt idx="27">
                  <c:v>1500</c:v>
                </c:pt>
                <c:pt idx="28">
                  <c:v>1500</c:v>
                </c:pt>
                <c:pt idx="29">
                  <c:v>1500</c:v>
                </c:pt>
                <c:pt idx="30">
                  <c:v>1500</c:v>
                </c:pt>
                <c:pt idx="31">
                  <c:v>1500</c:v>
                </c:pt>
                <c:pt idx="32">
                  <c:v>1200</c:v>
                </c:pt>
                <c:pt idx="33">
                  <c:v>1200</c:v>
                </c:pt>
                <c:pt idx="34">
                  <c:v>1200</c:v>
                </c:pt>
                <c:pt idx="35">
                  <c:v>1200</c:v>
                </c:pt>
                <c:pt idx="36">
                  <c:v>900</c:v>
                </c:pt>
                <c:pt idx="37">
                  <c:v>900</c:v>
                </c:pt>
                <c:pt idx="38">
                  <c:v>450</c:v>
                </c:pt>
                <c:pt idx="39">
                  <c:v>450</c:v>
                </c:pt>
                <c:pt idx="40">
                  <c:v>450</c:v>
                </c:pt>
                <c:pt idx="41">
                  <c:v>450</c:v>
                </c:pt>
                <c:pt idx="42">
                  <c:v>450</c:v>
                </c:pt>
                <c:pt idx="43">
                  <c:v>450</c:v>
                </c:pt>
                <c:pt idx="44">
                  <c:v>450</c:v>
                </c:pt>
                <c:pt idx="45">
                  <c:v>450</c:v>
                </c:pt>
                <c:pt idx="46">
                  <c:v>450</c:v>
                </c:pt>
                <c:pt idx="47">
                  <c:v>450</c:v>
                </c:pt>
                <c:pt idx="48">
                  <c:v>450</c:v>
                </c:pt>
                <c:pt idx="49">
                  <c:v>450</c:v>
                </c:pt>
                <c:pt idx="50">
                  <c:v>450</c:v>
                </c:pt>
                <c:pt idx="51">
                  <c:v>450</c:v>
                </c:pt>
                <c:pt idx="52">
                  <c:v>450</c:v>
                </c:pt>
                <c:pt idx="53">
                  <c:v>450</c:v>
                </c:pt>
                <c:pt idx="54">
                  <c:v>450</c:v>
                </c:pt>
                <c:pt idx="55">
                  <c:v>450</c:v>
                </c:pt>
                <c:pt idx="56">
                  <c:v>1500</c:v>
                </c:pt>
                <c:pt idx="57">
                  <c:v>1500</c:v>
                </c:pt>
                <c:pt idx="58">
                  <c:v>1500</c:v>
                </c:pt>
                <c:pt idx="59">
                  <c:v>1500</c:v>
                </c:pt>
                <c:pt idx="60">
                  <c:v>1500</c:v>
                </c:pt>
                <c:pt idx="61">
                  <c:v>1500</c:v>
                </c:pt>
                <c:pt idx="62">
                  <c:v>1500</c:v>
                </c:pt>
                <c:pt idx="63">
                  <c:v>1500</c:v>
                </c:pt>
                <c:pt idx="64">
                  <c:v>1500</c:v>
                </c:pt>
                <c:pt idx="65">
                  <c:v>1500</c:v>
                </c:pt>
                <c:pt idx="66">
                  <c:v>1500</c:v>
                </c:pt>
                <c:pt idx="67">
                  <c:v>1500</c:v>
                </c:pt>
                <c:pt idx="68">
                  <c:v>1500</c:v>
                </c:pt>
                <c:pt idx="69">
                  <c:v>1500</c:v>
                </c:pt>
                <c:pt idx="70">
                  <c:v>1500</c:v>
                </c:pt>
                <c:pt idx="71">
                  <c:v>1500</c:v>
                </c:pt>
                <c:pt idx="72">
                  <c:v>1500</c:v>
                </c:pt>
                <c:pt idx="73">
                  <c:v>1500</c:v>
                </c:pt>
                <c:pt idx="74">
                  <c:v>1500</c:v>
                </c:pt>
              </c:numCache>
            </c:numRef>
          </c:yVal>
        </c:ser>
        <c:axId val="48650112"/>
        <c:axId val="48672768"/>
      </c:scatterChart>
      <c:valAx>
        <c:axId val="48672768"/>
        <c:scaling>
          <c:orientation val="minMax"/>
          <c:max val="1800"/>
          <c:min val="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t>Selected bitrate (kbps)</a:t>
                </a:r>
              </a:p>
            </c:rich>
          </c:tx>
          <c:overlay val="0"/>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36273"/>
                </a:solidFill>
                <a:latin typeface="Arial"/>
                <a:ea typeface="Arial"/>
                <a:cs typeface="Arial"/>
              </a:defRPr>
            </a:pPr>
          </a:p>
        </c:txPr>
        <c:crossAx val="48650112"/>
        <c:majorUnit val="600"/>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t>Seconds after Load</a:t>
                </a:r>
              </a:p>
            </c:rich>
          </c:tx>
          <c:overlay val="0"/>
        </c:title>
        <c:numFmt formatCode="0"/>
        <c:majorTickMark val="none"/>
        <c:minorTickMark val="none"/>
        <c:spPr>
          <a:ln xmlns:a="http://schemas.openxmlformats.org/drawingml/2006/main" w="9525">
            <a:solidFill>
              <a:srgbClr val="A9B5BF"/>
            </a:solidFill>
          </a:ln>
        </c:spPr>
        <c:txPr>
          <a:bodyPr xmlns:a="http://schemas.openxmlformats.org/drawingml/2006/main" anchorCtr="1"/>
          <a:lstStyle xmlns:a="http://schemas.openxmlformats.org/drawingml/2006/main"/>
          <a:p xmlns:a="http://schemas.openxmlformats.org/drawingml/2006/main">
            <a:pPr>
              <a:defRPr sz="1575">
                <a:solidFill>
                  <a:srgbClr val="536273"/>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D4E"/>
        </a:solidFill>
      </p:bgPr>
    </p:bg>
    <p:spTree>
      <p:nvGrpSpPr>
        <p:cNvPr id="1" name=""/>
        <p:cNvGrpSpPr/>
        <p:nvPr/>
      </p:nvGrpSpPr>
      <p:grpSpPr>
        <a:xfrm xmlns:a="http://schemas.openxmlformats.org/drawingml/2006/main"/>
      </p:grpSpPr>
      <p:sp>
        <p:nvSpPr>
          <p:cNvPr id="2" name="course">
            <a:extLst xmlns:a="http://schemas.openxmlformats.org/drawingml/2006/main">
              <a:ext uri="{FF2B5EF4-FFF2-40B4-BE49-F238E27FC236}">
                <a16:creationId xmlns:a16="http://schemas.microsoft.com/office/drawing/2014/main" id="{6DD3F690-642B-4200-929F-9A57BA647776}"/>
              </a:ext>
            </a:extLst>
          </p:cNvPr>
          <p:cNvSpPr>
            <a:spLocks xmlns:a="http://schemas.openxmlformats.org/drawingml/2006/main" noGrp="1"/>
          </p:cNvSpPr>
          <p:nvPr/>
        </p:nvSpPr>
        <p:spPr>
          <a:xfrm xmlns:a="http://schemas.openxmlformats.org/drawingml/2006/main">
            <a:off x="609600" y="53340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94CFC7"/>
                </a:solidFill>
                <a:latin typeface="Arial"/>
                <a:ea typeface="Arial"/>
                <a:cs typeface="Arial"/>
              </a:defRPr>
            </a:defPPr>
            <a:lvl1pPr>
              <a:defRPr sz="1950" b="1">
                <a:solidFill>
                  <a:srgbClr val="94CFC7"/>
                </a:solidFill>
                <a:latin typeface="Arial"/>
                <a:ea typeface="Arial"/>
                <a:cs typeface="Arial"/>
              </a:defRPr>
            </a:lvl1pPr>
            <a:lvl2pPr>
              <a:defRPr sz="1950" b="1">
                <a:solidFill>
                  <a:srgbClr val="94CFC7"/>
                </a:solidFill>
                <a:latin typeface="Arial"/>
                <a:ea typeface="Arial"/>
                <a:cs typeface="Arial"/>
              </a:defRPr>
            </a:lvl2pPr>
            <a:lvl3pPr>
              <a:defRPr sz="1950" b="1">
                <a:solidFill>
                  <a:srgbClr val="94CFC7"/>
                </a:solidFill>
                <a:latin typeface="Arial"/>
                <a:ea typeface="Arial"/>
                <a:cs typeface="Arial"/>
              </a:defRPr>
            </a:lvl3pPr>
            <a:lvl4pPr>
              <a:defRPr sz="1950" b="1">
                <a:solidFill>
                  <a:srgbClr val="94CFC7"/>
                </a:solidFill>
                <a:latin typeface="Arial"/>
                <a:ea typeface="Arial"/>
                <a:cs typeface="Arial"/>
              </a:defRPr>
            </a:lvl4pPr>
            <a:lvl5pPr>
              <a:defRPr sz="1950" b="1">
                <a:solidFill>
                  <a:srgbClr val="94CFC7"/>
                </a:solidFill>
                <a:latin typeface="Arial"/>
                <a:ea typeface="Arial"/>
                <a:cs typeface="Arial"/>
              </a:defRPr>
            </a:lvl5pPr>
            <a:lvl6pPr>
              <a:defRPr sz="1950" b="1">
                <a:solidFill>
                  <a:srgbClr val="94CFC7"/>
                </a:solidFill>
                <a:latin typeface="Arial"/>
                <a:ea typeface="Arial"/>
                <a:cs typeface="Arial"/>
              </a:defRPr>
            </a:lvl6pPr>
            <a:lvl7pPr>
              <a:defRPr sz="1950" b="1">
                <a:solidFill>
                  <a:srgbClr val="94CFC7"/>
                </a:solidFill>
                <a:latin typeface="Arial"/>
                <a:ea typeface="Arial"/>
                <a:cs typeface="Arial"/>
              </a:defRPr>
            </a:lvl7pPr>
            <a:lvl8pPr>
              <a:defRPr sz="1950" b="1">
                <a:solidFill>
                  <a:srgbClr val="94CFC7"/>
                </a:solidFill>
                <a:latin typeface="Arial"/>
                <a:ea typeface="Arial"/>
                <a:cs typeface="Arial"/>
              </a:defRPr>
            </a:lvl8pPr>
            <a:lvl9pPr>
              <a:defRPr sz="1950" b="1">
                <a:solidFill>
                  <a:srgbClr val="94CFC7"/>
                </a:solidFill>
                <a:latin typeface="Arial"/>
                <a:ea typeface="Arial"/>
                <a:cs typeface="Arial"/>
              </a:defRPr>
            </a:lvl9pPr>
          </a:lstStyle>
          <a:p xmlns:a="http://schemas.openxmlformats.org/drawingml/2006/main">
            <a:pPr>
              <a:defRPr sz="1950" b="1">
                <a:solidFill>
                  <a:srgbClr val="94CFC7"/>
                </a:solidFill>
                <a:latin typeface="Arial"/>
                <a:ea typeface="Arial"/>
                <a:cs typeface="Arial"/>
              </a:defRPr>
            </a:pPr>
            <a:r>
              <a:rPr sz="1950" b="1">
                <a:solidFill>
                  <a:srgbClr val="94CFC7"/>
                </a:solidFill>
                <a:latin typeface="Arial"/>
                <a:ea typeface="Arial"/>
                <a:cs typeface="Arial"/>
              </a:rPr>
              <a:t>CS6048  /  GROUP 4  /  MID-REVIEW</a:t>
            </a:r>
          </a:p>
        </p:txBody>
      </p:sp>
      <p:sp>
        <p:nvSpPr>
          <p:cNvPr id="3" name="main-title">
            <a:extLst xmlns:a="http://schemas.openxmlformats.org/drawingml/2006/main">
              <a:ext uri="{FF2B5EF4-FFF2-40B4-BE49-F238E27FC236}">
                <a16:creationId xmlns:a16="http://schemas.microsoft.com/office/drawing/2014/main" id="{2C4A0DF0-C46E-45CC-B192-6794297A6898}"/>
              </a:ext>
            </a:extLst>
          </p:cNvPr>
          <p:cNvSpPr>
            <a:spLocks xmlns:a="http://schemas.openxmlformats.org/drawingml/2006/main" noGrp="1"/>
          </p:cNvSpPr>
          <p:nvPr/>
        </p:nvSpPr>
        <p:spPr>
          <a:xfrm xmlns:a="http://schemas.openxmlformats.org/drawingml/2006/main">
            <a:off x="609600" y="1381125"/>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FFFFF"/>
                </a:solidFill>
                <a:latin typeface="Arial"/>
                <a:ea typeface="Arial"/>
                <a:cs typeface="Arial"/>
              </a:defRPr>
            </a:defPPr>
            <a:lvl1pPr>
              <a:defRPr sz="4800" b="1">
                <a:solidFill>
                  <a:srgbClr val="FFFFFF"/>
                </a:solidFill>
                <a:latin typeface="Arial"/>
                <a:ea typeface="Arial"/>
                <a:cs typeface="Arial"/>
              </a:defRPr>
            </a:lvl1pPr>
            <a:lvl2pPr>
              <a:defRPr sz="4800" b="1">
                <a:solidFill>
                  <a:srgbClr val="FFFFFF"/>
                </a:solidFill>
                <a:latin typeface="Arial"/>
                <a:ea typeface="Arial"/>
                <a:cs typeface="Arial"/>
              </a:defRPr>
            </a:lvl2pPr>
            <a:lvl3pPr>
              <a:defRPr sz="4800" b="1">
                <a:solidFill>
                  <a:srgbClr val="FFFFFF"/>
                </a:solidFill>
                <a:latin typeface="Arial"/>
                <a:ea typeface="Arial"/>
                <a:cs typeface="Arial"/>
              </a:defRPr>
            </a:lvl3pPr>
            <a:lvl4pPr>
              <a:defRPr sz="4800" b="1">
                <a:solidFill>
                  <a:srgbClr val="FFFFFF"/>
                </a:solidFill>
                <a:latin typeface="Arial"/>
                <a:ea typeface="Arial"/>
                <a:cs typeface="Arial"/>
              </a:defRPr>
            </a:lvl4pPr>
            <a:lvl5pPr>
              <a:defRPr sz="4800" b="1">
                <a:solidFill>
                  <a:srgbClr val="FFFFFF"/>
                </a:solidFill>
                <a:latin typeface="Arial"/>
                <a:ea typeface="Arial"/>
                <a:cs typeface="Arial"/>
              </a:defRPr>
            </a:lvl5pPr>
            <a:lvl6pPr>
              <a:defRPr sz="4800" b="1">
                <a:solidFill>
                  <a:srgbClr val="FFFFFF"/>
                </a:solidFill>
                <a:latin typeface="Arial"/>
                <a:ea typeface="Arial"/>
                <a:cs typeface="Arial"/>
              </a:defRPr>
            </a:lvl6pPr>
            <a:lvl7pPr>
              <a:defRPr sz="4800" b="1">
                <a:solidFill>
                  <a:srgbClr val="FFFFFF"/>
                </a:solidFill>
                <a:latin typeface="Arial"/>
                <a:ea typeface="Arial"/>
                <a:cs typeface="Arial"/>
              </a:defRPr>
            </a:lvl7pPr>
            <a:lvl8pPr>
              <a:defRPr sz="4800" b="1">
                <a:solidFill>
                  <a:srgbClr val="FFFFFF"/>
                </a:solidFill>
                <a:latin typeface="Arial"/>
                <a:ea typeface="Arial"/>
                <a:cs typeface="Arial"/>
              </a:defRPr>
            </a:lvl8pPr>
            <a:lvl9pPr>
              <a:defRPr sz="4800" b="1">
                <a:solidFill>
                  <a:srgbClr val="FFFFFF"/>
                </a:solidFill>
                <a:latin typeface="Arial"/>
                <a:ea typeface="Arial"/>
                <a:cs typeface="Arial"/>
              </a:defRPr>
            </a:lvl9pPr>
          </a:lstStyle>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LEO-Aware Live</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Video Streaming</a:t>
            </a:r>
          </a:p>
        </p:txBody>
      </p:sp>
      <p:sp>
        <p:nvSpPr>
          <p:cNvPr id="4" name="subtitle">
            <a:extLst xmlns:a="http://schemas.openxmlformats.org/drawingml/2006/main">
              <a:ext uri="{FF2B5EF4-FFF2-40B4-BE49-F238E27FC236}">
                <a16:creationId xmlns:a16="http://schemas.microsoft.com/office/drawing/2014/main" id="{68F0F8FD-1A41-4C57-AA05-B1DEDD58ABFA}"/>
              </a:ext>
            </a:extLst>
          </p:cNvPr>
          <p:cNvSpPr>
            <a:spLocks xmlns:a="http://schemas.openxmlformats.org/drawingml/2006/main" noGrp="1"/>
          </p:cNvSpPr>
          <p:nvPr/>
        </p:nvSpPr>
        <p:spPr>
          <a:xfrm xmlns:a="http://schemas.openxmlformats.org/drawingml/2006/main">
            <a:off x="609600" y="317182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0">
                <a:solidFill>
                  <a:srgbClr val="FFFFFF"/>
                </a:solidFill>
                <a:latin typeface="Arial"/>
                <a:ea typeface="Arial"/>
                <a:cs typeface="Arial"/>
              </a:defRPr>
            </a:defPPr>
            <a:lvl1pPr>
              <a:defRPr sz="3000" b="0">
                <a:solidFill>
                  <a:srgbClr val="FFFFFF"/>
                </a:solidFill>
                <a:latin typeface="Arial"/>
                <a:ea typeface="Arial"/>
                <a:cs typeface="Arial"/>
              </a:defRPr>
            </a:lvl1pPr>
            <a:lvl2pPr>
              <a:defRPr sz="3000" b="0">
                <a:solidFill>
                  <a:srgbClr val="FFFFFF"/>
                </a:solidFill>
                <a:latin typeface="Arial"/>
                <a:ea typeface="Arial"/>
                <a:cs typeface="Arial"/>
              </a:defRPr>
            </a:lvl2pPr>
            <a:lvl3pPr>
              <a:defRPr sz="3000" b="0">
                <a:solidFill>
                  <a:srgbClr val="FFFFFF"/>
                </a:solidFill>
                <a:latin typeface="Arial"/>
                <a:ea typeface="Arial"/>
                <a:cs typeface="Arial"/>
              </a:defRPr>
            </a:lvl3pPr>
            <a:lvl4pPr>
              <a:defRPr sz="3000" b="0">
                <a:solidFill>
                  <a:srgbClr val="FFFFFF"/>
                </a:solidFill>
                <a:latin typeface="Arial"/>
                <a:ea typeface="Arial"/>
                <a:cs typeface="Arial"/>
              </a:defRPr>
            </a:lvl4pPr>
            <a:lvl5pPr>
              <a:defRPr sz="3000" b="0">
                <a:solidFill>
                  <a:srgbClr val="FFFFFF"/>
                </a:solidFill>
                <a:latin typeface="Arial"/>
                <a:ea typeface="Arial"/>
                <a:cs typeface="Arial"/>
              </a:defRPr>
            </a:lvl5pPr>
            <a:lvl6pPr>
              <a:defRPr sz="3000" b="0">
                <a:solidFill>
                  <a:srgbClr val="FFFFFF"/>
                </a:solidFill>
                <a:latin typeface="Arial"/>
                <a:ea typeface="Arial"/>
                <a:cs typeface="Arial"/>
              </a:defRPr>
            </a:lvl6pPr>
            <a:lvl7pPr>
              <a:defRPr sz="3000" b="0">
                <a:solidFill>
                  <a:srgbClr val="FFFFFF"/>
                </a:solidFill>
                <a:latin typeface="Arial"/>
                <a:ea typeface="Arial"/>
                <a:cs typeface="Arial"/>
              </a:defRPr>
            </a:lvl7pPr>
            <a:lvl8pPr>
              <a:defRPr sz="3000" b="0">
                <a:solidFill>
                  <a:srgbClr val="FFFFFF"/>
                </a:solidFill>
                <a:latin typeface="Arial"/>
                <a:ea typeface="Arial"/>
                <a:cs typeface="Arial"/>
              </a:defRPr>
            </a:lvl8pPr>
            <a:lvl9pPr>
              <a:defRPr sz="3000" b="0">
                <a:solidFill>
                  <a:srgbClr val="FFFFFF"/>
                </a:solidFill>
                <a:latin typeface="Arial"/>
                <a:ea typeface="Arial"/>
                <a:cs typeface="Arial"/>
              </a:defRPr>
            </a:lvl9pPr>
          </a:lstStyle>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RL-Based Adaptive Bitrate Selection</a:t>
            </a:r>
          </a:p>
        </p:txBody>
      </p:sp>
      <p:sp>
        <p:nvSpPr>
          <p:cNvPr id="5" name="member-anjan">
            <a:extLst xmlns:a="http://schemas.openxmlformats.org/drawingml/2006/main">
              <a:ext uri="{FF2B5EF4-FFF2-40B4-BE49-F238E27FC236}">
                <a16:creationId xmlns:a16="http://schemas.microsoft.com/office/drawing/2014/main" id="{2B87CA83-F2F6-463F-87A0-BDE92082FF0F}"/>
              </a:ext>
            </a:extLst>
          </p:cNvPr>
          <p:cNvSpPr>
            <a:spLocks xmlns:a="http://schemas.openxmlformats.org/drawingml/2006/main" noGrp="1"/>
          </p:cNvSpPr>
          <p:nvPr/>
        </p:nvSpPr>
        <p:spPr>
          <a:xfrm xmlns:a="http://schemas.openxmlformats.org/drawingml/2006/main">
            <a:off x="609600" y="4781550"/>
            <a:ext cx="328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Anjan R D</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ME23B157</a:t>
            </a:r>
          </a:p>
        </p:txBody>
      </p:sp>
      <p:sp>
        <p:nvSpPr>
          <p:cNvPr id="6" name="member-rajat">
            <a:extLst xmlns:a="http://schemas.openxmlformats.org/drawingml/2006/main">
              <a:ext uri="{FF2B5EF4-FFF2-40B4-BE49-F238E27FC236}">
                <a16:creationId xmlns:a16="http://schemas.microsoft.com/office/drawing/2014/main" id="{8762A7E1-7DBA-48FE-830F-B0DF704E98FC}"/>
              </a:ext>
            </a:extLst>
          </p:cNvPr>
          <p:cNvSpPr>
            <a:spLocks xmlns:a="http://schemas.openxmlformats.org/drawingml/2006/main" noGrp="1"/>
          </p:cNvSpPr>
          <p:nvPr/>
        </p:nvSpPr>
        <p:spPr>
          <a:xfrm xmlns:a="http://schemas.openxmlformats.org/drawingml/2006/main">
            <a:off x="4381500" y="478155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Rajat Dugar</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ME23B114</a:t>
            </a:r>
          </a:p>
        </p:txBody>
      </p:sp>
      <p:sp>
        <p:nvSpPr>
          <p:cNvPr id="7" name="member-devi">
            <a:extLst xmlns:a="http://schemas.openxmlformats.org/drawingml/2006/main">
              <a:ext uri="{FF2B5EF4-FFF2-40B4-BE49-F238E27FC236}">
                <a16:creationId xmlns:a16="http://schemas.microsoft.com/office/drawing/2014/main" id="{412989A0-DF06-41CF-8F4D-83388312FFDB}"/>
              </a:ext>
            </a:extLst>
          </p:cNvPr>
          <p:cNvSpPr>
            <a:spLocks xmlns:a="http://schemas.openxmlformats.org/drawingml/2006/main" noGrp="1"/>
          </p:cNvSpPr>
          <p:nvPr/>
        </p:nvSpPr>
        <p:spPr>
          <a:xfrm xmlns:a="http://schemas.openxmlformats.org/drawingml/2006/main">
            <a:off x="8153400" y="4781550"/>
            <a:ext cx="342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Deviprasad V K</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ME23B164</a:t>
            </a:r>
          </a:p>
        </p:txBody>
      </p:sp>
    </p:spTree>
    <p:extLst>
      <p:ext uri="{BB962C8B-B14F-4D97-AF65-F5344CB8AC3E}">
        <p14:creationId xmlns:p14="http://schemas.microsoft.com/office/powerpoint/2010/main" val="15933828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56EFCBB5-81E7-4729-BB25-9920B1D8C7B7}"/>
              </a:ext>
            </a:extLst>
          </p:cNvPr>
          <p:cNvSpPr>
            <a:spLocks xmlns:a="http://schemas.openxmlformats.org/drawingml/2006/main" noGrp="1"/>
          </p:cNvSpPr>
          <p:nvPr/>
        </p:nvSpPr>
        <p:spPr>
          <a:xfrm xmlns:a="http://schemas.openxmlformats.org/drawingml/2006/main">
            <a:off x="609600" y="4095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42D4E"/>
                </a:solidFill>
                <a:latin typeface="Arial"/>
                <a:ea typeface="Arial"/>
                <a:cs typeface="Arial"/>
              </a:defRPr>
            </a:defPPr>
            <a:lvl1pPr>
              <a:defRPr sz="3300" b="1">
                <a:solidFill>
                  <a:srgbClr val="142D4E"/>
                </a:solidFill>
                <a:latin typeface="Arial"/>
                <a:ea typeface="Arial"/>
                <a:cs typeface="Arial"/>
              </a:defRPr>
            </a:lvl1pPr>
            <a:lvl2pPr>
              <a:defRPr sz="3300" b="1">
                <a:solidFill>
                  <a:srgbClr val="142D4E"/>
                </a:solidFill>
                <a:latin typeface="Arial"/>
                <a:ea typeface="Arial"/>
                <a:cs typeface="Arial"/>
              </a:defRPr>
            </a:lvl2pPr>
            <a:lvl3pPr>
              <a:defRPr sz="3300" b="1">
                <a:solidFill>
                  <a:srgbClr val="142D4E"/>
                </a:solidFill>
                <a:latin typeface="Arial"/>
                <a:ea typeface="Arial"/>
                <a:cs typeface="Arial"/>
              </a:defRPr>
            </a:lvl3pPr>
            <a:lvl4pPr>
              <a:defRPr sz="3300" b="1">
                <a:solidFill>
                  <a:srgbClr val="142D4E"/>
                </a:solidFill>
                <a:latin typeface="Arial"/>
                <a:ea typeface="Arial"/>
                <a:cs typeface="Arial"/>
              </a:defRPr>
            </a:lvl4pPr>
            <a:lvl5pPr>
              <a:defRPr sz="3300" b="1">
                <a:solidFill>
                  <a:srgbClr val="142D4E"/>
                </a:solidFill>
                <a:latin typeface="Arial"/>
                <a:ea typeface="Arial"/>
                <a:cs typeface="Arial"/>
              </a:defRPr>
            </a:lvl5pPr>
            <a:lvl6pPr>
              <a:defRPr sz="3300" b="1">
                <a:solidFill>
                  <a:srgbClr val="142D4E"/>
                </a:solidFill>
                <a:latin typeface="Arial"/>
                <a:ea typeface="Arial"/>
                <a:cs typeface="Arial"/>
              </a:defRPr>
            </a:lvl6pPr>
            <a:lvl7pPr>
              <a:defRPr sz="3300" b="1">
                <a:solidFill>
                  <a:srgbClr val="142D4E"/>
                </a:solidFill>
                <a:latin typeface="Arial"/>
                <a:ea typeface="Arial"/>
                <a:cs typeface="Arial"/>
              </a:defRPr>
            </a:lvl7pPr>
            <a:lvl8pPr>
              <a:defRPr sz="3300" b="1">
                <a:solidFill>
                  <a:srgbClr val="142D4E"/>
                </a:solidFill>
                <a:latin typeface="Arial"/>
                <a:ea typeface="Arial"/>
                <a:cs typeface="Arial"/>
              </a:defRPr>
            </a:lvl8pPr>
            <a:lvl9pPr>
              <a:defRPr sz="3300" b="1">
                <a:solidFill>
                  <a:srgbClr val="142D4E"/>
                </a:solidFill>
                <a:latin typeface="Arial"/>
                <a:ea typeface="Arial"/>
                <a:cs typeface="Arial"/>
              </a:defRPr>
            </a:lvl9pPr>
          </a:lstStyle>
          <a:p xmlns:a="http://schemas.openxmlformats.org/drawingml/2006/main">
            <a:pPr>
              <a:defRPr sz="3300" b="1">
                <a:solidFill>
                  <a:srgbClr val="142D4E"/>
                </a:solidFill>
                <a:latin typeface="Arial"/>
                <a:ea typeface="Arial"/>
                <a:cs typeface="Arial"/>
              </a:defRPr>
            </a:pPr>
            <a:r>
              <a:rPr sz="3300" b="1">
                <a:solidFill>
                  <a:srgbClr val="142D4E"/>
                </a:solidFill>
                <a:latin typeface="Arial"/>
                <a:ea typeface="Arial"/>
                <a:cs typeface="Arial"/>
              </a:rPr>
              <a:t>Authors’ CMAB policy and reward</a:t>
            </a:r>
          </a:p>
        </p:txBody>
      </p:sp>
      <p:sp>
        <p:nvSpPr>
          <p:cNvPr id="3" name="slide-number">
            <a:extLst xmlns:a="http://schemas.openxmlformats.org/drawingml/2006/main">
              <a:ext uri="{FF2B5EF4-FFF2-40B4-BE49-F238E27FC236}">
                <a16:creationId xmlns:a16="http://schemas.microsoft.com/office/drawing/2014/main" id="{5B848560-DFB5-4C4E-AF93-032CFE588532}"/>
              </a:ext>
            </a:extLst>
          </p:cNvPr>
          <p:cNvSpPr>
            <a:spLocks xmlns:a="http://schemas.openxmlformats.org/drawingml/2006/main" noGrp="1"/>
          </p:cNvSpPr>
          <p:nvPr/>
        </p:nvSpPr>
        <p:spPr>
          <a:xfrm xmlns:a="http://schemas.openxmlformats.org/drawingml/2006/main">
            <a:off x="11163300" y="64198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36273"/>
                </a:solidFill>
                <a:latin typeface="Arial"/>
                <a:ea typeface="Arial"/>
                <a:cs typeface="Arial"/>
              </a:defRPr>
            </a:defPPr>
            <a:lvl1pPr>
              <a:defRPr sz="1650" b="0">
                <a:solidFill>
                  <a:srgbClr val="536273"/>
                </a:solidFill>
                <a:latin typeface="Arial"/>
                <a:ea typeface="Arial"/>
                <a:cs typeface="Arial"/>
              </a:defRPr>
            </a:lvl1pPr>
            <a:lvl2pPr>
              <a:defRPr sz="1650" b="0">
                <a:solidFill>
                  <a:srgbClr val="536273"/>
                </a:solidFill>
                <a:latin typeface="Arial"/>
                <a:ea typeface="Arial"/>
                <a:cs typeface="Arial"/>
              </a:defRPr>
            </a:lvl2pPr>
            <a:lvl3pPr>
              <a:defRPr sz="1650" b="0">
                <a:solidFill>
                  <a:srgbClr val="536273"/>
                </a:solidFill>
                <a:latin typeface="Arial"/>
                <a:ea typeface="Arial"/>
                <a:cs typeface="Arial"/>
              </a:defRPr>
            </a:lvl3pPr>
            <a:lvl4pPr>
              <a:defRPr sz="1650" b="0">
                <a:solidFill>
                  <a:srgbClr val="536273"/>
                </a:solidFill>
                <a:latin typeface="Arial"/>
                <a:ea typeface="Arial"/>
                <a:cs typeface="Arial"/>
              </a:defRPr>
            </a:lvl4pPr>
            <a:lvl5pPr>
              <a:defRPr sz="1650" b="0">
                <a:solidFill>
                  <a:srgbClr val="536273"/>
                </a:solidFill>
                <a:latin typeface="Arial"/>
                <a:ea typeface="Arial"/>
                <a:cs typeface="Arial"/>
              </a:defRPr>
            </a:lvl5pPr>
            <a:lvl6pPr>
              <a:defRPr sz="1650" b="0">
                <a:solidFill>
                  <a:srgbClr val="536273"/>
                </a:solidFill>
                <a:latin typeface="Arial"/>
                <a:ea typeface="Arial"/>
                <a:cs typeface="Arial"/>
              </a:defRPr>
            </a:lvl6pPr>
            <a:lvl7pPr>
              <a:defRPr sz="1650" b="0">
                <a:solidFill>
                  <a:srgbClr val="536273"/>
                </a:solidFill>
                <a:latin typeface="Arial"/>
                <a:ea typeface="Arial"/>
                <a:cs typeface="Arial"/>
              </a:defRPr>
            </a:lvl7pPr>
            <a:lvl8pPr>
              <a:defRPr sz="1650" b="0">
                <a:solidFill>
                  <a:srgbClr val="536273"/>
                </a:solidFill>
                <a:latin typeface="Arial"/>
                <a:ea typeface="Arial"/>
                <a:cs typeface="Arial"/>
              </a:defRPr>
            </a:lvl8pPr>
            <a:lvl9pPr>
              <a:defRPr sz="1650" b="0">
                <a:solidFill>
                  <a:srgbClr val="536273"/>
                </a:solidFill>
                <a:latin typeface="Arial"/>
                <a:ea typeface="Arial"/>
                <a:cs typeface="Arial"/>
              </a:defRPr>
            </a:lvl9pPr>
          </a:lstStyle>
          <a:p xmlns:a="http://schemas.openxmlformats.org/drawingml/2006/main">
            <a:pPr>
              <a:defRPr sz="1650" b="0">
                <a:solidFill>
                  <a:srgbClr val="536273"/>
                </a:solidFill>
                <a:latin typeface="Arial"/>
                <a:ea typeface="Arial"/>
                <a:cs typeface="Arial"/>
              </a:defRPr>
            </a:pPr>
            <a:r>
              <a:rPr sz="1650" b="0">
                <a:solidFill>
                  <a:srgbClr val="536273"/>
                </a:solidFill>
                <a:latin typeface="Arial"/>
                <a:ea typeface="Arial"/>
                <a:cs typeface="Arial"/>
              </a:rPr>
              <a:t>02</a:t>
            </a:r>
          </a:p>
        </p:txBody>
      </p:sp>
      <p:pic>
        <p:nvPicPr>
          <p:cNvPr id="4" name="">
            <a:extLst xmlns:a="http://schemas.openxmlformats.org/drawingml/2006/main">
              <a:ext uri="{FF2B5EF4-FFF2-40B4-BE49-F238E27FC236}">
                <a16:creationId xmlns:a16="http://schemas.microsoft.com/office/drawing/2014/main" id="{3B28D389-0799-446D-A2C4-8FE91BC981E1}"/>
              </a:ext>
            </a:extLst>
          </p:cNvPr>
          <p:cNvPicPr>
            <a:picLocks xmlns:a="http://schemas.openxmlformats.org/drawingml/2006/main" noChangeAspect="1"/>
          </p:cNvPicPr>
          <p:nvPr/>
        </p:nvPicPr>
        <p:blipFill>
          <a:blip xmlns:r="http://schemas.openxmlformats.org/officeDocument/2006/relationships" xmlns:a="http://schemas.openxmlformats.org/drawingml/2006/main" r:embed="R49497488010445b7"/>
          <a:stretch xmlns:a="http://schemas.openxmlformats.org/drawingml/2006/main"/>
        </p:blipFill>
        <p:spPr>
          <a:xfrm xmlns:a="http://schemas.openxmlformats.org/drawingml/2006/main">
            <a:off x="533400" y="1589768"/>
            <a:ext cx="5638800" cy="3087914"/>
          </a:xfrm>
          <a:prstGeom xmlns:a="http://schemas.openxmlformats.org/drawingml/2006/main" prst="rect">
            <a:avLst/>
          </a:prstGeom>
        </p:spPr>
      </p:pic>
      <p:sp>
        <p:nvSpPr>
          <p:cNvPr id="5" name="figure-caption">
            <a:extLst xmlns:a="http://schemas.openxmlformats.org/drawingml/2006/main">
              <a:ext uri="{FF2B5EF4-FFF2-40B4-BE49-F238E27FC236}">
                <a16:creationId xmlns:a16="http://schemas.microsoft.com/office/drawing/2014/main" id="{8510C76F-5605-4121-8F30-06C01DAB41CB}"/>
              </a:ext>
            </a:extLst>
          </p:cNvPr>
          <p:cNvSpPr>
            <a:spLocks xmlns:a="http://schemas.openxmlformats.org/drawingml/2006/main" noGrp="1"/>
          </p:cNvSpPr>
          <p:nvPr/>
        </p:nvSpPr>
        <p:spPr>
          <a:xfrm xmlns:a="http://schemas.openxmlformats.org/drawingml/2006/main">
            <a:off x="609600" y="4800600"/>
            <a:ext cx="5524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36273"/>
                </a:solidFill>
                <a:latin typeface="Arial"/>
                <a:ea typeface="Arial"/>
                <a:cs typeface="Arial"/>
              </a:defRPr>
            </a:defPPr>
            <a:lvl1pPr>
              <a:defRPr sz="1800" b="0">
                <a:solidFill>
                  <a:srgbClr val="536273"/>
                </a:solidFill>
                <a:latin typeface="Arial"/>
                <a:ea typeface="Arial"/>
                <a:cs typeface="Arial"/>
              </a:defRPr>
            </a:lvl1pPr>
            <a:lvl2pPr>
              <a:defRPr sz="1800" b="0">
                <a:solidFill>
                  <a:srgbClr val="536273"/>
                </a:solidFill>
                <a:latin typeface="Arial"/>
                <a:ea typeface="Arial"/>
                <a:cs typeface="Arial"/>
              </a:defRPr>
            </a:lvl2pPr>
            <a:lvl3pPr>
              <a:defRPr sz="1800" b="0">
                <a:solidFill>
                  <a:srgbClr val="536273"/>
                </a:solidFill>
                <a:latin typeface="Arial"/>
                <a:ea typeface="Arial"/>
                <a:cs typeface="Arial"/>
              </a:defRPr>
            </a:lvl3pPr>
            <a:lvl4pPr>
              <a:defRPr sz="1800" b="0">
                <a:solidFill>
                  <a:srgbClr val="536273"/>
                </a:solidFill>
                <a:latin typeface="Arial"/>
                <a:ea typeface="Arial"/>
                <a:cs typeface="Arial"/>
              </a:defRPr>
            </a:lvl4pPr>
            <a:lvl5pPr>
              <a:defRPr sz="1800" b="0">
                <a:solidFill>
                  <a:srgbClr val="536273"/>
                </a:solidFill>
                <a:latin typeface="Arial"/>
                <a:ea typeface="Arial"/>
                <a:cs typeface="Arial"/>
              </a:defRPr>
            </a:lvl5pPr>
            <a:lvl6pPr>
              <a:defRPr sz="1800" b="0">
                <a:solidFill>
                  <a:srgbClr val="536273"/>
                </a:solidFill>
                <a:latin typeface="Arial"/>
                <a:ea typeface="Arial"/>
                <a:cs typeface="Arial"/>
              </a:defRPr>
            </a:lvl6pPr>
            <a:lvl7pPr>
              <a:defRPr sz="1800" b="0">
                <a:solidFill>
                  <a:srgbClr val="536273"/>
                </a:solidFill>
                <a:latin typeface="Arial"/>
                <a:ea typeface="Arial"/>
                <a:cs typeface="Arial"/>
              </a:defRPr>
            </a:lvl7pPr>
            <a:lvl8pPr>
              <a:defRPr sz="1800" b="0">
                <a:solidFill>
                  <a:srgbClr val="536273"/>
                </a:solidFill>
                <a:latin typeface="Arial"/>
                <a:ea typeface="Arial"/>
                <a:cs typeface="Arial"/>
              </a:defRPr>
            </a:lvl8pPr>
            <a:lvl9pPr>
              <a:defRPr sz="1800" b="0">
                <a:solidFill>
                  <a:srgbClr val="536273"/>
                </a:solidFill>
                <a:latin typeface="Arial"/>
                <a:ea typeface="Arial"/>
                <a:cs typeface="Arial"/>
              </a:defRPr>
            </a:lvl9pPr>
          </a:lstStyle>
          <a:p xmlns:a="http://schemas.openxmlformats.org/drawingml/2006/main">
            <a:pPr>
              <a:defRPr sz="1800" b="0">
                <a:solidFill>
                  <a:srgbClr val="536273"/>
                </a:solidFill>
                <a:latin typeface="Arial"/>
                <a:ea typeface="Arial"/>
                <a:cs typeface="Arial"/>
              </a:defRPr>
            </a:pPr>
            <a:r>
              <a:rPr sz="1800" b="0">
                <a:solidFill>
                  <a:srgbClr val="536273"/>
                </a:solidFill>
                <a:latin typeface="Arial"/>
                <a:ea typeface="Arial"/>
                <a:cs typeface="Arial"/>
              </a:rPr>
              <a:t>Emulated setup from the authors’ README</a:t>
            </a:r>
          </a:p>
        </p:txBody>
      </p:sp>
      <p:sp>
        <p:nvSpPr>
          <p:cNvPr id="6" name="policy-name">
            <a:extLst xmlns:a="http://schemas.openxmlformats.org/drawingml/2006/main">
              <a:ext uri="{FF2B5EF4-FFF2-40B4-BE49-F238E27FC236}">
                <a16:creationId xmlns:a16="http://schemas.microsoft.com/office/drawing/2014/main" id="{20C9DA31-3016-456C-8A3D-E237C27E8AC5}"/>
              </a:ext>
            </a:extLst>
          </p:cNvPr>
          <p:cNvSpPr>
            <a:spLocks xmlns:a="http://schemas.openxmlformats.org/drawingml/2006/main" noGrp="1"/>
          </p:cNvSpPr>
          <p:nvPr/>
        </p:nvSpPr>
        <p:spPr>
          <a:xfrm xmlns:a="http://schemas.openxmlformats.org/drawingml/2006/main">
            <a:off x="6619875" y="13811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42D4E"/>
                </a:solidFill>
                <a:latin typeface="Arial"/>
                <a:ea typeface="Arial"/>
                <a:cs typeface="Arial"/>
              </a:defRPr>
            </a:defPPr>
            <a:lvl1pPr>
              <a:defRPr sz="2400" b="1">
                <a:solidFill>
                  <a:srgbClr val="142D4E"/>
                </a:solidFill>
                <a:latin typeface="Arial"/>
                <a:ea typeface="Arial"/>
                <a:cs typeface="Arial"/>
              </a:defRPr>
            </a:lvl1pPr>
            <a:lvl2pPr>
              <a:defRPr sz="2400" b="1">
                <a:solidFill>
                  <a:srgbClr val="142D4E"/>
                </a:solidFill>
                <a:latin typeface="Arial"/>
                <a:ea typeface="Arial"/>
                <a:cs typeface="Arial"/>
              </a:defRPr>
            </a:lvl2pPr>
            <a:lvl3pPr>
              <a:defRPr sz="2400" b="1">
                <a:solidFill>
                  <a:srgbClr val="142D4E"/>
                </a:solidFill>
                <a:latin typeface="Arial"/>
                <a:ea typeface="Arial"/>
                <a:cs typeface="Arial"/>
              </a:defRPr>
            </a:lvl3pPr>
            <a:lvl4pPr>
              <a:defRPr sz="2400" b="1">
                <a:solidFill>
                  <a:srgbClr val="142D4E"/>
                </a:solidFill>
                <a:latin typeface="Arial"/>
                <a:ea typeface="Arial"/>
                <a:cs typeface="Arial"/>
              </a:defRPr>
            </a:lvl4pPr>
            <a:lvl5pPr>
              <a:defRPr sz="2400" b="1">
                <a:solidFill>
                  <a:srgbClr val="142D4E"/>
                </a:solidFill>
                <a:latin typeface="Arial"/>
                <a:ea typeface="Arial"/>
                <a:cs typeface="Arial"/>
              </a:defRPr>
            </a:lvl5pPr>
            <a:lvl6pPr>
              <a:defRPr sz="2400" b="1">
                <a:solidFill>
                  <a:srgbClr val="142D4E"/>
                </a:solidFill>
                <a:latin typeface="Arial"/>
                <a:ea typeface="Arial"/>
                <a:cs typeface="Arial"/>
              </a:defRPr>
            </a:lvl6pPr>
            <a:lvl7pPr>
              <a:defRPr sz="2400" b="1">
                <a:solidFill>
                  <a:srgbClr val="142D4E"/>
                </a:solidFill>
                <a:latin typeface="Arial"/>
                <a:ea typeface="Arial"/>
                <a:cs typeface="Arial"/>
              </a:defRPr>
            </a:lvl7pPr>
            <a:lvl8pPr>
              <a:defRPr sz="2400" b="1">
                <a:solidFill>
                  <a:srgbClr val="142D4E"/>
                </a:solidFill>
                <a:latin typeface="Arial"/>
                <a:ea typeface="Arial"/>
                <a:cs typeface="Arial"/>
              </a:defRPr>
            </a:lvl8pPr>
            <a:lvl9pPr>
              <a:defRPr sz="2400" b="1">
                <a:solidFill>
                  <a:srgbClr val="142D4E"/>
                </a:solidFill>
                <a:latin typeface="Arial"/>
                <a:ea typeface="Arial"/>
                <a:cs typeface="Arial"/>
              </a:defRPr>
            </a:lvl9pPr>
          </a:lstStyle>
          <a:p xmlns:a="http://schemas.openxmlformats.org/drawingml/2006/main">
            <a:pPr>
              <a:defRPr sz="2400" b="1">
                <a:solidFill>
                  <a:srgbClr val="142D4E"/>
                </a:solidFill>
                <a:latin typeface="Arial"/>
                <a:ea typeface="Arial"/>
                <a:cs typeface="Arial"/>
              </a:defRPr>
            </a:pPr>
            <a:r>
              <a:rPr sz="2400" b="1">
                <a:solidFill>
                  <a:srgbClr val="142D4E"/>
                </a:solidFill>
                <a:latin typeface="Arial"/>
                <a:ea typeface="Arial"/>
                <a:cs typeface="Arial"/>
              </a:rPr>
              <a:t>LinTS contextual bandit</a:t>
            </a:r>
          </a:p>
        </p:txBody>
      </p:sp>
      <p:sp>
        <p:nvSpPr>
          <p:cNvPr id="7" name="policy-input">
            <a:extLst xmlns:a="http://schemas.openxmlformats.org/drawingml/2006/main">
              <a:ext uri="{FF2B5EF4-FFF2-40B4-BE49-F238E27FC236}">
                <a16:creationId xmlns:a16="http://schemas.microsoft.com/office/drawing/2014/main" id="{0AC8DD26-5E5B-4E8D-A78D-B81CFD84E7A9}"/>
              </a:ext>
            </a:extLst>
          </p:cNvPr>
          <p:cNvSpPr>
            <a:spLocks xmlns:a="http://schemas.openxmlformats.org/drawingml/2006/main" noGrp="1"/>
          </p:cNvSpPr>
          <p:nvPr/>
        </p:nvSpPr>
        <p:spPr>
          <a:xfrm xmlns:a="http://schemas.openxmlformats.org/drawingml/2006/main">
            <a:off x="6619875" y="184785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36273"/>
                </a:solidFill>
                <a:latin typeface="Arial"/>
                <a:ea typeface="Arial"/>
                <a:cs typeface="Arial"/>
              </a:defRPr>
            </a:defPPr>
            <a:lvl1pPr>
              <a:defRPr sz="2025" b="0">
                <a:solidFill>
                  <a:srgbClr val="536273"/>
                </a:solidFill>
                <a:latin typeface="Arial"/>
                <a:ea typeface="Arial"/>
                <a:cs typeface="Arial"/>
              </a:defRPr>
            </a:lvl1pPr>
            <a:lvl2pPr>
              <a:defRPr sz="2025" b="0">
                <a:solidFill>
                  <a:srgbClr val="536273"/>
                </a:solidFill>
                <a:latin typeface="Arial"/>
                <a:ea typeface="Arial"/>
                <a:cs typeface="Arial"/>
              </a:defRPr>
            </a:lvl2pPr>
            <a:lvl3pPr>
              <a:defRPr sz="2025" b="0">
                <a:solidFill>
                  <a:srgbClr val="536273"/>
                </a:solidFill>
                <a:latin typeface="Arial"/>
                <a:ea typeface="Arial"/>
                <a:cs typeface="Arial"/>
              </a:defRPr>
            </a:lvl3pPr>
            <a:lvl4pPr>
              <a:defRPr sz="2025" b="0">
                <a:solidFill>
                  <a:srgbClr val="536273"/>
                </a:solidFill>
                <a:latin typeface="Arial"/>
                <a:ea typeface="Arial"/>
                <a:cs typeface="Arial"/>
              </a:defRPr>
            </a:lvl4pPr>
            <a:lvl5pPr>
              <a:defRPr sz="2025" b="0">
                <a:solidFill>
                  <a:srgbClr val="536273"/>
                </a:solidFill>
                <a:latin typeface="Arial"/>
                <a:ea typeface="Arial"/>
                <a:cs typeface="Arial"/>
              </a:defRPr>
            </a:lvl5pPr>
            <a:lvl6pPr>
              <a:defRPr sz="2025" b="0">
                <a:solidFill>
                  <a:srgbClr val="536273"/>
                </a:solidFill>
                <a:latin typeface="Arial"/>
                <a:ea typeface="Arial"/>
                <a:cs typeface="Arial"/>
              </a:defRPr>
            </a:lvl6pPr>
            <a:lvl7pPr>
              <a:defRPr sz="2025" b="0">
                <a:solidFill>
                  <a:srgbClr val="536273"/>
                </a:solidFill>
                <a:latin typeface="Arial"/>
                <a:ea typeface="Arial"/>
                <a:cs typeface="Arial"/>
              </a:defRPr>
            </a:lvl7pPr>
            <a:lvl8pPr>
              <a:defRPr sz="2025" b="0">
                <a:solidFill>
                  <a:srgbClr val="536273"/>
                </a:solidFill>
                <a:latin typeface="Arial"/>
                <a:ea typeface="Arial"/>
                <a:cs typeface="Arial"/>
              </a:defRPr>
            </a:lvl8pPr>
            <a:lvl9pPr>
              <a:defRPr sz="2025" b="0">
                <a:solidFill>
                  <a:srgbClr val="536273"/>
                </a:solidFill>
                <a:latin typeface="Arial"/>
                <a:ea typeface="Arial"/>
                <a:cs typeface="Arial"/>
              </a:defRPr>
            </a:lvl9pPr>
          </a:lstStyle>
          <a:p xmlns:a="http://schemas.openxmlformats.org/drawingml/2006/main">
            <a:pPr>
              <a:defRPr sz="2025" b="0">
                <a:solidFill>
                  <a:srgbClr val="536273"/>
                </a:solidFill>
                <a:latin typeface="Arial"/>
                <a:ea typeface="Arial"/>
                <a:cs typeface="Arial"/>
              </a:defRPr>
            </a:pPr>
            <a:r>
              <a:rPr sz="2025" b="0">
                <a:solidFill>
                  <a:srgbClr val="536273"/>
                </a:solidFill>
                <a:latin typeface="Arial"/>
                <a:ea typeface="Arial"/>
                <a:cs typeface="Arial"/>
              </a:rPr>
              <a:t>Inputs: throughput, playback rate and RTT</a:t>
            </a:r>
          </a:p>
        </p:txBody>
      </p:sp>
      <p:sp>
        <p:nvSpPr>
          <p:cNvPr id="8" name="issue1-title">
            <a:extLst xmlns:a="http://schemas.openxmlformats.org/drawingml/2006/main">
              <a:ext uri="{FF2B5EF4-FFF2-40B4-BE49-F238E27FC236}">
                <a16:creationId xmlns:a16="http://schemas.microsoft.com/office/drawing/2014/main" id="{27E9ECB5-8584-430C-A45E-2CF200DBFDA5}"/>
              </a:ext>
            </a:extLst>
          </p:cNvPr>
          <p:cNvSpPr>
            <a:spLocks xmlns:a="http://schemas.openxmlformats.org/drawingml/2006/main" noGrp="1"/>
          </p:cNvSpPr>
          <p:nvPr/>
        </p:nvSpPr>
        <p:spPr>
          <a:xfrm xmlns:a="http://schemas.openxmlformats.org/drawingml/2006/main">
            <a:off x="6619875" y="26670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B7A75"/>
                </a:solidFill>
                <a:latin typeface="Arial"/>
                <a:ea typeface="Arial"/>
                <a:cs typeface="Arial"/>
              </a:defRPr>
            </a:defPPr>
            <a:lvl1pPr>
              <a:defRPr sz="2025" b="1">
                <a:solidFill>
                  <a:srgbClr val="0B7A75"/>
                </a:solidFill>
                <a:latin typeface="Arial"/>
                <a:ea typeface="Arial"/>
                <a:cs typeface="Arial"/>
              </a:defRPr>
            </a:lvl1pPr>
            <a:lvl2pPr>
              <a:defRPr sz="2025" b="1">
                <a:solidFill>
                  <a:srgbClr val="0B7A75"/>
                </a:solidFill>
                <a:latin typeface="Arial"/>
                <a:ea typeface="Arial"/>
                <a:cs typeface="Arial"/>
              </a:defRPr>
            </a:lvl2pPr>
            <a:lvl3pPr>
              <a:defRPr sz="2025" b="1">
                <a:solidFill>
                  <a:srgbClr val="0B7A75"/>
                </a:solidFill>
                <a:latin typeface="Arial"/>
                <a:ea typeface="Arial"/>
                <a:cs typeface="Arial"/>
              </a:defRPr>
            </a:lvl3pPr>
            <a:lvl4pPr>
              <a:defRPr sz="2025" b="1">
                <a:solidFill>
                  <a:srgbClr val="0B7A75"/>
                </a:solidFill>
                <a:latin typeface="Arial"/>
                <a:ea typeface="Arial"/>
                <a:cs typeface="Arial"/>
              </a:defRPr>
            </a:lvl4pPr>
            <a:lvl5pPr>
              <a:defRPr sz="2025" b="1">
                <a:solidFill>
                  <a:srgbClr val="0B7A75"/>
                </a:solidFill>
                <a:latin typeface="Arial"/>
                <a:ea typeface="Arial"/>
                <a:cs typeface="Arial"/>
              </a:defRPr>
            </a:lvl5pPr>
            <a:lvl6pPr>
              <a:defRPr sz="2025" b="1">
                <a:solidFill>
                  <a:srgbClr val="0B7A75"/>
                </a:solidFill>
                <a:latin typeface="Arial"/>
                <a:ea typeface="Arial"/>
                <a:cs typeface="Arial"/>
              </a:defRPr>
            </a:lvl6pPr>
            <a:lvl7pPr>
              <a:defRPr sz="2025" b="1">
                <a:solidFill>
                  <a:srgbClr val="0B7A75"/>
                </a:solidFill>
                <a:latin typeface="Arial"/>
                <a:ea typeface="Arial"/>
                <a:cs typeface="Arial"/>
              </a:defRPr>
            </a:lvl7pPr>
            <a:lvl8pPr>
              <a:defRPr sz="2025" b="1">
                <a:solidFill>
                  <a:srgbClr val="0B7A75"/>
                </a:solidFill>
                <a:latin typeface="Arial"/>
                <a:ea typeface="Arial"/>
                <a:cs typeface="Arial"/>
              </a:defRPr>
            </a:lvl8pPr>
            <a:lvl9pPr>
              <a:defRPr sz="2025" b="1">
                <a:solidFill>
                  <a:srgbClr val="0B7A75"/>
                </a:solidFill>
                <a:latin typeface="Arial"/>
                <a:ea typeface="Arial"/>
                <a:cs typeface="Arial"/>
              </a:defRPr>
            </a:lvl9pPr>
          </a:lstStyle>
          <a:p xmlns:a="http://schemas.openxmlformats.org/drawingml/2006/main">
            <a:pPr>
              <a:defRPr sz="2025" b="1">
                <a:solidFill>
                  <a:srgbClr val="0B7A75"/>
                </a:solidFill>
                <a:latin typeface="Arial"/>
                <a:ea typeface="Arial"/>
                <a:cs typeface="Arial"/>
              </a:defRPr>
            </a:pPr>
            <a:r>
              <a:rPr sz="2025" b="1">
                <a:solidFill>
                  <a:srgbClr val="0B7A75"/>
                </a:solidFill>
                <a:latin typeface="Arial"/>
                <a:ea typeface="Arial"/>
                <a:cs typeface="Arial"/>
              </a:rPr>
              <a:t>Reward timing</a:t>
            </a:r>
          </a:p>
        </p:txBody>
      </p:sp>
      <p:sp>
        <p:nvSpPr>
          <p:cNvPr id="9" name="issue1">
            <a:extLst xmlns:a="http://schemas.openxmlformats.org/drawingml/2006/main">
              <a:ext uri="{FF2B5EF4-FFF2-40B4-BE49-F238E27FC236}">
                <a16:creationId xmlns:a16="http://schemas.microsoft.com/office/drawing/2014/main" id="{FB4C796A-6C6D-4ADF-99E9-276889B18924}"/>
              </a:ext>
            </a:extLst>
          </p:cNvPr>
          <p:cNvSpPr>
            <a:spLocks xmlns:a="http://schemas.openxmlformats.org/drawingml/2006/main" noGrp="1"/>
          </p:cNvSpPr>
          <p:nvPr/>
        </p:nvSpPr>
        <p:spPr>
          <a:xfrm xmlns:a="http://schemas.openxmlformats.org/drawingml/2006/main">
            <a:off x="6619875" y="30003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42D4E"/>
                </a:solidFill>
                <a:latin typeface="Arial"/>
                <a:ea typeface="Arial"/>
                <a:cs typeface="Arial"/>
              </a:defRPr>
            </a:defPPr>
            <a:lvl1pPr>
              <a:defRPr sz="1950" b="0">
                <a:solidFill>
                  <a:srgbClr val="142D4E"/>
                </a:solidFill>
                <a:latin typeface="Arial"/>
                <a:ea typeface="Arial"/>
                <a:cs typeface="Arial"/>
              </a:defRPr>
            </a:lvl1pPr>
            <a:lvl2pPr>
              <a:defRPr sz="1950" b="0">
                <a:solidFill>
                  <a:srgbClr val="142D4E"/>
                </a:solidFill>
                <a:latin typeface="Arial"/>
                <a:ea typeface="Arial"/>
                <a:cs typeface="Arial"/>
              </a:defRPr>
            </a:lvl2pPr>
            <a:lvl3pPr>
              <a:defRPr sz="1950" b="0">
                <a:solidFill>
                  <a:srgbClr val="142D4E"/>
                </a:solidFill>
                <a:latin typeface="Arial"/>
                <a:ea typeface="Arial"/>
                <a:cs typeface="Arial"/>
              </a:defRPr>
            </a:lvl3pPr>
            <a:lvl4pPr>
              <a:defRPr sz="1950" b="0">
                <a:solidFill>
                  <a:srgbClr val="142D4E"/>
                </a:solidFill>
                <a:latin typeface="Arial"/>
                <a:ea typeface="Arial"/>
                <a:cs typeface="Arial"/>
              </a:defRPr>
            </a:lvl4pPr>
            <a:lvl5pPr>
              <a:defRPr sz="1950" b="0">
                <a:solidFill>
                  <a:srgbClr val="142D4E"/>
                </a:solidFill>
                <a:latin typeface="Arial"/>
                <a:ea typeface="Arial"/>
                <a:cs typeface="Arial"/>
              </a:defRPr>
            </a:lvl5pPr>
            <a:lvl6pPr>
              <a:defRPr sz="1950" b="0">
                <a:solidFill>
                  <a:srgbClr val="142D4E"/>
                </a:solidFill>
                <a:latin typeface="Arial"/>
                <a:ea typeface="Arial"/>
                <a:cs typeface="Arial"/>
              </a:defRPr>
            </a:lvl6pPr>
            <a:lvl7pPr>
              <a:defRPr sz="1950" b="0">
                <a:solidFill>
                  <a:srgbClr val="142D4E"/>
                </a:solidFill>
                <a:latin typeface="Arial"/>
                <a:ea typeface="Arial"/>
                <a:cs typeface="Arial"/>
              </a:defRPr>
            </a:lvl7pPr>
            <a:lvl8pPr>
              <a:defRPr sz="1950" b="0">
                <a:solidFill>
                  <a:srgbClr val="142D4E"/>
                </a:solidFill>
                <a:latin typeface="Arial"/>
                <a:ea typeface="Arial"/>
                <a:cs typeface="Arial"/>
              </a:defRPr>
            </a:lvl8pPr>
            <a:lvl9pPr>
              <a:defRPr sz="1950" b="0">
                <a:solidFill>
                  <a:srgbClr val="142D4E"/>
                </a:solidFill>
                <a:latin typeface="Arial"/>
                <a:ea typeface="Arial"/>
                <a:cs typeface="Arial"/>
              </a:defRPr>
            </a:lvl9pPr>
          </a:lstStyle>
          <a:p xmlns:a="http://schemas.openxmlformats.org/drawingml/2006/main">
            <a:pPr>
              <a:defRPr sz="1950" b="0">
                <a:solidFill>
                  <a:srgbClr val="142D4E"/>
                </a:solidFill>
                <a:latin typeface="Arial"/>
                <a:ea typeface="Arial"/>
                <a:cs typeface="Arial"/>
              </a:defRPr>
            </a:pPr>
            <a:r>
              <a:rPr sz="1950" b="0">
                <a:solidFill>
                  <a:srgbClr val="142D4E"/>
                </a:solidFill>
                <a:latin typeface="Arial"/>
                <a:ea typeface="Arial"/>
                <a:cs typeface="Arial"/>
              </a:rPr>
              <a:t>Scores the choice before its download finishes</a:t>
            </a:r>
          </a:p>
        </p:txBody>
      </p:sp>
      <p:sp>
        <p:nvSpPr>
          <p:cNvPr id="10" name="issue2-title">
            <a:extLst xmlns:a="http://schemas.openxmlformats.org/drawingml/2006/main">
              <a:ext uri="{FF2B5EF4-FFF2-40B4-BE49-F238E27FC236}">
                <a16:creationId xmlns:a16="http://schemas.microsoft.com/office/drawing/2014/main" id="{EF27F19C-5B35-4DC9-A6D1-9B029F5B29FA}"/>
              </a:ext>
            </a:extLst>
          </p:cNvPr>
          <p:cNvSpPr>
            <a:spLocks xmlns:a="http://schemas.openxmlformats.org/drawingml/2006/main" noGrp="1"/>
          </p:cNvSpPr>
          <p:nvPr/>
        </p:nvSpPr>
        <p:spPr>
          <a:xfrm xmlns:a="http://schemas.openxmlformats.org/drawingml/2006/main">
            <a:off x="6619875" y="364807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B7A75"/>
                </a:solidFill>
                <a:latin typeface="Arial"/>
                <a:ea typeface="Arial"/>
                <a:cs typeface="Arial"/>
              </a:defRPr>
            </a:defPPr>
            <a:lvl1pPr>
              <a:defRPr sz="2025" b="1">
                <a:solidFill>
                  <a:srgbClr val="0B7A75"/>
                </a:solidFill>
                <a:latin typeface="Arial"/>
                <a:ea typeface="Arial"/>
                <a:cs typeface="Arial"/>
              </a:defRPr>
            </a:lvl1pPr>
            <a:lvl2pPr>
              <a:defRPr sz="2025" b="1">
                <a:solidFill>
                  <a:srgbClr val="0B7A75"/>
                </a:solidFill>
                <a:latin typeface="Arial"/>
                <a:ea typeface="Arial"/>
                <a:cs typeface="Arial"/>
              </a:defRPr>
            </a:lvl2pPr>
            <a:lvl3pPr>
              <a:defRPr sz="2025" b="1">
                <a:solidFill>
                  <a:srgbClr val="0B7A75"/>
                </a:solidFill>
                <a:latin typeface="Arial"/>
                <a:ea typeface="Arial"/>
                <a:cs typeface="Arial"/>
              </a:defRPr>
            </a:lvl3pPr>
            <a:lvl4pPr>
              <a:defRPr sz="2025" b="1">
                <a:solidFill>
                  <a:srgbClr val="0B7A75"/>
                </a:solidFill>
                <a:latin typeface="Arial"/>
                <a:ea typeface="Arial"/>
                <a:cs typeface="Arial"/>
              </a:defRPr>
            </a:lvl4pPr>
            <a:lvl5pPr>
              <a:defRPr sz="2025" b="1">
                <a:solidFill>
                  <a:srgbClr val="0B7A75"/>
                </a:solidFill>
                <a:latin typeface="Arial"/>
                <a:ea typeface="Arial"/>
                <a:cs typeface="Arial"/>
              </a:defRPr>
            </a:lvl5pPr>
            <a:lvl6pPr>
              <a:defRPr sz="2025" b="1">
                <a:solidFill>
                  <a:srgbClr val="0B7A75"/>
                </a:solidFill>
                <a:latin typeface="Arial"/>
                <a:ea typeface="Arial"/>
                <a:cs typeface="Arial"/>
              </a:defRPr>
            </a:lvl6pPr>
            <a:lvl7pPr>
              <a:defRPr sz="2025" b="1">
                <a:solidFill>
                  <a:srgbClr val="0B7A75"/>
                </a:solidFill>
                <a:latin typeface="Arial"/>
                <a:ea typeface="Arial"/>
                <a:cs typeface="Arial"/>
              </a:defRPr>
            </a:lvl7pPr>
            <a:lvl8pPr>
              <a:defRPr sz="2025" b="1">
                <a:solidFill>
                  <a:srgbClr val="0B7A75"/>
                </a:solidFill>
                <a:latin typeface="Arial"/>
                <a:ea typeface="Arial"/>
                <a:cs typeface="Arial"/>
              </a:defRPr>
            </a:lvl8pPr>
            <a:lvl9pPr>
              <a:defRPr sz="2025" b="1">
                <a:solidFill>
                  <a:srgbClr val="0B7A75"/>
                </a:solidFill>
                <a:latin typeface="Arial"/>
                <a:ea typeface="Arial"/>
                <a:cs typeface="Arial"/>
              </a:defRPr>
            </a:lvl9pPr>
          </a:lstStyle>
          <a:p xmlns:a="http://schemas.openxmlformats.org/drawingml/2006/main">
            <a:pPr>
              <a:defRPr sz="2025" b="1">
                <a:solidFill>
                  <a:srgbClr val="0B7A75"/>
                </a:solidFill>
                <a:latin typeface="Arial"/>
                <a:ea typeface="Arial"/>
                <a:cs typeface="Arial"/>
              </a:defRPr>
            </a:pPr>
            <a:r>
              <a:rPr sz="2025" b="1">
                <a:solidFill>
                  <a:srgbClr val="0B7A75"/>
                </a:solidFill>
                <a:latin typeface="Arial"/>
                <a:ea typeface="Arial"/>
                <a:cs typeface="Arial"/>
              </a:rPr>
              <a:t>Incomplete playback costs</a:t>
            </a:r>
          </a:p>
        </p:txBody>
      </p:sp>
      <p:sp>
        <p:nvSpPr>
          <p:cNvPr id="11" name="issue2">
            <a:extLst xmlns:a="http://schemas.openxmlformats.org/drawingml/2006/main">
              <a:ext uri="{FF2B5EF4-FFF2-40B4-BE49-F238E27FC236}">
                <a16:creationId xmlns:a16="http://schemas.microsoft.com/office/drawing/2014/main" id="{2049B76B-679E-4953-BE94-651C1DA17904}"/>
              </a:ext>
            </a:extLst>
          </p:cNvPr>
          <p:cNvSpPr>
            <a:spLocks xmlns:a="http://schemas.openxmlformats.org/drawingml/2006/main" noGrp="1"/>
          </p:cNvSpPr>
          <p:nvPr/>
        </p:nvSpPr>
        <p:spPr>
          <a:xfrm xmlns:a="http://schemas.openxmlformats.org/drawingml/2006/main">
            <a:off x="6619875" y="3990975"/>
            <a:ext cx="4953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42D4E"/>
                </a:solidFill>
                <a:latin typeface="Arial"/>
                <a:ea typeface="Arial"/>
                <a:cs typeface="Arial"/>
              </a:defRPr>
            </a:defPPr>
            <a:lvl1pPr>
              <a:defRPr sz="1950" b="0">
                <a:solidFill>
                  <a:srgbClr val="142D4E"/>
                </a:solidFill>
                <a:latin typeface="Arial"/>
                <a:ea typeface="Arial"/>
                <a:cs typeface="Arial"/>
              </a:defRPr>
            </a:lvl1pPr>
            <a:lvl2pPr>
              <a:defRPr sz="1950" b="0">
                <a:solidFill>
                  <a:srgbClr val="142D4E"/>
                </a:solidFill>
                <a:latin typeface="Arial"/>
                <a:ea typeface="Arial"/>
                <a:cs typeface="Arial"/>
              </a:defRPr>
            </a:lvl2pPr>
            <a:lvl3pPr>
              <a:defRPr sz="1950" b="0">
                <a:solidFill>
                  <a:srgbClr val="142D4E"/>
                </a:solidFill>
                <a:latin typeface="Arial"/>
                <a:ea typeface="Arial"/>
                <a:cs typeface="Arial"/>
              </a:defRPr>
            </a:lvl3pPr>
            <a:lvl4pPr>
              <a:defRPr sz="1950" b="0">
                <a:solidFill>
                  <a:srgbClr val="142D4E"/>
                </a:solidFill>
                <a:latin typeface="Arial"/>
                <a:ea typeface="Arial"/>
                <a:cs typeface="Arial"/>
              </a:defRPr>
            </a:lvl4pPr>
            <a:lvl5pPr>
              <a:defRPr sz="1950" b="0">
                <a:solidFill>
                  <a:srgbClr val="142D4E"/>
                </a:solidFill>
                <a:latin typeface="Arial"/>
                <a:ea typeface="Arial"/>
                <a:cs typeface="Arial"/>
              </a:defRPr>
            </a:lvl5pPr>
            <a:lvl6pPr>
              <a:defRPr sz="1950" b="0">
                <a:solidFill>
                  <a:srgbClr val="142D4E"/>
                </a:solidFill>
                <a:latin typeface="Arial"/>
                <a:ea typeface="Arial"/>
                <a:cs typeface="Arial"/>
              </a:defRPr>
            </a:lvl6pPr>
            <a:lvl7pPr>
              <a:defRPr sz="1950" b="0">
                <a:solidFill>
                  <a:srgbClr val="142D4E"/>
                </a:solidFill>
                <a:latin typeface="Arial"/>
                <a:ea typeface="Arial"/>
                <a:cs typeface="Arial"/>
              </a:defRPr>
            </a:lvl7pPr>
            <a:lvl8pPr>
              <a:defRPr sz="1950" b="0">
                <a:solidFill>
                  <a:srgbClr val="142D4E"/>
                </a:solidFill>
                <a:latin typeface="Arial"/>
                <a:ea typeface="Arial"/>
                <a:cs typeface="Arial"/>
              </a:defRPr>
            </a:lvl8pPr>
            <a:lvl9pPr>
              <a:defRPr sz="1950" b="0">
                <a:solidFill>
                  <a:srgbClr val="142D4E"/>
                </a:solidFill>
                <a:latin typeface="Arial"/>
                <a:ea typeface="Arial"/>
                <a:cs typeface="Arial"/>
              </a:defRPr>
            </a:lvl9pPr>
          </a:lstStyle>
          <a:p xmlns:a="http://schemas.openxmlformats.org/drawingml/2006/main">
            <a:pPr>
              <a:defRPr sz="1950" b="0">
                <a:solidFill>
                  <a:srgbClr val="142D4E"/>
                </a:solidFill>
                <a:latin typeface="Arial"/>
                <a:ea typeface="Arial"/>
                <a:cs typeface="Arial"/>
              </a:defRPr>
            </a:pPr>
            <a:r>
              <a:rPr sz="1950" b="0">
                <a:solidFill>
                  <a:srgbClr val="142D4E"/>
                </a:solidFill>
                <a:latin typeface="Arial"/>
                <a:ea typeface="Arial"/>
                <a:cs typeface="Arial"/>
              </a:rPr>
              <a:t>Stall share replaces duration</a:t>
            </a:r>
          </a:p>
          <a:p xmlns:a="http://schemas.openxmlformats.org/drawingml/2006/main">
            <a:pPr>
              <a:defRPr sz="1950" b="0">
                <a:solidFill>
                  <a:srgbClr val="142D4E"/>
                </a:solidFill>
                <a:latin typeface="Arial"/>
                <a:ea typeface="Arial"/>
                <a:cs typeface="Arial"/>
              </a:defRPr>
            </a:pPr>
            <a:r>
              <a:rPr sz="1950" b="0">
                <a:solidFill>
                  <a:srgbClr val="142D4E"/>
                </a:solidFill>
                <a:latin typeface="Arial"/>
                <a:ea typeface="Arial"/>
                <a:cs typeface="Arial"/>
              </a:rPr>
              <a:t>Switching has no explicit cost</a:t>
            </a:r>
          </a:p>
        </p:txBody>
      </p:sp>
      <p:sp>
        <p:nvSpPr>
          <p:cNvPr id="12" name="issue3">
            <a:extLst xmlns:a="http://schemas.openxmlformats.org/drawingml/2006/main">
              <a:ext uri="{FF2B5EF4-FFF2-40B4-BE49-F238E27FC236}">
                <a16:creationId xmlns:a16="http://schemas.microsoft.com/office/drawing/2014/main" id="{F2A82CAC-BD67-4434-BD26-DA914AF3D5D1}"/>
              </a:ext>
            </a:extLst>
          </p:cNvPr>
          <p:cNvSpPr>
            <a:spLocks xmlns:a="http://schemas.openxmlformats.org/drawingml/2006/main" noGrp="1"/>
          </p:cNvSpPr>
          <p:nvPr/>
        </p:nvSpPr>
        <p:spPr>
          <a:xfrm xmlns:a="http://schemas.openxmlformats.org/drawingml/2006/main">
            <a:off x="609600" y="538162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42D4E"/>
                </a:solidFill>
                <a:latin typeface="Arial"/>
                <a:ea typeface="Arial"/>
                <a:cs typeface="Arial"/>
              </a:defRPr>
            </a:defPPr>
            <a:lvl1pPr>
              <a:defRPr sz="2025" b="0">
                <a:solidFill>
                  <a:srgbClr val="142D4E"/>
                </a:solidFill>
                <a:latin typeface="Arial"/>
                <a:ea typeface="Arial"/>
                <a:cs typeface="Arial"/>
              </a:defRPr>
            </a:lvl1pPr>
            <a:lvl2pPr>
              <a:defRPr sz="2025" b="0">
                <a:solidFill>
                  <a:srgbClr val="142D4E"/>
                </a:solidFill>
                <a:latin typeface="Arial"/>
                <a:ea typeface="Arial"/>
                <a:cs typeface="Arial"/>
              </a:defRPr>
            </a:lvl2pPr>
            <a:lvl3pPr>
              <a:defRPr sz="2025" b="0">
                <a:solidFill>
                  <a:srgbClr val="142D4E"/>
                </a:solidFill>
                <a:latin typeface="Arial"/>
                <a:ea typeface="Arial"/>
                <a:cs typeface="Arial"/>
              </a:defRPr>
            </a:lvl3pPr>
            <a:lvl4pPr>
              <a:defRPr sz="2025" b="0">
                <a:solidFill>
                  <a:srgbClr val="142D4E"/>
                </a:solidFill>
                <a:latin typeface="Arial"/>
                <a:ea typeface="Arial"/>
                <a:cs typeface="Arial"/>
              </a:defRPr>
            </a:lvl4pPr>
            <a:lvl5pPr>
              <a:defRPr sz="2025" b="0">
                <a:solidFill>
                  <a:srgbClr val="142D4E"/>
                </a:solidFill>
                <a:latin typeface="Arial"/>
                <a:ea typeface="Arial"/>
                <a:cs typeface="Arial"/>
              </a:defRPr>
            </a:lvl5pPr>
            <a:lvl6pPr>
              <a:defRPr sz="2025" b="0">
                <a:solidFill>
                  <a:srgbClr val="142D4E"/>
                </a:solidFill>
                <a:latin typeface="Arial"/>
                <a:ea typeface="Arial"/>
                <a:cs typeface="Arial"/>
              </a:defRPr>
            </a:lvl6pPr>
            <a:lvl7pPr>
              <a:defRPr sz="2025" b="0">
                <a:solidFill>
                  <a:srgbClr val="142D4E"/>
                </a:solidFill>
                <a:latin typeface="Arial"/>
                <a:ea typeface="Arial"/>
                <a:cs typeface="Arial"/>
              </a:defRPr>
            </a:lvl7pPr>
            <a:lvl8pPr>
              <a:defRPr sz="2025" b="0">
                <a:solidFill>
                  <a:srgbClr val="142D4E"/>
                </a:solidFill>
                <a:latin typeface="Arial"/>
                <a:ea typeface="Arial"/>
                <a:cs typeface="Arial"/>
              </a:defRPr>
            </a:lvl8pPr>
            <a:lvl9pPr>
              <a:defRPr sz="2025" b="0">
                <a:solidFill>
                  <a:srgbClr val="142D4E"/>
                </a:solidFill>
                <a:latin typeface="Arial"/>
                <a:ea typeface="Arial"/>
                <a:cs typeface="Arial"/>
              </a:defRPr>
            </a:lvl9pPr>
          </a:lstStyle>
          <a:p xmlns:a="http://schemas.openxmlformats.org/drawingml/2006/main">
            <a:pPr>
              <a:defRPr sz="2025" b="0">
                <a:solidFill>
                  <a:srgbClr val="142D4E"/>
                </a:solidFill>
                <a:latin typeface="Arial"/>
                <a:ea typeface="Arial"/>
                <a:cs typeface="Arial"/>
              </a:defRPr>
            </a:pPr>
            <a:r>
              <a:rPr sz="2025" b="0">
                <a:solidFill>
                  <a:srgbClr val="142D4E"/>
                </a:solidFill>
                <a:latin typeface="Arial"/>
                <a:ea typeface="Arial"/>
                <a:cs typeface="Arial"/>
              </a:rPr>
              <a:t>15s history reset with a high-bitrate restart</a:t>
            </a:r>
          </a:p>
          <a:p xmlns:a="http://schemas.openxmlformats.org/drawingml/2006/main">
            <a:pPr>
              <a:defRPr sz="2025" b="0">
                <a:solidFill>
                  <a:srgbClr val="142D4E"/>
                </a:solidFill>
                <a:latin typeface="Arial"/>
                <a:ea typeface="Arial"/>
                <a:cs typeface="Arial"/>
              </a:defRPr>
            </a:pPr>
            <a:r>
              <a:rPr sz="2025" b="0">
                <a:solidFill>
                  <a:srgbClr val="142D4E"/>
                </a:solidFill>
                <a:latin typeface="Arial"/>
                <a:ea typeface="Arial"/>
                <a:cs typeface="Arial"/>
              </a:rPr>
              <a:t>Buffer and live latency excluded from context</a:t>
            </a:r>
          </a:p>
        </p:txBody>
      </p:sp>
      <p:sp>
        <p:nvSpPr>
          <p:cNvPr id="13" name="reward-equation">
            <a:extLst xmlns:a="http://schemas.openxmlformats.org/drawingml/2006/main">
              <a:ext uri="{FF2B5EF4-FFF2-40B4-BE49-F238E27FC236}">
                <a16:creationId xmlns:a16="http://schemas.microsoft.com/office/drawing/2014/main" id="{6D0E7E53-6662-4747-B186-65C1AD034C00}"/>
              </a:ext>
            </a:extLst>
          </p:cNvPr>
          <p:cNvSpPr>
            <a:spLocks xmlns:a="http://schemas.openxmlformats.org/drawingml/2006/main" noGrp="1"/>
          </p:cNvSpPr>
          <p:nvPr/>
        </p:nvSpPr>
        <p:spPr>
          <a:xfrm xmlns:a="http://schemas.openxmlformats.org/drawingml/2006/main">
            <a:off x="609600" y="11049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0B7A75"/>
                </a:solidFill>
                <a:latin typeface="Arial"/>
                <a:ea typeface="Arial"/>
                <a:cs typeface="Arial"/>
              </a:defRPr>
            </a:defPPr>
            <a:lvl1pPr>
              <a:defRPr sz="2250" b="1">
                <a:solidFill>
                  <a:srgbClr val="0B7A75"/>
                </a:solidFill>
                <a:latin typeface="Arial"/>
                <a:ea typeface="Arial"/>
                <a:cs typeface="Arial"/>
              </a:defRPr>
            </a:lvl1pPr>
            <a:lvl2pPr>
              <a:defRPr sz="2250" b="1">
                <a:solidFill>
                  <a:srgbClr val="0B7A75"/>
                </a:solidFill>
                <a:latin typeface="Arial"/>
                <a:ea typeface="Arial"/>
                <a:cs typeface="Arial"/>
              </a:defRPr>
            </a:lvl2pPr>
            <a:lvl3pPr>
              <a:defRPr sz="2250" b="1">
                <a:solidFill>
                  <a:srgbClr val="0B7A75"/>
                </a:solidFill>
                <a:latin typeface="Arial"/>
                <a:ea typeface="Arial"/>
                <a:cs typeface="Arial"/>
              </a:defRPr>
            </a:lvl3pPr>
            <a:lvl4pPr>
              <a:defRPr sz="2250" b="1">
                <a:solidFill>
                  <a:srgbClr val="0B7A75"/>
                </a:solidFill>
                <a:latin typeface="Arial"/>
                <a:ea typeface="Arial"/>
                <a:cs typeface="Arial"/>
              </a:defRPr>
            </a:lvl4pPr>
            <a:lvl5pPr>
              <a:defRPr sz="2250" b="1">
                <a:solidFill>
                  <a:srgbClr val="0B7A75"/>
                </a:solidFill>
                <a:latin typeface="Arial"/>
                <a:ea typeface="Arial"/>
                <a:cs typeface="Arial"/>
              </a:defRPr>
            </a:lvl5pPr>
            <a:lvl6pPr>
              <a:defRPr sz="2250" b="1">
                <a:solidFill>
                  <a:srgbClr val="0B7A75"/>
                </a:solidFill>
                <a:latin typeface="Arial"/>
                <a:ea typeface="Arial"/>
                <a:cs typeface="Arial"/>
              </a:defRPr>
            </a:lvl6pPr>
            <a:lvl7pPr>
              <a:defRPr sz="2250" b="1">
                <a:solidFill>
                  <a:srgbClr val="0B7A75"/>
                </a:solidFill>
                <a:latin typeface="Arial"/>
                <a:ea typeface="Arial"/>
                <a:cs typeface="Arial"/>
              </a:defRPr>
            </a:lvl7pPr>
            <a:lvl8pPr>
              <a:defRPr sz="2250" b="1">
                <a:solidFill>
                  <a:srgbClr val="0B7A75"/>
                </a:solidFill>
                <a:latin typeface="Arial"/>
                <a:ea typeface="Arial"/>
                <a:cs typeface="Arial"/>
              </a:defRPr>
            </a:lvl8pPr>
            <a:lvl9pPr>
              <a:defRPr sz="2250" b="1">
                <a:solidFill>
                  <a:srgbClr val="0B7A75"/>
                </a:solidFill>
                <a:latin typeface="Arial"/>
                <a:ea typeface="Arial"/>
                <a:cs typeface="Arial"/>
              </a:defRPr>
            </a:lvl9pPr>
          </a:lstStyle>
          <a:p xmlns:a="http://schemas.openxmlformats.org/drawingml/2006/main">
            <a:pPr>
              <a:defRPr sz="2250" b="1">
                <a:solidFill>
                  <a:srgbClr val="0B7A75"/>
                </a:solidFill>
                <a:latin typeface="Arial"/>
                <a:ea typeface="Arial"/>
                <a:cs typeface="Arial"/>
              </a:defRPr>
            </a:pPr>
            <a:r>
              <a:rPr sz="2250" b="1">
                <a:solidFill>
                  <a:srgbClr val="0B7A75"/>
                </a:solidFill>
                <a:latin typeface="Arial"/>
                <a:ea typeface="Arial"/>
                <a:cs typeface="Arial"/>
              </a:rPr>
              <a:t>r = Q1203 × Ltarget/Llive × b/bmax − Tb/Tall</a:t>
            </a:r>
          </a:p>
        </p:txBody>
      </p:sp>
      <p:sp>
        <p:nvSpPr>
          <p:cNvPr id="14" name="reward-definitions">
            <a:extLst xmlns:a="http://schemas.openxmlformats.org/drawingml/2006/main">
              <a:ext uri="{FF2B5EF4-FFF2-40B4-BE49-F238E27FC236}">
                <a16:creationId xmlns:a16="http://schemas.microsoft.com/office/drawing/2014/main" id="{8C09C85A-6D45-4B82-A2B2-8A0D442DD5B2}"/>
              </a:ext>
            </a:extLst>
          </p:cNvPr>
          <p:cNvSpPr>
            <a:spLocks xmlns:a="http://schemas.openxmlformats.org/drawingml/2006/main" noGrp="1"/>
          </p:cNvSpPr>
          <p:nvPr/>
        </p:nvSpPr>
        <p:spPr>
          <a:xfrm xmlns:a="http://schemas.openxmlformats.org/drawingml/2006/main">
            <a:off x="609600" y="6143625"/>
            <a:ext cx="10429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36273"/>
                </a:solidFill>
                <a:latin typeface="Arial"/>
                <a:ea typeface="Arial"/>
                <a:cs typeface="Arial"/>
              </a:defRPr>
            </a:defPPr>
            <a:lvl1pPr>
              <a:defRPr sz="1650" b="0">
                <a:solidFill>
                  <a:srgbClr val="536273"/>
                </a:solidFill>
                <a:latin typeface="Arial"/>
                <a:ea typeface="Arial"/>
                <a:cs typeface="Arial"/>
              </a:defRPr>
            </a:lvl1pPr>
            <a:lvl2pPr>
              <a:defRPr sz="1650" b="0">
                <a:solidFill>
                  <a:srgbClr val="536273"/>
                </a:solidFill>
                <a:latin typeface="Arial"/>
                <a:ea typeface="Arial"/>
                <a:cs typeface="Arial"/>
              </a:defRPr>
            </a:lvl2pPr>
            <a:lvl3pPr>
              <a:defRPr sz="1650" b="0">
                <a:solidFill>
                  <a:srgbClr val="536273"/>
                </a:solidFill>
                <a:latin typeface="Arial"/>
                <a:ea typeface="Arial"/>
                <a:cs typeface="Arial"/>
              </a:defRPr>
            </a:lvl3pPr>
            <a:lvl4pPr>
              <a:defRPr sz="1650" b="0">
                <a:solidFill>
                  <a:srgbClr val="536273"/>
                </a:solidFill>
                <a:latin typeface="Arial"/>
                <a:ea typeface="Arial"/>
                <a:cs typeface="Arial"/>
              </a:defRPr>
            </a:lvl4pPr>
            <a:lvl5pPr>
              <a:defRPr sz="1650" b="0">
                <a:solidFill>
                  <a:srgbClr val="536273"/>
                </a:solidFill>
                <a:latin typeface="Arial"/>
                <a:ea typeface="Arial"/>
                <a:cs typeface="Arial"/>
              </a:defRPr>
            </a:lvl5pPr>
            <a:lvl6pPr>
              <a:defRPr sz="1650" b="0">
                <a:solidFill>
                  <a:srgbClr val="536273"/>
                </a:solidFill>
                <a:latin typeface="Arial"/>
                <a:ea typeface="Arial"/>
                <a:cs typeface="Arial"/>
              </a:defRPr>
            </a:lvl6pPr>
            <a:lvl7pPr>
              <a:defRPr sz="1650" b="0">
                <a:solidFill>
                  <a:srgbClr val="536273"/>
                </a:solidFill>
                <a:latin typeface="Arial"/>
                <a:ea typeface="Arial"/>
                <a:cs typeface="Arial"/>
              </a:defRPr>
            </a:lvl7pPr>
            <a:lvl8pPr>
              <a:defRPr sz="1650" b="0">
                <a:solidFill>
                  <a:srgbClr val="536273"/>
                </a:solidFill>
                <a:latin typeface="Arial"/>
                <a:ea typeface="Arial"/>
                <a:cs typeface="Arial"/>
              </a:defRPr>
            </a:lvl8pPr>
            <a:lvl9pPr>
              <a:defRPr sz="1650" b="0">
                <a:solidFill>
                  <a:srgbClr val="536273"/>
                </a:solidFill>
                <a:latin typeface="Arial"/>
                <a:ea typeface="Arial"/>
                <a:cs typeface="Arial"/>
              </a:defRPr>
            </a:lvl9pPr>
          </a:lstStyle>
          <a:p xmlns:a="http://schemas.openxmlformats.org/drawingml/2006/main">
            <a:pPr>
              <a:defRPr sz="1650" b="0">
                <a:solidFill>
                  <a:srgbClr val="536273"/>
                </a:solidFill>
                <a:latin typeface="Arial"/>
                <a:ea typeface="Arial"/>
                <a:cs typeface="Arial"/>
              </a:defRPr>
            </a:pPr>
            <a:r>
              <a:rPr sz="1650" b="0">
                <a:solidFill>
                  <a:srgbClr val="536273"/>
                </a:solidFill>
                <a:latin typeface="Arial"/>
                <a:ea typeface="Arial"/>
                <a:cs typeface="Arial"/>
              </a:rPr>
              <a:t>Q1203: quality estimate    L: live delay    b: bitrate    T: accumulated stall time</a:t>
            </a:r>
          </a:p>
        </p:txBody>
      </p:sp>
    </p:spTree>
    <p:extLst>
      <p:ext uri="{BB962C8B-B14F-4D97-AF65-F5344CB8AC3E}">
        <p14:creationId xmlns:p14="http://schemas.microsoft.com/office/powerpoint/2010/main" val="14589405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C1E6F20-72E7-4E9B-B8F1-59DF33B27B57}"/>
              </a:ext>
            </a:extLst>
          </p:cNvPr>
          <p:cNvSpPr>
            <a:spLocks xmlns:a="http://schemas.openxmlformats.org/drawingml/2006/main" noGrp="1"/>
          </p:cNvSpPr>
          <p:nvPr/>
        </p:nvSpPr>
        <p:spPr>
          <a:xfrm xmlns:a="http://schemas.openxmlformats.org/drawingml/2006/main">
            <a:off x="609600" y="4095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42D4E"/>
                </a:solidFill>
                <a:latin typeface="Arial"/>
                <a:ea typeface="Arial"/>
                <a:cs typeface="Arial"/>
              </a:defRPr>
            </a:defPPr>
            <a:lvl1pPr>
              <a:defRPr sz="3300" b="1">
                <a:solidFill>
                  <a:srgbClr val="142D4E"/>
                </a:solidFill>
                <a:latin typeface="Arial"/>
                <a:ea typeface="Arial"/>
                <a:cs typeface="Arial"/>
              </a:defRPr>
            </a:lvl1pPr>
            <a:lvl2pPr>
              <a:defRPr sz="3300" b="1">
                <a:solidFill>
                  <a:srgbClr val="142D4E"/>
                </a:solidFill>
                <a:latin typeface="Arial"/>
                <a:ea typeface="Arial"/>
                <a:cs typeface="Arial"/>
              </a:defRPr>
            </a:lvl2pPr>
            <a:lvl3pPr>
              <a:defRPr sz="3300" b="1">
                <a:solidFill>
                  <a:srgbClr val="142D4E"/>
                </a:solidFill>
                <a:latin typeface="Arial"/>
                <a:ea typeface="Arial"/>
                <a:cs typeface="Arial"/>
              </a:defRPr>
            </a:lvl3pPr>
            <a:lvl4pPr>
              <a:defRPr sz="3300" b="1">
                <a:solidFill>
                  <a:srgbClr val="142D4E"/>
                </a:solidFill>
                <a:latin typeface="Arial"/>
                <a:ea typeface="Arial"/>
                <a:cs typeface="Arial"/>
              </a:defRPr>
            </a:lvl4pPr>
            <a:lvl5pPr>
              <a:defRPr sz="3300" b="1">
                <a:solidFill>
                  <a:srgbClr val="142D4E"/>
                </a:solidFill>
                <a:latin typeface="Arial"/>
                <a:ea typeface="Arial"/>
                <a:cs typeface="Arial"/>
              </a:defRPr>
            </a:lvl5pPr>
            <a:lvl6pPr>
              <a:defRPr sz="3300" b="1">
                <a:solidFill>
                  <a:srgbClr val="142D4E"/>
                </a:solidFill>
                <a:latin typeface="Arial"/>
                <a:ea typeface="Arial"/>
                <a:cs typeface="Arial"/>
              </a:defRPr>
            </a:lvl6pPr>
            <a:lvl7pPr>
              <a:defRPr sz="3300" b="1">
                <a:solidFill>
                  <a:srgbClr val="142D4E"/>
                </a:solidFill>
                <a:latin typeface="Arial"/>
                <a:ea typeface="Arial"/>
                <a:cs typeface="Arial"/>
              </a:defRPr>
            </a:lvl7pPr>
            <a:lvl8pPr>
              <a:defRPr sz="3300" b="1">
                <a:solidFill>
                  <a:srgbClr val="142D4E"/>
                </a:solidFill>
                <a:latin typeface="Arial"/>
                <a:ea typeface="Arial"/>
                <a:cs typeface="Arial"/>
              </a:defRPr>
            </a:lvl8pPr>
            <a:lvl9pPr>
              <a:defRPr sz="3300" b="1">
                <a:solidFill>
                  <a:srgbClr val="142D4E"/>
                </a:solidFill>
                <a:latin typeface="Arial"/>
                <a:ea typeface="Arial"/>
                <a:cs typeface="Arial"/>
              </a:defRPr>
            </a:lvl9pPr>
          </a:lstStyle>
          <a:p xmlns:a="http://schemas.openxmlformats.org/drawingml/2006/main">
            <a:pPr>
              <a:defRPr sz="3300" b="1">
                <a:solidFill>
                  <a:srgbClr val="142D4E"/>
                </a:solidFill>
                <a:latin typeface="Arial"/>
                <a:ea typeface="Arial"/>
                <a:cs typeface="Arial"/>
              </a:defRPr>
            </a:pPr>
            <a:r>
              <a:rPr sz="3300" b="1">
                <a:solidFill>
                  <a:srgbClr val="142D4E"/>
                </a:solidFill>
                <a:latin typeface="Arial"/>
                <a:ea typeface="Arial"/>
                <a:cs typeface="Arial"/>
              </a:rPr>
              <a:t>Testbed reproduction and build changes</a:t>
            </a:r>
          </a:p>
        </p:txBody>
      </p:sp>
      <p:sp>
        <p:nvSpPr>
          <p:cNvPr id="3" name="slide-number">
            <a:extLst xmlns:a="http://schemas.openxmlformats.org/drawingml/2006/main">
              <a:ext uri="{FF2B5EF4-FFF2-40B4-BE49-F238E27FC236}">
                <a16:creationId xmlns:a16="http://schemas.microsoft.com/office/drawing/2014/main" id="{8A498228-269C-4B21-849C-3152495323BE}"/>
              </a:ext>
            </a:extLst>
          </p:cNvPr>
          <p:cNvSpPr>
            <a:spLocks xmlns:a="http://schemas.openxmlformats.org/drawingml/2006/main" noGrp="1"/>
          </p:cNvSpPr>
          <p:nvPr/>
        </p:nvSpPr>
        <p:spPr>
          <a:xfrm xmlns:a="http://schemas.openxmlformats.org/drawingml/2006/main">
            <a:off x="11163300" y="64198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36273"/>
                </a:solidFill>
                <a:latin typeface="Arial"/>
                <a:ea typeface="Arial"/>
                <a:cs typeface="Arial"/>
              </a:defRPr>
            </a:defPPr>
            <a:lvl1pPr>
              <a:defRPr sz="1650" b="0">
                <a:solidFill>
                  <a:srgbClr val="536273"/>
                </a:solidFill>
                <a:latin typeface="Arial"/>
                <a:ea typeface="Arial"/>
                <a:cs typeface="Arial"/>
              </a:defRPr>
            </a:lvl1pPr>
            <a:lvl2pPr>
              <a:defRPr sz="1650" b="0">
                <a:solidFill>
                  <a:srgbClr val="536273"/>
                </a:solidFill>
                <a:latin typeface="Arial"/>
                <a:ea typeface="Arial"/>
                <a:cs typeface="Arial"/>
              </a:defRPr>
            </a:lvl2pPr>
            <a:lvl3pPr>
              <a:defRPr sz="1650" b="0">
                <a:solidFill>
                  <a:srgbClr val="536273"/>
                </a:solidFill>
                <a:latin typeface="Arial"/>
                <a:ea typeface="Arial"/>
                <a:cs typeface="Arial"/>
              </a:defRPr>
            </a:lvl3pPr>
            <a:lvl4pPr>
              <a:defRPr sz="1650" b="0">
                <a:solidFill>
                  <a:srgbClr val="536273"/>
                </a:solidFill>
                <a:latin typeface="Arial"/>
                <a:ea typeface="Arial"/>
                <a:cs typeface="Arial"/>
              </a:defRPr>
            </a:lvl4pPr>
            <a:lvl5pPr>
              <a:defRPr sz="1650" b="0">
                <a:solidFill>
                  <a:srgbClr val="536273"/>
                </a:solidFill>
                <a:latin typeface="Arial"/>
                <a:ea typeface="Arial"/>
                <a:cs typeface="Arial"/>
              </a:defRPr>
            </a:lvl5pPr>
            <a:lvl6pPr>
              <a:defRPr sz="1650" b="0">
                <a:solidFill>
                  <a:srgbClr val="536273"/>
                </a:solidFill>
                <a:latin typeface="Arial"/>
                <a:ea typeface="Arial"/>
                <a:cs typeface="Arial"/>
              </a:defRPr>
            </a:lvl6pPr>
            <a:lvl7pPr>
              <a:defRPr sz="1650" b="0">
                <a:solidFill>
                  <a:srgbClr val="536273"/>
                </a:solidFill>
                <a:latin typeface="Arial"/>
                <a:ea typeface="Arial"/>
                <a:cs typeface="Arial"/>
              </a:defRPr>
            </a:lvl7pPr>
            <a:lvl8pPr>
              <a:defRPr sz="1650" b="0">
                <a:solidFill>
                  <a:srgbClr val="536273"/>
                </a:solidFill>
                <a:latin typeface="Arial"/>
                <a:ea typeface="Arial"/>
                <a:cs typeface="Arial"/>
              </a:defRPr>
            </a:lvl8pPr>
            <a:lvl9pPr>
              <a:defRPr sz="1650" b="0">
                <a:solidFill>
                  <a:srgbClr val="536273"/>
                </a:solidFill>
                <a:latin typeface="Arial"/>
                <a:ea typeface="Arial"/>
                <a:cs typeface="Arial"/>
              </a:defRPr>
            </a:lvl9pPr>
          </a:lstStyle>
          <a:p xmlns:a="http://schemas.openxmlformats.org/drawingml/2006/main">
            <a:pPr>
              <a:defRPr sz="1650" b="0">
                <a:solidFill>
                  <a:srgbClr val="536273"/>
                </a:solidFill>
                <a:latin typeface="Arial"/>
                <a:ea typeface="Arial"/>
                <a:cs typeface="Arial"/>
              </a:defRPr>
            </a:pPr>
            <a:r>
              <a:rPr sz="1650" b="0">
                <a:solidFill>
                  <a:srgbClr val="536273"/>
                </a:solidFill>
                <a:latin typeface="Arial"/>
                <a:ea typeface="Arial"/>
                <a:cs typeface="Arial"/>
              </a:rPr>
              <a:t>03</a:t>
            </a:r>
          </a:p>
        </p:txBody>
      </p:sp>
      <p:sp>
        <p:nvSpPr>
          <p:cNvPr id="4" name="setup-summary">
            <a:extLst xmlns:a="http://schemas.openxmlformats.org/drawingml/2006/main">
              <a:ext uri="{FF2B5EF4-FFF2-40B4-BE49-F238E27FC236}">
                <a16:creationId xmlns:a16="http://schemas.microsoft.com/office/drawing/2014/main" id="{483726F7-E112-4D8C-A576-B03991816631}"/>
              </a:ext>
            </a:extLst>
          </p:cNvPr>
          <p:cNvSpPr>
            <a:spLocks xmlns:a="http://schemas.openxmlformats.org/drawingml/2006/main" noGrp="1"/>
          </p:cNvSpPr>
          <p:nvPr/>
        </p:nvSpPr>
        <p:spPr>
          <a:xfrm xmlns:a="http://schemas.openxmlformats.org/drawingml/2006/main">
            <a:off x="609600" y="1190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0B7A75"/>
                </a:solidFill>
                <a:latin typeface="Arial"/>
                <a:ea typeface="Arial"/>
                <a:cs typeface="Arial"/>
              </a:defRPr>
            </a:defPPr>
            <a:lvl1pPr>
              <a:defRPr sz="2250" b="1">
                <a:solidFill>
                  <a:srgbClr val="0B7A75"/>
                </a:solidFill>
                <a:latin typeface="Arial"/>
                <a:ea typeface="Arial"/>
                <a:cs typeface="Arial"/>
              </a:defRPr>
            </a:lvl1pPr>
            <a:lvl2pPr>
              <a:defRPr sz="2250" b="1">
                <a:solidFill>
                  <a:srgbClr val="0B7A75"/>
                </a:solidFill>
                <a:latin typeface="Arial"/>
                <a:ea typeface="Arial"/>
                <a:cs typeface="Arial"/>
              </a:defRPr>
            </a:lvl2pPr>
            <a:lvl3pPr>
              <a:defRPr sz="2250" b="1">
                <a:solidFill>
                  <a:srgbClr val="0B7A75"/>
                </a:solidFill>
                <a:latin typeface="Arial"/>
                <a:ea typeface="Arial"/>
                <a:cs typeface="Arial"/>
              </a:defRPr>
            </a:lvl3pPr>
            <a:lvl4pPr>
              <a:defRPr sz="2250" b="1">
                <a:solidFill>
                  <a:srgbClr val="0B7A75"/>
                </a:solidFill>
                <a:latin typeface="Arial"/>
                <a:ea typeface="Arial"/>
                <a:cs typeface="Arial"/>
              </a:defRPr>
            </a:lvl4pPr>
            <a:lvl5pPr>
              <a:defRPr sz="2250" b="1">
                <a:solidFill>
                  <a:srgbClr val="0B7A75"/>
                </a:solidFill>
                <a:latin typeface="Arial"/>
                <a:ea typeface="Arial"/>
                <a:cs typeface="Arial"/>
              </a:defRPr>
            </a:lvl5pPr>
            <a:lvl6pPr>
              <a:defRPr sz="2250" b="1">
                <a:solidFill>
                  <a:srgbClr val="0B7A75"/>
                </a:solidFill>
                <a:latin typeface="Arial"/>
                <a:ea typeface="Arial"/>
                <a:cs typeface="Arial"/>
              </a:defRPr>
            </a:lvl6pPr>
            <a:lvl7pPr>
              <a:defRPr sz="2250" b="1">
                <a:solidFill>
                  <a:srgbClr val="0B7A75"/>
                </a:solidFill>
                <a:latin typeface="Arial"/>
                <a:ea typeface="Arial"/>
                <a:cs typeface="Arial"/>
              </a:defRPr>
            </a:lvl7pPr>
            <a:lvl8pPr>
              <a:defRPr sz="2250" b="1">
                <a:solidFill>
                  <a:srgbClr val="0B7A75"/>
                </a:solidFill>
                <a:latin typeface="Arial"/>
                <a:ea typeface="Arial"/>
                <a:cs typeface="Arial"/>
              </a:defRPr>
            </a:lvl8pPr>
            <a:lvl9pPr>
              <a:defRPr sz="2250" b="1">
                <a:solidFill>
                  <a:srgbClr val="0B7A75"/>
                </a:solidFill>
                <a:latin typeface="Arial"/>
                <a:ea typeface="Arial"/>
                <a:cs typeface="Arial"/>
              </a:defRPr>
            </a:lvl9pPr>
          </a:lstStyle>
          <a:p xmlns:a="http://schemas.openxmlformats.org/drawingml/2006/main">
            <a:pPr>
              <a:defRPr sz="2250" b="1">
                <a:solidFill>
                  <a:srgbClr val="0B7A75"/>
                </a:solidFill>
                <a:latin typeface="Arial"/>
                <a:ea typeface="Arial"/>
                <a:cs typeface="Arial"/>
              </a:defRPr>
            </a:pPr>
            <a:r>
              <a:rPr sz="2250" b="1">
                <a:solidFill>
                  <a:srgbClr val="0B7A75"/>
                </a:solidFill>
                <a:latin typeface="Arial"/>
                <a:ea typeface="Arial"/>
                <a:cs typeface="Arial"/>
              </a:rPr>
              <a:t>Recursive submodules and pinned images make the setup repeatable</a:t>
            </a:r>
          </a:p>
        </p:txBody>
      </p:sp>
      <p:graphicFrame>
        <p:nvGraphicFramePr>
          <p:cNvPr id="5" name="">
            <a:extLst xmlns:a="http://schemas.openxmlformats.org/drawingml/2006/main">
              <a:ext uri="{FF2B5EF4-FFF2-40B4-BE49-F238E27FC236}">
                <a16:creationId xmlns:a16="http://schemas.microsoft.com/office/drawing/2014/main" id="{71418145-F0E9-489A-9321-1D945643D808}"/>
              </a:ext>
            </a:extLst>
          </p:cNvPr>
          <p:cNvGraphicFramePr/>
          <p:nvPr/>
        </p:nvGraphicFramePr>
        <p:xfrm>
          <a:off xmlns:a="http://schemas.openxmlformats.org/drawingml/2006/main" x="609600" y="2095500"/>
          <a:ext xmlns:a="http://schemas.openxmlformats.org/drawingml/2006/main" cx="10972800" cy="2857500"/>
        </p:xfrm>
        <a:graphic xmlns:a="http://schemas.openxmlformats.org/drawingml/2006/main">
          <a:graphicData uri="http://schemas.openxmlformats.org/drawingml/2006/table">
            <a:tbl>
              <a:tblPr firstRow="0" bandRow="0" bandCol="0"/>
              <a:tblGrid>
                <a:gridCol w="2095500"/>
                <a:gridCol w="4476750"/>
                <a:gridCol w="4400550"/>
              </a:tblGrid>
              <a:tr h="714375">
                <a:tc>
                  <a:txBody>
                    <a:bodyPr lIns="95250" tIns="95250" rIns="95250" bIns="95250"/>
                    <a:lstStyle/>
                    <a:p>
                      <a:r>
                        <a:rPr sz="1875" b="1">
                          <a:solidFill>
                            <a:srgbClr val="FFFFFF"/>
                          </a:solidFill>
                          <a:latin typeface="Arial"/>
                          <a:ea typeface="Arial"/>
                          <a:cs typeface="Arial"/>
                        </a:rPr>
                        <a:t>Layer</a:t>
                      </a:r>
                    </a:p>
                  </a:txBody>
                  <a:tcPr marL="91440" marR="91440" marT="45720" marB="45720">
                    <a:solidFill>
                      <a:srgbClr val="142D4E"/>
                    </a:solidFill>
                  </a:tcPr>
                </a:tc>
                <a:tc>
                  <a:txBody>
                    <a:bodyPr lIns="95250" tIns="95250" rIns="95250" bIns="95250"/>
                    <a:lstStyle/>
                    <a:p>
                      <a:r>
                        <a:rPr sz="1875" b="1">
                          <a:solidFill>
                            <a:srgbClr val="FFFFFF"/>
                          </a:solidFill>
                          <a:latin typeface="Arial"/>
                          <a:ea typeface="Arial"/>
                          <a:cs typeface="Arial"/>
                        </a:rPr>
                        <a:t>Main files</a:t>
                      </a:r>
                    </a:p>
                  </a:txBody>
                  <a:tcPr marL="91440" marR="91440" marT="45720" marB="45720">
                    <a:solidFill>
                      <a:srgbClr val="142D4E"/>
                    </a:solidFill>
                  </a:tcPr>
                </a:tc>
                <a:tc>
                  <a:txBody>
                    <a:bodyPr lIns="95250" tIns="95250" rIns="95250" bIns="95250"/>
                    <a:lstStyle/>
                    <a:p>
                      <a:r>
                        <a:rPr sz="1875" b="1">
                          <a:solidFill>
                            <a:srgbClr val="FFFFFF"/>
                          </a:solidFill>
                          <a:latin typeface="Arial"/>
                          <a:ea typeface="Arial"/>
                          <a:cs typeface="Arial"/>
                        </a:rPr>
                        <a:t>Implementation change</a:t>
                      </a:r>
                    </a:p>
                  </a:txBody>
                  <a:tcPr marL="91440" marR="91440" marT="45720" marB="45720">
                    <a:solidFill>
                      <a:srgbClr val="142D4E"/>
                    </a:solidFill>
                  </a:tcPr>
                </a:tc>
              </a:tr>
              <a:tr h="714375">
                <a:tc>
                  <a:txBody>
                    <a:bodyPr lIns="95250" tIns="95250" rIns="95250" bIns="95250"/>
                    <a:lstStyle/>
                    <a:p>
                      <a:r>
                        <a:rPr sz="1875" b="0">
                          <a:solidFill>
                            <a:srgbClr val="142D4E"/>
                          </a:solidFill>
                          <a:latin typeface="Arial"/>
                          <a:ea typeface="Arial"/>
                          <a:cs typeface="Arial"/>
                        </a:rPr>
                        <a:t>Player build</a:t>
                      </a:r>
                    </a:p>
                  </a:txBody>
                  <a:tcPr marL="91440" marR="91440" marT="45720" marB="45720">
                    <a:solidFill>
                      <a:srgbClr val="FFFFFF"/>
                    </a:solidFill>
                  </a:tcPr>
                </a:tc>
                <a:tc>
                  <a:txBody>
                    <a:bodyPr lIns="95250" tIns="95250" rIns="95250" bIns="95250"/>
                    <a:lstStyle/>
                    <a:p>
                      <a:r>
                        <a:rPr sz="1875" b="0">
                          <a:solidFill>
                            <a:srgbClr val="142D4E"/>
                          </a:solidFill>
                          <a:latin typeface="Arial"/>
                          <a:ea typeface="Arial"/>
                          <a:cs typeface="Arial"/>
                        </a:rPr>
                        <a:t>Dockerfile-player-anjan</a:t>
                      </a:r>
                    </a:p>
                  </a:txBody>
                  <a:tcPr marL="91440" marR="91440" marT="45720" marB="45720">
                    <a:solidFill>
                      <a:srgbClr val="FFFFFF"/>
                    </a:solidFill>
                  </a:tcPr>
                </a:tc>
                <a:tc>
                  <a:txBody>
                    <a:bodyPr lIns="95250" tIns="95250" rIns="95250" bIns="95250"/>
                    <a:lstStyle/>
                    <a:p>
                      <a:r>
                        <a:rPr sz="1875" b="0">
                          <a:solidFill>
                            <a:srgbClr val="142D4E"/>
                          </a:solidFill>
                          <a:latin typeface="Arial"/>
                          <a:ea typeface="Arial"/>
                          <a:cs typeface="Arial"/>
                        </a:rPr>
                        <a:t>Build our edited local player</a:t>
                      </a:r>
                    </a:p>
                  </a:txBody>
                  <a:tcPr marL="91440" marR="91440" marT="45720" marB="45720">
                    <a:solidFill>
                      <a:srgbClr val="FFFFFF"/>
                    </a:solidFill>
                  </a:tcPr>
                </a:tc>
              </a:tr>
              <a:tr h="714375">
                <a:tc>
                  <a:txBody>
                    <a:bodyPr lIns="95250" tIns="95250" rIns="95250" bIns="95250"/>
                    <a:lstStyle/>
                    <a:p>
                      <a:r>
                        <a:rPr sz="1875" b="0">
                          <a:solidFill>
                            <a:srgbClr val="142D4E"/>
                          </a:solidFill>
                          <a:latin typeface="Arial"/>
                          <a:ea typeface="Arial"/>
                          <a:cs typeface="Arial"/>
                        </a:rPr>
                        <a:t>Container wiring</a:t>
                      </a:r>
                    </a:p>
                  </a:txBody>
                  <a:tcPr marL="91440" marR="91440" marT="45720" marB="45720">
                    <a:solidFill>
                      <a:srgbClr val="FFFFFF"/>
                    </a:solidFill>
                  </a:tcPr>
                </a:tc>
                <a:tc>
                  <a:txBody>
                    <a:bodyPr lIns="95250" tIns="95250" rIns="95250" bIns="95250"/>
                    <a:lstStyle/>
                    <a:p>
                      <a:r>
                        <a:rPr sz="1875" b="0">
                          <a:solidFill>
                            <a:srgbClr val="142D4E"/>
                          </a:solidFill>
                          <a:latin typeface="Arial"/>
                          <a:ea typeface="Arial"/>
                          <a:cs typeface="Arial"/>
                        </a:rPr>
                        <a:t>docker-compose.player.yaml</a:t>
                      </a:r>
                    </a:p>
                    <a:p>
                      <a:r>
                        <a:rPr sz="1875" b="0">
                          <a:solidFill>
                            <a:srgbClr val="142D4E"/>
                          </a:solidFill>
                          <a:latin typeface="Arial"/>
                          <a:ea typeface="Arial"/>
                          <a:cs typeface="Arial"/>
                        </a:rPr>
                        <a:t>docker-compose.phase-a.yaml</a:t>
                      </a:r>
                    </a:p>
                  </a:txBody>
                  <a:tcPr marL="91440" marR="91440" marT="45720" marB="45720">
                    <a:solidFill>
                      <a:srgbClr val="FFFFFF"/>
                    </a:solidFill>
                  </a:tcPr>
                </a:tc>
                <a:tc>
                  <a:txBody>
                    <a:bodyPr lIns="95250" tIns="95250" rIns="95250" bIns="95250"/>
                    <a:lstStyle/>
                    <a:p>
                      <a:r>
                        <a:rPr sz="1875" b="0">
                          <a:solidFill>
                            <a:srgbClr val="142D4E"/>
                          </a:solidFill>
                          <a:latin typeface="Arial"/>
                          <a:ea typeface="Arial"/>
                          <a:cs typeface="Arial"/>
                        </a:rPr>
                        <a:t>Select custom image and</a:t>
                      </a:r>
                    </a:p>
                    <a:p>
                      <a:r>
                        <a:rPr sz="1875" b="0">
                          <a:solidFill>
                            <a:srgbClr val="142D4E"/>
                          </a:solidFill>
                          <a:latin typeface="Arial"/>
                          <a:ea typeface="Arial"/>
                          <a:cs typeface="Arial"/>
                        </a:rPr>
                        <a:t>shared shaper override</a:t>
                      </a:r>
                    </a:p>
                  </a:txBody>
                  <a:tcPr marL="91440" marR="91440" marT="45720" marB="45720">
                    <a:solidFill>
                      <a:srgbClr val="FFFFFF"/>
                    </a:solidFill>
                  </a:tcPr>
                </a:tc>
              </a:tr>
              <a:tr h="714375">
                <a:tc>
                  <a:txBody>
                    <a:bodyPr lIns="95250" tIns="95250" rIns="95250" bIns="95250"/>
                    <a:lstStyle/>
                    <a:p>
                      <a:r>
                        <a:rPr sz="1875" b="0">
                          <a:solidFill>
                            <a:srgbClr val="142D4E"/>
                          </a:solidFill>
                          <a:latin typeface="Arial"/>
                          <a:ea typeface="Arial"/>
                          <a:cs typeface="Arial"/>
                        </a:rPr>
                        <a:t>Network replay</a:t>
                      </a:r>
                    </a:p>
                  </a:txBody>
                  <a:tcPr marL="91440" marR="91440" marT="45720" marB="45720">
                    <a:solidFill>
                      <a:srgbClr val="FFFFFF"/>
                    </a:solidFill>
                  </a:tcPr>
                </a:tc>
                <a:tc>
                  <a:txBody>
                    <a:bodyPr lIns="95250" tIns="95250" rIns="95250" bIns="95250"/>
                    <a:lstStyle/>
                    <a:p>
                      <a:r>
                        <a:rPr sz="1875" b="0">
                          <a:solidFill>
                            <a:srgbClr val="142D4E"/>
                          </a:solidFill>
                          <a:latin typeface="Arial"/>
                          <a:ea typeface="Arial"/>
                          <a:cs typeface="Arial"/>
                        </a:rPr>
                        <a:t>shaper/tc-phase-a.py</a:t>
                      </a:r>
                    </a:p>
                  </a:txBody>
                  <a:tcPr marL="91440" marR="91440" marT="45720" marB="45720">
                    <a:solidFill>
                      <a:srgbClr val="FFFFFF"/>
                    </a:solidFill>
                  </a:tcPr>
                </a:tc>
                <a:tc>
                  <a:txBody>
                    <a:bodyPr lIns="95250" tIns="95250" rIns="95250" bIns="95250"/>
                    <a:lstStyle/>
                    <a:p>
                      <a:r>
                        <a:rPr sz="1875" b="0">
                          <a:solidFill>
                            <a:srgbClr val="142D4E"/>
                          </a:solidFill>
                          <a:latin typeface="Arial"/>
                          <a:ea typeface="Arial"/>
                          <a:cs typeface="Arial"/>
                        </a:rPr>
                        <a:t>Create valid HTB root/class</a:t>
                      </a:r>
                    </a:p>
                    <a:p>
                      <a:r>
                        <a:rPr sz="1875" b="0">
                          <a:solidFill>
                            <a:srgbClr val="142D4E"/>
                          </a:solidFill>
                          <a:latin typeface="Arial"/>
                          <a:ea typeface="Arial"/>
                          <a:cs typeface="Arial"/>
                        </a:rPr>
                        <a:t>and replay the trace</a:t>
                      </a:r>
                    </a:p>
                  </a:txBody>
                  <a:tcPr marL="91440" marR="91440" marT="45720" marB="45720">
                    <a:solidFill>
                      <a:srgbClr val="FFFFFF"/>
                    </a:solidFill>
                  </a:tcPr>
                </a:tc>
              </a:tr>
            </a:tbl>
          </a:graphicData>
        </a:graphic>
      </p:graphicFrame>
      <p:sp>
        <p:nvSpPr>
          <p:cNvPr id="6" name="evidence-archived">
            <a:extLst xmlns:a="http://schemas.openxmlformats.org/drawingml/2006/main">
              <a:ext uri="{FF2B5EF4-FFF2-40B4-BE49-F238E27FC236}">
                <a16:creationId xmlns:a16="http://schemas.microsoft.com/office/drawing/2014/main" id="{85518DE9-ACDE-455E-B870-82AD8AAC8273}"/>
              </a:ext>
            </a:extLst>
          </p:cNvPr>
          <p:cNvSpPr>
            <a:spLocks xmlns:a="http://schemas.openxmlformats.org/drawingml/2006/main" noGrp="1"/>
          </p:cNvSpPr>
          <p:nvPr/>
        </p:nvSpPr>
        <p:spPr>
          <a:xfrm xmlns:a="http://schemas.openxmlformats.org/drawingml/2006/main">
            <a:off x="609600" y="53530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B7A75"/>
                </a:solidFill>
                <a:latin typeface="Arial"/>
                <a:ea typeface="Arial"/>
                <a:cs typeface="Arial"/>
              </a:defRPr>
            </a:defPPr>
            <a:lvl1pPr>
              <a:defRPr sz="2550" b="1">
                <a:solidFill>
                  <a:srgbClr val="0B7A75"/>
                </a:solidFill>
                <a:latin typeface="Arial"/>
                <a:ea typeface="Arial"/>
                <a:cs typeface="Arial"/>
              </a:defRPr>
            </a:lvl1pPr>
            <a:lvl2pPr>
              <a:defRPr sz="2550" b="1">
                <a:solidFill>
                  <a:srgbClr val="0B7A75"/>
                </a:solidFill>
                <a:latin typeface="Arial"/>
                <a:ea typeface="Arial"/>
                <a:cs typeface="Arial"/>
              </a:defRPr>
            </a:lvl2pPr>
            <a:lvl3pPr>
              <a:defRPr sz="2550" b="1">
                <a:solidFill>
                  <a:srgbClr val="0B7A75"/>
                </a:solidFill>
                <a:latin typeface="Arial"/>
                <a:ea typeface="Arial"/>
                <a:cs typeface="Arial"/>
              </a:defRPr>
            </a:lvl3pPr>
            <a:lvl4pPr>
              <a:defRPr sz="2550" b="1">
                <a:solidFill>
                  <a:srgbClr val="0B7A75"/>
                </a:solidFill>
                <a:latin typeface="Arial"/>
                <a:ea typeface="Arial"/>
                <a:cs typeface="Arial"/>
              </a:defRPr>
            </a:lvl4pPr>
            <a:lvl5pPr>
              <a:defRPr sz="2550" b="1">
                <a:solidFill>
                  <a:srgbClr val="0B7A75"/>
                </a:solidFill>
                <a:latin typeface="Arial"/>
                <a:ea typeface="Arial"/>
                <a:cs typeface="Arial"/>
              </a:defRPr>
            </a:lvl5pPr>
            <a:lvl6pPr>
              <a:defRPr sz="2550" b="1">
                <a:solidFill>
                  <a:srgbClr val="0B7A75"/>
                </a:solidFill>
                <a:latin typeface="Arial"/>
                <a:ea typeface="Arial"/>
                <a:cs typeface="Arial"/>
              </a:defRPr>
            </a:lvl6pPr>
            <a:lvl7pPr>
              <a:defRPr sz="2550" b="1">
                <a:solidFill>
                  <a:srgbClr val="0B7A75"/>
                </a:solidFill>
                <a:latin typeface="Arial"/>
                <a:ea typeface="Arial"/>
                <a:cs typeface="Arial"/>
              </a:defRPr>
            </a:lvl7pPr>
            <a:lvl8pPr>
              <a:defRPr sz="2550" b="1">
                <a:solidFill>
                  <a:srgbClr val="0B7A75"/>
                </a:solidFill>
                <a:latin typeface="Arial"/>
                <a:ea typeface="Arial"/>
                <a:cs typeface="Arial"/>
              </a:defRPr>
            </a:lvl8pPr>
            <a:lvl9pPr>
              <a:defRPr sz="2550" b="1">
                <a:solidFill>
                  <a:srgbClr val="0B7A75"/>
                </a:solidFill>
                <a:latin typeface="Arial"/>
                <a:ea typeface="Arial"/>
                <a:cs typeface="Arial"/>
              </a:defRPr>
            </a:lvl9pPr>
          </a:lstStyle>
          <a:p xmlns:a="http://schemas.openxmlformats.org/drawingml/2006/main">
            <a:pPr>
              <a:defRPr sz="2550" b="1">
                <a:solidFill>
                  <a:srgbClr val="0B7A75"/>
                </a:solidFill>
                <a:latin typeface="Arial"/>
                <a:ea typeface="Arial"/>
                <a:cs typeface="Arial"/>
              </a:defRPr>
            </a:pPr>
            <a:r>
              <a:rPr sz="2550" b="1">
                <a:solidFill>
                  <a:srgbClr val="0B7A75"/>
                </a:solidFill>
                <a:latin typeface="Arial"/>
                <a:ea typeface="Arial"/>
                <a:cs typeface="Arial"/>
              </a:rPr>
              <a:t>25 archived figures</a:t>
            </a:r>
          </a:p>
        </p:txBody>
      </p:sp>
      <p:sp>
        <p:nvSpPr>
          <p:cNvPr id="7" name="evidence-fresh">
            <a:extLst xmlns:a="http://schemas.openxmlformats.org/drawingml/2006/main">
              <a:ext uri="{FF2B5EF4-FFF2-40B4-BE49-F238E27FC236}">
                <a16:creationId xmlns:a16="http://schemas.microsoft.com/office/drawing/2014/main" id="{F7C832AB-10D1-42E1-9B8B-742C71546992}"/>
              </a:ext>
            </a:extLst>
          </p:cNvPr>
          <p:cNvSpPr>
            <a:spLocks xmlns:a="http://schemas.openxmlformats.org/drawingml/2006/main" noGrp="1"/>
          </p:cNvSpPr>
          <p:nvPr/>
        </p:nvSpPr>
        <p:spPr>
          <a:xfrm xmlns:a="http://schemas.openxmlformats.org/drawingml/2006/main">
            <a:off x="6286500" y="5353050"/>
            <a:ext cx="5286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B7A75"/>
                </a:solidFill>
                <a:latin typeface="Arial"/>
                <a:ea typeface="Arial"/>
                <a:cs typeface="Arial"/>
              </a:defRPr>
            </a:defPPr>
            <a:lvl1pPr>
              <a:defRPr sz="2550" b="1">
                <a:solidFill>
                  <a:srgbClr val="0B7A75"/>
                </a:solidFill>
                <a:latin typeface="Arial"/>
                <a:ea typeface="Arial"/>
                <a:cs typeface="Arial"/>
              </a:defRPr>
            </a:lvl1pPr>
            <a:lvl2pPr>
              <a:defRPr sz="2550" b="1">
                <a:solidFill>
                  <a:srgbClr val="0B7A75"/>
                </a:solidFill>
                <a:latin typeface="Arial"/>
                <a:ea typeface="Arial"/>
                <a:cs typeface="Arial"/>
              </a:defRPr>
            </a:lvl2pPr>
            <a:lvl3pPr>
              <a:defRPr sz="2550" b="1">
                <a:solidFill>
                  <a:srgbClr val="0B7A75"/>
                </a:solidFill>
                <a:latin typeface="Arial"/>
                <a:ea typeface="Arial"/>
                <a:cs typeface="Arial"/>
              </a:defRPr>
            </a:lvl3pPr>
            <a:lvl4pPr>
              <a:defRPr sz="2550" b="1">
                <a:solidFill>
                  <a:srgbClr val="0B7A75"/>
                </a:solidFill>
                <a:latin typeface="Arial"/>
                <a:ea typeface="Arial"/>
                <a:cs typeface="Arial"/>
              </a:defRPr>
            </a:lvl4pPr>
            <a:lvl5pPr>
              <a:defRPr sz="2550" b="1">
                <a:solidFill>
                  <a:srgbClr val="0B7A75"/>
                </a:solidFill>
                <a:latin typeface="Arial"/>
                <a:ea typeface="Arial"/>
                <a:cs typeface="Arial"/>
              </a:defRPr>
            </a:lvl5pPr>
            <a:lvl6pPr>
              <a:defRPr sz="2550" b="1">
                <a:solidFill>
                  <a:srgbClr val="0B7A75"/>
                </a:solidFill>
                <a:latin typeface="Arial"/>
                <a:ea typeface="Arial"/>
                <a:cs typeface="Arial"/>
              </a:defRPr>
            </a:lvl6pPr>
            <a:lvl7pPr>
              <a:defRPr sz="2550" b="1">
                <a:solidFill>
                  <a:srgbClr val="0B7A75"/>
                </a:solidFill>
                <a:latin typeface="Arial"/>
                <a:ea typeface="Arial"/>
                <a:cs typeface="Arial"/>
              </a:defRPr>
            </a:lvl7pPr>
            <a:lvl8pPr>
              <a:defRPr sz="2550" b="1">
                <a:solidFill>
                  <a:srgbClr val="0B7A75"/>
                </a:solidFill>
                <a:latin typeface="Arial"/>
                <a:ea typeface="Arial"/>
                <a:cs typeface="Arial"/>
              </a:defRPr>
            </a:lvl8pPr>
            <a:lvl9pPr>
              <a:defRPr sz="2550" b="1">
                <a:solidFill>
                  <a:srgbClr val="0B7A75"/>
                </a:solidFill>
                <a:latin typeface="Arial"/>
                <a:ea typeface="Arial"/>
                <a:cs typeface="Arial"/>
              </a:defRPr>
            </a:lvl9pPr>
          </a:lstStyle>
          <a:p xmlns:a="http://schemas.openxmlformats.org/drawingml/2006/main">
            <a:pPr>
              <a:defRPr sz="2550" b="1">
                <a:solidFill>
                  <a:srgbClr val="0B7A75"/>
                </a:solidFill>
                <a:latin typeface="Arial"/>
                <a:ea typeface="Arial"/>
                <a:cs typeface="Arial"/>
              </a:defRPr>
            </a:pPr>
            <a:r>
              <a:rPr sz="2550" b="1">
                <a:solidFill>
                  <a:srgbClr val="0B7A75"/>
                </a:solidFill>
                <a:latin typeface="Arial"/>
                <a:ea typeface="Arial"/>
                <a:cs typeface="Arial"/>
              </a:rPr>
              <a:t>4 fresh controller checks</a:t>
            </a:r>
          </a:p>
        </p:txBody>
      </p:sp>
      <p:sp>
        <p:nvSpPr>
          <p:cNvPr id="8" name="evidence-archived-caption">
            <a:extLst xmlns:a="http://schemas.openxmlformats.org/drawingml/2006/main">
              <a:ext uri="{FF2B5EF4-FFF2-40B4-BE49-F238E27FC236}">
                <a16:creationId xmlns:a16="http://schemas.microsoft.com/office/drawing/2014/main" id="{05FC43A7-BC0F-46D1-BA50-DFC3712FC521}"/>
              </a:ext>
            </a:extLst>
          </p:cNvPr>
          <p:cNvSpPr>
            <a:spLocks xmlns:a="http://schemas.openxmlformats.org/drawingml/2006/main" noGrp="1"/>
          </p:cNvSpPr>
          <p:nvPr/>
        </p:nvSpPr>
        <p:spPr>
          <a:xfrm xmlns:a="http://schemas.openxmlformats.org/drawingml/2006/main">
            <a:off x="609600" y="58102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36273"/>
                </a:solidFill>
                <a:latin typeface="Arial"/>
                <a:ea typeface="Arial"/>
                <a:cs typeface="Arial"/>
              </a:defRPr>
            </a:defPPr>
            <a:lvl1pPr>
              <a:defRPr sz="1875" b="0">
                <a:solidFill>
                  <a:srgbClr val="536273"/>
                </a:solidFill>
                <a:latin typeface="Arial"/>
                <a:ea typeface="Arial"/>
                <a:cs typeface="Arial"/>
              </a:defRPr>
            </a:lvl1pPr>
            <a:lvl2pPr>
              <a:defRPr sz="1875" b="0">
                <a:solidFill>
                  <a:srgbClr val="536273"/>
                </a:solidFill>
                <a:latin typeface="Arial"/>
                <a:ea typeface="Arial"/>
                <a:cs typeface="Arial"/>
              </a:defRPr>
            </a:lvl2pPr>
            <a:lvl3pPr>
              <a:defRPr sz="1875" b="0">
                <a:solidFill>
                  <a:srgbClr val="536273"/>
                </a:solidFill>
                <a:latin typeface="Arial"/>
                <a:ea typeface="Arial"/>
                <a:cs typeface="Arial"/>
              </a:defRPr>
            </a:lvl3pPr>
            <a:lvl4pPr>
              <a:defRPr sz="1875" b="0">
                <a:solidFill>
                  <a:srgbClr val="536273"/>
                </a:solidFill>
                <a:latin typeface="Arial"/>
                <a:ea typeface="Arial"/>
                <a:cs typeface="Arial"/>
              </a:defRPr>
            </a:lvl4pPr>
            <a:lvl5pPr>
              <a:defRPr sz="1875" b="0">
                <a:solidFill>
                  <a:srgbClr val="536273"/>
                </a:solidFill>
                <a:latin typeface="Arial"/>
                <a:ea typeface="Arial"/>
                <a:cs typeface="Arial"/>
              </a:defRPr>
            </a:lvl5pPr>
            <a:lvl6pPr>
              <a:defRPr sz="1875" b="0">
                <a:solidFill>
                  <a:srgbClr val="536273"/>
                </a:solidFill>
                <a:latin typeface="Arial"/>
                <a:ea typeface="Arial"/>
                <a:cs typeface="Arial"/>
              </a:defRPr>
            </a:lvl6pPr>
            <a:lvl7pPr>
              <a:defRPr sz="1875" b="0">
                <a:solidFill>
                  <a:srgbClr val="536273"/>
                </a:solidFill>
                <a:latin typeface="Arial"/>
                <a:ea typeface="Arial"/>
                <a:cs typeface="Arial"/>
              </a:defRPr>
            </a:lvl7pPr>
            <a:lvl8pPr>
              <a:defRPr sz="1875" b="0">
                <a:solidFill>
                  <a:srgbClr val="536273"/>
                </a:solidFill>
                <a:latin typeface="Arial"/>
                <a:ea typeface="Arial"/>
                <a:cs typeface="Arial"/>
              </a:defRPr>
            </a:lvl8pPr>
            <a:lvl9pPr>
              <a:defRPr sz="1875" b="0">
                <a:solidFill>
                  <a:srgbClr val="536273"/>
                </a:solidFill>
                <a:latin typeface="Arial"/>
                <a:ea typeface="Arial"/>
                <a:cs typeface="Arial"/>
              </a:defRPr>
            </a:lvl9pPr>
          </a:lstStyle>
          <a:p xmlns:a="http://schemas.openxmlformats.org/drawingml/2006/main">
            <a:pPr>
              <a:defRPr sz="1875" b="0">
                <a:solidFill>
                  <a:srgbClr val="536273"/>
                </a:solidFill>
                <a:latin typeface="Arial"/>
                <a:ea typeface="Arial"/>
                <a:cs typeface="Arial"/>
              </a:defRPr>
            </a:pPr>
            <a:r>
              <a:rPr sz="1875" b="0">
                <a:solidFill>
                  <a:srgbClr val="536273"/>
                </a:solidFill>
                <a:latin typeface="Arial"/>
                <a:ea typeface="Arial"/>
                <a:cs typeface="Arial"/>
              </a:rPr>
              <a:t>Original analysis pipeline reproduced</a:t>
            </a:r>
          </a:p>
        </p:txBody>
      </p:sp>
      <p:sp>
        <p:nvSpPr>
          <p:cNvPr id="9" name="evidence-fresh-caption">
            <a:extLst xmlns:a="http://schemas.openxmlformats.org/drawingml/2006/main">
              <a:ext uri="{FF2B5EF4-FFF2-40B4-BE49-F238E27FC236}">
                <a16:creationId xmlns:a16="http://schemas.microsoft.com/office/drawing/2014/main" id="{C9908B6C-7B2B-4CEE-81F4-87EF01567112}"/>
              </a:ext>
            </a:extLst>
          </p:cNvPr>
          <p:cNvSpPr>
            <a:spLocks xmlns:a="http://schemas.openxmlformats.org/drawingml/2006/main" noGrp="1"/>
          </p:cNvSpPr>
          <p:nvPr/>
        </p:nvSpPr>
        <p:spPr>
          <a:xfrm xmlns:a="http://schemas.openxmlformats.org/drawingml/2006/main">
            <a:off x="6286500" y="5810250"/>
            <a:ext cx="528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36273"/>
                </a:solidFill>
                <a:latin typeface="Arial"/>
                <a:ea typeface="Arial"/>
                <a:cs typeface="Arial"/>
              </a:defRPr>
            </a:defPPr>
            <a:lvl1pPr>
              <a:defRPr sz="1875" b="0">
                <a:solidFill>
                  <a:srgbClr val="536273"/>
                </a:solidFill>
                <a:latin typeface="Arial"/>
                <a:ea typeface="Arial"/>
                <a:cs typeface="Arial"/>
              </a:defRPr>
            </a:lvl1pPr>
            <a:lvl2pPr>
              <a:defRPr sz="1875" b="0">
                <a:solidFill>
                  <a:srgbClr val="536273"/>
                </a:solidFill>
                <a:latin typeface="Arial"/>
                <a:ea typeface="Arial"/>
                <a:cs typeface="Arial"/>
              </a:defRPr>
            </a:lvl2pPr>
            <a:lvl3pPr>
              <a:defRPr sz="1875" b="0">
                <a:solidFill>
                  <a:srgbClr val="536273"/>
                </a:solidFill>
                <a:latin typeface="Arial"/>
                <a:ea typeface="Arial"/>
                <a:cs typeface="Arial"/>
              </a:defRPr>
            </a:lvl3pPr>
            <a:lvl4pPr>
              <a:defRPr sz="1875" b="0">
                <a:solidFill>
                  <a:srgbClr val="536273"/>
                </a:solidFill>
                <a:latin typeface="Arial"/>
                <a:ea typeface="Arial"/>
                <a:cs typeface="Arial"/>
              </a:defRPr>
            </a:lvl4pPr>
            <a:lvl5pPr>
              <a:defRPr sz="1875" b="0">
                <a:solidFill>
                  <a:srgbClr val="536273"/>
                </a:solidFill>
                <a:latin typeface="Arial"/>
                <a:ea typeface="Arial"/>
                <a:cs typeface="Arial"/>
              </a:defRPr>
            </a:lvl5pPr>
            <a:lvl6pPr>
              <a:defRPr sz="1875" b="0">
                <a:solidFill>
                  <a:srgbClr val="536273"/>
                </a:solidFill>
                <a:latin typeface="Arial"/>
                <a:ea typeface="Arial"/>
                <a:cs typeface="Arial"/>
              </a:defRPr>
            </a:lvl6pPr>
            <a:lvl7pPr>
              <a:defRPr sz="1875" b="0">
                <a:solidFill>
                  <a:srgbClr val="536273"/>
                </a:solidFill>
                <a:latin typeface="Arial"/>
                <a:ea typeface="Arial"/>
                <a:cs typeface="Arial"/>
              </a:defRPr>
            </a:lvl7pPr>
            <a:lvl8pPr>
              <a:defRPr sz="1875" b="0">
                <a:solidFill>
                  <a:srgbClr val="536273"/>
                </a:solidFill>
                <a:latin typeface="Arial"/>
                <a:ea typeface="Arial"/>
                <a:cs typeface="Arial"/>
              </a:defRPr>
            </a:lvl8pPr>
            <a:lvl9pPr>
              <a:defRPr sz="1875" b="0">
                <a:solidFill>
                  <a:srgbClr val="536273"/>
                </a:solidFill>
                <a:latin typeface="Arial"/>
                <a:ea typeface="Arial"/>
                <a:cs typeface="Arial"/>
              </a:defRPr>
            </a:lvl9pPr>
          </a:lstStyle>
          <a:p xmlns:a="http://schemas.openxmlformats.org/drawingml/2006/main">
            <a:pPr>
              <a:defRPr sz="1875" b="0">
                <a:solidFill>
                  <a:srgbClr val="536273"/>
                </a:solidFill>
                <a:latin typeface="Arial"/>
                <a:ea typeface="Arial"/>
                <a:cs typeface="Arial"/>
              </a:defRPr>
            </a:pPr>
            <a:r>
              <a:rPr sz="1875" b="0">
                <a:solidFill>
                  <a:srgbClr val="536273"/>
                </a:solidFill>
                <a:latin typeface="Arial"/>
                <a:ea typeface="Arial"/>
                <a:cs typeface="Arial"/>
              </a:rPr>
              <a:t>CMAB, Dynamic, L2A-LL and LoL+</a:t>
            </a:r>
          </a:p>
        </p:txBody>
      </p:sp>
    </p:spTree>
    <p:extLst>
      <p:ext uri="{BB962C8B-B14F-4D97-AF65-F5344CB8AC3E}">
        <p14:creationId xmlns:p14="http://schemas.microsoft.com/office/powerpoint/2010/main" val="16136229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D94D8932-CCDD-4265-8C76-9A8405FE5BE8}"/>
              </a:ext>
            </a:extLst>
          </p:cNvPr>
          <p:cNvSpPr>
            <a:spLocks xmlns:a="http://schemas.openxmlformats.org/drawingml/2006/main" noGrp="1"/>
          </p:cNvSpPr>
          <p:nvPr/>
        </p:nvSpPr>
        <p:spPr>
          <a:xfrm xmlns:a="http://schemas.openxmlformats.org/drawingml/2006/main">
            <a:off x="609600" y="4095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42D4E"/>
                </a:solidFill>
                <a:latin typeface="Arial"/>
                <a:ea typeface="Arial"/>
                <a:cs typeface="Arial"/>
              </a:defRPr>
            </a:defPPr>
            <a:lvl1pPr>
              <a:defRPr sz="3300" b="1">
                <a:solidFill>
                  <a:srgbClr val="142D4E"/>
                </a:solidFill>
                <a:latin typeface="Arial"/>
                <a:ea typeface="Arial"/>
                <a:cs typeface="Arial"/>
              </a:defRPr>
            </a:lvl1pPr>
            <a:lvl2pPr>
              <a:defRPr sz="3300" b="1">
                <a:solidFill>
                  <a:srgbClr val="142D4E"/>
                </a:solidFill>
                <a:latin typeface="Arial"/>
                <a:ea typeface="Arial"/>
                <a:cs typeface="Arial"/>
              </a:defRPr>
            </a:lvl2pPr>
            <a:lvl3pPr>
              <a:defRPr sz="3300" b="1">
                <a:solidFill>
                  <a:srgbClr val="142D4E"/>
                </a:solidFill>
                <a:latin typeface="Arial"/>
                <a:ea typeface="Arial"/>
                <a:cs typeface="Arial"/>
              </a:defRPr>
            </a:lvl3pPr>
            <a:lvl4pPr>
              <a:defRPr sz="3300" b="1">
                <a:solidFill>
                  <a:srgbClr val="142D4E"/>
                </a:solidFill>
                <a:latin typeface="Arial"/>
                <a:ea typeface="Arial"/>
                <a:cs typeface="Arial"/>
              </a:defRPr>
            </a:lvl4pPr>
            <a:lvl5pPr>
              <a:defRPr sz="3300" b="1">
                <a:solidFill>
                  <a:srgbClr val="142D4E"/>
                </a:solidFill>
                <a:latin typeface="Arial"/>
                <a:ea typeface="Arial"/>
                <a:cs typeface="Arial"/>
              </a:defRPr>
            </a:lvl5pPr>
            <a:lvl6pPr>
              <a:defRPr sz="3300" b="1">
                <a:solidFill>
                  <a:srgbClr val="142D4E"/>
                </a:solidFill>
                <a:latin typeface="Arial"/>
                <a:ea typeface="Arial"/>
                <a:cs typeface="Arial"/>
              </a:defRPr>
            </a:lvl6pPr>
            <a:lvl7pPr>
              <a:defRPr sz="3300" b="1">
                <a:solidFill>
                  <a:srgbClr val="142D4E"/>
                </a:solidFill>
                <a:latin typeface="Arial"/>
                <a:ea typeface="Arial"/>
                <a:cs typeface="Arial"/>
              </a:defRPr>
            </a:lvl7pPr>
            <a:lvl8pPr>
              <a:defRPr sz="3300" b="1">
                <a:solidFill>
                  <a:srgbClr val="142D4E"/>
                </a:solidFill>
                <a:latin typeface="Arial"/>
                <a:ea typeface="Arial"/>
                <a:cs typeface="Arial"/>
              </a:defRPr>
            </a:lvl8pPr>
            <a:lvl9pPr>
              <a:defRPr sz="3300" b="1">
                <a:solidFill>
                  <a:srgbClr val="142D4E"/>
                </a:solidFill>
                <a:latin typeface="Arial"/>
                <a:ea typeface="Arial"/>
                <a:cs typeface="Arial"/>
              </a:defRPr>
            </a:lvl9pPr>
          </a:lstStyle>
          <a:p xmlns:a="http://schemas.openxmlformats.org/drawingml/2006/main">
            <a:pPr>
              <a:defRPr sz="3300" b="1">
                <a:solidFill>
                  <a:srgbClr val="142D4E"/>
                </a:solidFill>
                <a:latin typeface="Arial"/>
                <a:ea typeface="Arial"/>
                <a:cs typeface="Arial"/>
              </a:defRPr>
            </a:pPr>
            <a:r>
              <a:rPr sz="3300" b="1">
                <a:solidFill>
                  <a:srgbClr val="142D4E"/>
                </a:solidFill>
                <a:latin typeface="Arial"/>
                <a:ea typeface="Arial"/>
                <a:cs typeface="Arial"/>
              </a:rPr>
              <a:t>Custom policy: real data, real video requests</a:t>
            </a:r>
          </a:p>
        </p:txBody>
      </p:sp>
      <p:sp>
        <p:nvSpPr>
          <p:cNvPr id="3" name="slide-number">
            <a:extLst xmlns:a="http://schemas.openxmlformats.org/drawingml/2006/main">
              <a:ext uri="{FF2B5EF4-FFF2-40B4-BE49-F238E27FC236}">
                <a16:creationId xmlns:a16="http://schemas.microsoft.com/office/drawing/2014/main" id="{82951795-A8D2-4862-8455-924D22673009}"/>
              </a:ext>
            </a:extLst>
          </p:cNvPr>
          <p:cNvSpPr>
            <a:spLocks xmlns:a="http://schemas.openxmlformats.org/drawingml/2006/main" noGrp="1"/>
          </p:cNvSpPr>
          <p:nvPr/>
        </p:nvSpPr>
        <p:spPr>
          <a:xfrm xmlns:a="http://schemas.openxmlformats.org/drawingml/2006/main">
            <a:off x="11163300" y="64198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36273"/>
                </a:solidFill>
                <a:latin typeface="Arial"/>
                <a:ea typeface="Arial"/>
                <a:cs typeface="Arial"/>
              </a:defRPr>
            </a:defPPr>
            <a:lvl1pPr>
              <a:defRPr sz="1650" b="0">
                <a:solidFill>
                  <a:srgbClr val="536273"/>
                </a:solidFill>
                <a:latin typeface="Arial"/>
                <a:ea typeface="Arial"/>
                <a:cs typeface="Arial"/>
              </a:defRPr>
            </a:lvl1pPr>
            <a:lvl2pPr>
              <a:defRPr sz="1650" b="0">
                <a:solidFill>
                  <a:srgbClr val="536273"/>
                </a:solidFill>
                <a:latin typeface="Arial"/>
                <a:ea typeface="Arial"/>
                <a:cs typeface="Arial"/>
              </a:defRPr>
            </a:lvl2pPr>
            <a:lvl3pPr>
              <a:defRPr sz="1650" b="0">
                <a:solidFill>
                  <a:srgbClr val="536273"/>
                </a:solidFill>
                <a:latin typeface="Arial"/>
                <a:ea typeface="Arial"/>
                <a:cs typeface="Arial"/>
              </a:defRPr>
            </a:lvl3pPr>
            <a:lvl4pPr>
              <a:defRPr sz="1650" b="0">
                <a:solidFill>
                  <a:srgbClr val="536273"/>
                </a:solidFill>
                <a:latin typeface="Arial"/>
                <a:ea typeface="Arial"/>
                <a:cs typeface="Arial"/>
              </a:defRPr>
            </a:lvl4pPr>
            <a:lvl5pPr>
              <a:defRPr sz="1650" b="0">
                <a:solidFill>
                  <a:srgbClr val="536273"/>
                </a:solidFill>
                <a:latin typeface="Arial"/>
                <a:ea typeface="Arial"/>
                <a:cs typeface="Arial"/>
              </a:defRPr>
            </a:lvl5pPr>
            <a:lvl6pPr>
              <a:defRPr sz="1650" b="0">
                <a:solidFill>
                  <a:srgbClr val="536273"/>
                </a:solidFill>
                <a:latin typeface="Arial"/>
                <a:ea typeface="Arial"/>
                <a:cs typeface="Arial"/>
              </a:defRPr>
            </a:lvl6pPr>
            <a:lvl7pPr>
              <a:defRPr sz="1650" b="0">
                <a:solidFill>
                  <a:srgbClr val="536273"/>
                </a:solidFill>
                <a:latin typeface="Arial"/>
                <a:ea typeface="Arial"/>
                <a:cs typeface="Arial"/>
              </a:defRPr>
            </a:lvl7pPr>
            <a:lvl8pPr>
              <a:defRPr sz="1650" b="0">
                <a:solidFill>
                  <a:srgbClr val="536273"/>
                </a:solidFill>
                <a:latin typeface="Arial"/>
                <a:ea typeface="Arial"/>
                <a:cs typeface="Arial"/>
              </a:defRPr>
            </a:lvl8pPr>
            <a:lvl9pPr>
              <a:defRPr sz="1650" b="0">
                <a:solidFill>
                  <a:srgbClr val="536273"/>
                </a:solidFill>
                <a:latin typeface="Arial"/>
                <a:ea typeface="Arial"/>
                <a:cs typeface="Arial"/>
              </a:defRPr>
            </a:lvl9pPr>
          </a:lstStyle>
          <a:p xmlns:a="http://schemas.openxmlformats.org/drawingml/2006/main">
            <a:pPr>
              <a:defRPr sz="1650" b="0">
                <a:solidFill>
                  <a:srgbClr val="536273"/>
                </a:solidFill>
                <a:latin typeface="Arial"/>
                <a:ea typeface="Arial"/>
                <a:cs typeface="Arial"/>
              </a:defRPr>
            </a:pPr>
            <a:r>
              <a:rPr sz="1650" b="0">
                <a:solidFill>
                  <a:srgbClr val="536273"/>
                </a:solidFill>
                <a:latin typeface="Arial"/>
                <a:ea typeface="Arial"/>
                <a:cs typeface="Arial"/>
              </a:rPr>
              <a:t>04</a:t>
            </a:r>
          </a:p>
        </p:txBody>
      </p:sp>
      <p:sp>
        <p:nvSpPr>
          <p:cNvPr id="4" name="purpose">
            <a:extLst xmlns:a="http://schemas.openxmlformats.org/drawingml/2006/main">
              <a:ext uri="{FF2B5EF4-FFF2-40B4-BE49-F238E27FC236}">
                <a16:creationId xmlns:a16="http://schemas.microsoft.com/office/drawing/2014/main" id="{DC09E6B8-4060-4C26-A0D8-26E8F4C449DD}"/>
              </a:ext>
            </a:extLst>
          </p:cNvPr>
          <p:cNvSpPr>
            <a:spLocks xmlns:a="http://schemas.openxmlformats.org/drawingml/2006/main" noGrp="1"/>
          </p:cNvSpPr>
          <p:nvPr/>
        </p:nvSpPr>
        <p:spPr>
          <a:xfrm xmlns:a="http://schemas.openxmlformats.org/drawingml/2006/main">
            <a:off x="609600" y="11906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0B7A75"/>
                </a:solidFill>
                <a:latin typeface="Arial"/>
                <a:ea typeface="Arial"/>
                <a:cs typeface="Arial"/>
              </a:defRPr>
            </a:defPPr>
            <a:lvl1pPr>
              <a:defRPr sz="2250" b="1">
                <a:solidFill>
                  <a:srgbClr val="0B7A75"/>
                </a:solidFill>
                <a:latin typeface="Arial"/>
                <a:ea typeface="Arial"/>
                <a:cs typeface="Arial"/>
              </a:defRPr>
            </a:lvl1pPr>
            <a:lvl2pPr>
              <a:defRPr sz="2250" b="1">
                <a:solidFill>
                  <a:srgbClr val="0B7A75"/>
                </a:solidFill>
                <a:latin typeface="Arial"/>
                <a:ea typeface="Arial"/>
                <a:cs typeface="Arial"/>
              </a:defRPr>
            </a:lvl2pPr>
            <a:lvl3pPr>
              <a:defRPr sz="2250" b="1">
                <a:solidFill>
                  <a:srgbClr val="0B7A75"/>
                </a:solidFill>
                <a:latin typeface="Arial"/>
                <a:ea typeface="Arial"/>
                <a:cs typeface="Arial"/>
              </a:defRPr>
            </a:lvl3pPr>
            <a:lvl4pPr>
              <a:defRPr sz="2250" b="1">
                <a:solidFill>
                  <a:srgbClr val="0B7A75"/>
                </a:solidFill>
                <a:latin typeface="Arial"/>
                <a:ea typeface="Arial"/>
                <a:cs typeface="Arial"/>
              </a:defRPr>
            </a:lvl4pPr>
            <a:lvl5pPr>
              <a:defRPr sz="2250" b="1">
                <a:solidFill>
                  <a:srgbClr val="0B7A75"/>
                </a:solidFill>
                <a:latin typeface="Arial"/>
                <a:ea typeface="Arial"/>
                <a:cs typeface="Arial"/>
              </a:defRPr>
            </a:lvl5pPr>
            <a:lvl6pPr>
              <a:defRPr sz="2250" b="1">
                <a:solidFill>
                  <a:srgbClr val="0B7A75"/>
                </a:solidFill>
                <a:latin typeface="Arial"/>
                <a:ea typeface="Arial"/>
                <a:cs typeface="Arial"/>
              </a:defRPr>
            </a:lvl6pPr>
            <a:lvl7pPr>
              <a:defRPr sz="2250" b="1">
                <a:solidFill>
                  <a:srgbClr val="0B7A75"/>
                </a:solidFill>
                <a:latin typeface="Arial"/>
                <a:ea typeface="Arial"/>
                <a:cs typeface="Arial"/>
              </a:defRPr>
            </a:lvl7pPr>
            <a:lvl8pPr>
              <a:defRPr sz="2250" b="1">
                <a:solidFill>
                  <a:srgbClr val="0B7A75"/>
                </a:solidFill>
                <a:latin typeface="Arial"/>
                <a:ea typeface="Arial"/>
                <a:cs typeface="Arial"/>
              </a:defRPr>
            </a:lvl8pPr>
            <a:lvl9pPr>
              <a:defRPr sz="2250" b="1">
                <a:solidFill>
                  <a:srgbClr val="0B7A75"/>
                </a:solidFill>
                <a:latin typeface="Arial"/>
                <a:ea typeface="Arial"/>
                <a:cs typeface="Arial"/>
              </a:defRPr>
            </a:lvl9pPr>
          </a:lstStyle>
          <a:p xmlns:a="http://schemas.openxmlformats.org/drawingml/2006/main">
            <a:pPr>
              <a:defRPr sz="2250" b="1">
                <a:solidFill>
                  <a:srgbClr val="0B7A75"/>
                </a:solidFill>
                <a:latin typeface="Arial"/>
                <a:ea typeface="Arial"/>
                <a:cs typeface="Arial"/>
              </a:defRPr>
            </a:pPr>
            <a:r>
              <a:rPr sz="2250" b="1">
                <a:solidFill>
                  <a:srgbClr val="0B7A75"/>
                </a:solidFill>
                <a:latin typeface="Arial"/>
                <a:ea typeface="Arial"/>
                <a:cs typeface="Arial"/>
              </a:rPr>
              <a:t>A simple policy tests the integration before neural-model training</a:t>
            </a:r>
          </a:p>
        </p:txBody>
      </p:sp>
      <p:sp>
        <p:nvSpPr>
          <p:cNvPr id="5" name="logging">
            <a:extLst xmlns:a="http://schemas.openxmlformats.org/drawingml/2006/main">
              <a:ext uri="{FF2B5EF4-FFF2-40B4-BE49-F238E27FC236}">
                <a16:creationId xmlns:a16="http://schemas.microsoft.com/office/drawing/2014/main" id="{EDB91460-C0B5-4252-869E-76BD343F70BE}"/>
              </a:ext>
            </a:extLst>
          </p:cNvPr>
          <p:cNvSpPr>
            <a:spLocks xmlns:a="http://schemas.openxmlformats.org/drawingml/2006/main" noGrp="1"/>
          </p:cNvSpPr>
          <p:nvPr/>
        </p:nvSpPr>
        <p:spPr>
          <a:xfrm xmlns:a="http://schemas.openxmlformats.org/drawingml/2006/main">
            <a:off x="609600" y="16764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36273"/>
                </a:solidFill>
                <a:latin typeface="Arial"/>
                <a:ea typeface="Arial"/>
                <a:cs typeface="Arial"/>
              </a:defRPr>
            </a:defPPr>
            <a:lvl1pPr>
              <a:defRPr sz="1875" b="0">
                <a:solidFill>
                  <a:srgbClr val="536273"/>
                </a:solidFill>
                <a:latin typeface="Arial"/>
                <a:ea typeface="Arial"/>
                <a:cs typeface="Arial"/>
              </a:defRPr>
            </a:lvl1pPr>
            <a:lvl2pPr>
              <a:defRPr sz="1875" b="0">
                <a:solidFill>
                  <a:srgbClr val="536273"/>
                </a:solidFill>
                <a:latin typeface="Arial"/>
                <a:ea typeface="Arial"/>
                <a:cs typeface="Arial"/>
              </a:defRPr>
            </a:lvl2pPr>
            <a:lvl3pPr>
              <a:defRPr sz="1875" b="0">
                <a:solidFill>
                  <a:srgbClr val="536273"/>
                </a:solidFill>
                <a:latin typeface="Arial"/>
                <a:ea typeface="Arial"/>
                <a:cs typeface="Arial"/>
              </a:defRPr>
            </a:lvl3pPr>
            <a:lvl4pPr>
              <a:defRPr sz="1875" b="0">
                <a:solidFill>
                  <a:srgbClr val="536273"/>
                </a:solidFill>
                <a:latin typeface="Arial"/>
                <a:ea typeface="Arial"/>
                <a:cs typeface="Arial"/>
              </a:defRPr>
            </a:lvl4pPr>
            <a:lvl5pPr>
              <a:defRPr sz="1875" b="0">
                <a:solidFill>
                  <a:srgbClr val="536273"/>
                </a:solidFill>
                <a:latin typeface="Arial"/>
                <a:ea typeface="Arial"/>
                <a:cs typeface="Arial"/>
              </a:defRPr>
            </a:lvl5pPr>
            <a:lvl6pPr>
              <a:defRPr sz="1875" b="0">
                <a:solidFill>
                  <a:srgbClr val="536273"/>
                </a:solidFill>
                <a:latin typeface="Arial"/>
                <a:ea typeface="Arial"/>
                <a:cs typeface="Arial"/>
              </a:defRPr>
            </a:lvl6pPr>
            <a:lvl7pPr>
              <a:defRPr sz="1875" b="0">
                <a:solidFill>
                  <a:srgbClr val="536273"/>
                </a:solidFill>
                <a:latin typeface="Arial"/>
                <a:ea typeface="Arial"/>
                <a:cs typeface="Arial"/>
              </a:defRPr>
            </a:lvl7pPr>
            <a:lvl8pPr>
              <a:defRPr sz="1875" b="0">
                <a:solidFill>
                  <a:srgbClr val="536273"/>
                </a:solidFill>
                <a:latin typeface="Arial"/>
                <a:ea typeface="Arial"/>
                <a:cs typeface="Arial"/>
              </a:defRPr>
            </a:lvl8pPr>
            <a:lvl9pPr>
              <a:defRPr sz="1875" b="0">
                <a:solidFill>
                  <a:srgbClr val="536273"/>
                </a:solidFill>
                <a:latin typeface="Arial"/>
                <a:ea typeface="Arial"/>
                <a:cs typeface="Arial"/>
              </a:defRPr>
            </a:lvl9pPr>
          </a:lstStyle>
          <a:p xmlns:a="http://schemas.openxmlformats.org/drawingml/2006/main">
            <a:pPr>
              <a:defRPr sz="1875" b="0">
                <a:solidFill>
                  <a:srgbClr val="536273"/>
                </a:solidFill>
                <a:latin typeface="Arial"/>
                <a:ea typeface="Arial"/>
                <a:cs typeface="Arial"/>
              </a:defRPr>
            </a:pPr>
            <a:r>
              <a:rPr sz="1875" b="0">
                <a:solidFill>
                  <a:srgbClr val="536273"/>
                </a:solidFill>
                <a:latin typeface="Arial"/>
                <a:ea typeface="Arial"/>
                <a:cs typeface="Arial"/>
              </a:rPr>
              <a:t>Decisions use player memory. Existing backend logs asynchronously to MongoDB.</a:t>
            </a:r>
          </a:p>
        </p:txBody>
      </p:sp>
      <p:graphicFrame>
        <p:nvGraphicFramePr>
          <p:cNvPr id="6" name="Chart">
            <a:extLst xmlns:a="http://schemas.openxmlformats.org/drawingml/2006/main">
              <a:ext uri="{FF2B5EF4-FFF2-40B4-BE49-F238E27FC236}">
                <a16:creationId xmlns:a16="http://schemas.microsoft.com/office/drawing/2014/main" id="{5C5DD333-5A23-4E5C-8E9B-F5DDDF6AB521}"/>
              </a:ext>
            </a:extLst>
          </p:cNvPr>
          <p:cNvGraphicFramePr/>
          <p:nvPr/>
        </p:nvGraphicFramePr>
        <p:xfrm>
          <a:off xmlns:a="http://schemas.openxmlformats.org/drawingml/2006/main" x="609600" y="2571750"/>
          <a:ext xmlns:a="http://schemas.openxmlformats.org/drawingml/2006/main" cx="6000750" cy="2647950"/>
        </p:xfrm>
        <a:graphic xmlns:a="http://schemas.openxmlformats.org/drawingml/2006/main">
          <a:graphicData uri="http://schemas.openxmlformats.org/drawingml/2006/chart">
            <c:chart xmlns:r="http://schemas.openxmlformats.org/officeDocument/2006/relationships" xmlns:c="http://schemas.openxmlformats.org/drawingml/2006/chart" r:id="R51b5f662e4914cf0"/>
          </a:graphicData>
        </a:graphic>
      </p:graphicFrame>
      <p:sp>
        <p:nvSpPr>
          <p:cNvPr id="7" name="capacity">
            <a:extLst xmlns:a="http://schemas.openxmlformats.org/drawingml/2006/main">
              <a:ext uri="{FF2B5EF4-FFF2-40B4-BE49-F238E27FC236}">
                <a16:creationId xmlns:a16="http://schemas.microsoft.com/office/drawing/2014/main" id="{23652C60-A4C0-4E63-8CDA-068687EBCC2C}"/>
              </a:ext>
            </a:extLst>
          </p:cNvPr>
          <p:cNvSpPr>
            <a:spLocks xmlns:a="http://schemas.openxmlformats.org/drawingml/2006/main" noGrp="1"/>
          </p:cNvSpPr>
          <p:nvPr/>
        </p:nvSpPr>
        <p:spPr>
          <a:xfrm xmlns:a="http://schemas.openxmlformats.org/drawingml/2006/main">
            <a:off x="609600" y="2181225"/>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42D4E"/>
                </a:solidFill>
                <a:latin typeface="Arial"/>
                <a:ea typeface="Arial"/>
                <a:cs typeface="Arial"/>
              </a:defRPr>
            </a:defPPr>
            <a:lvl1pPr>
              <a:defRPr sz="2025" b="1">
                <a:solidFill>
                  <a:srgbClr val="142D4E"/>
                </a:solidFill>
                <a:latin typeface="Arial"/>
                <a:ea typeface="Arial"/>
                <a:cs typeface="Arial"/>
              </a:defRPr>
            </a:lvl1pPr>
            <a:lvl2pPr>
              <a:defRPr sz="2025" b="1">
                <a:solidFill>
                  <a:srgbClr val="142D4E"/>
                </a:solidFill>
                <a:latin typeface="Arial"/>
                <a:ea typeface="Arial"/>
                <a:cs typeface="Arial"/>
              </a:defRPr>
            </a:lvl2pPr>
            <a:lvl3pPr>
              <a:defRPr sz="2025" b="1">
                <a:solidFill>
                  <a:srgbClr val="142D4E"/>
                </a:solidFill>
                <a:latin typeface="Arial"/>
                <a:ea typeface="Arial"/>
                <a:cs typeface="Arial"/>
              </a:defRPr>
            </a:lvl3pPr>
            <a:lvl4pPr>
              <a:defRPr sz="2025" b="1">
                <a:solidFill>
                  <a:srgbClr val="142D4E"/>
                </a:solidFill>
                <a:latin typeface="Arial"/>
                <a:ea typeface="Arial"/>
                <a:cs typeface="Arial"/>
              </a:defRPr>
            </a:lvl4pPr>
            <a:lvl5pPr>
              <a:defRPr sz="2025" b="1">
                <a:solidFill>
                  <a:srgbClr val="142D4E"/>
                </a:solidFill>
                <a:latin typeface="Arial"/>
                <a:ea typeface="Arial"/>
                <a:cs typeface="Arial"/>
              </a:defRPr>
            </a:lvl5pPr>
            <a:lvl6pPr>
              <a:defRPr sz="2025" b="1">
                <a:solidFill>
                  <a:srgbClr val="142D4E"/>
                </a:solidFill>
                <a:latin typeface="Arial"/>
                <a:ea typeface="Arial"/>
                <a:cs typeface="Arial"/>
              </a:defRPr>
            </a:lvl6pPr>
            <a:lvl7pPr>
              <a:defRPr sz="2025" b="1">
                <a:solidFill>
                  <a:srgbClr val="142D4E"/>
                </a:solidFill>
                <a:latin typeface="Arial"/>
                <a:ea typeface="Arial"/>
                <a:cs typeface="Arial"/>
              </a:defRPr>
            </a:lvl7pPr>
            <a:lvl8pPr>
              <a:defRPr sz="2025" b="1">
                <a:solidFill>
                  <a:srgbClr val="142D4E"/>
                </a:solidFill>
                <a:latin typeface="Arial"/>
                <a:ea typeface="Arial"/>
                <a:cs typeface="Arial"/>
              </a:defRPr>
            </a:lvl8pPr>
            <a:lvl9pPr>
              <a:defRPr sz="2025" b="1">
                <a:solidFill>
                  <a:srgbClr val="142D4E"/>
                </a:solidFill>
                <a:latin typeface="Arial"/>
                <a:ea typeface="Arial"/>
                <a:cs typeface="Arial"/>
              </a:defRPr>
            </a:lvl9pPr>
          </a:lstStyle>
          <a:p xmlns:a="http://schemas.openxmlformats.org/drawingml/2006/main">
            <a:pPr>
              <a:defRPr sz="2025" b="1">
                <a:solidFill>
                  <a:srgbClr val="142D4E"/>
                </a:solidFill>
                <a:latin typeface="Arial"/>
                <a:ea typeface="Arial"/>
                <a:cs typeface="Arial"/>
              </a:defRPr>
            </a:pPr>
            <a:r>
              <a:rPr sz="2025" b="1">
                <a:solidFill>
                  <a:srgbClr val="142D4E"/>
                </a:solidFill>
                <a:latin typeface="Arial"/>
                <a:ea typeface="Arial"/>
                <a:cs typeface="Arial"/>
              </a:rPr>
              <a:t>Controlled link: 8 / 1 / 8 Mbps</a:t>
            </a:r>
          </a:p>
        </p:txBody>
      </p:sp>
      <p:sp>
        <p:nvSpPr>
          <p:cNvPr id="8" name="files-head">
            <a:extLst xmlns:a="http://schemas.openxmlformats.org/drawingml/2006/main">
              <a:ext uri="{FF2B5EF4-FFF2-40B4-BE49-F238E27FC236}">
                <a16:creationId xmlns:a16="http://schemas.microsoft.com/office/drawing/2014/main" id="{0CBEC693-1895-4FD9-BB7B-F078FAF6F615}"/>
              </a:ext>
            </a:extLst>
          </p:cNvPr>
          <p:cNvSpPr>
            <a:spLocks xmlns:a="http://schemas.openxmlformats.org/drawingml/2006/main" noGrp="1"/>
          </p:cNvSpPr>
          <p:nvPr/>
        </p:nvSpPr>
        <p:spPr>
          <a:xfrm xmlns:a="http://schemas.openxmlformats.org/drawingml/2006/main">
            <a:off x="7124700" y="2333625"/>
            <a:ext cx="4457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2D4E"/>
                </a:solidFill>
                <a:latin typeface="Arial"/>
                <a:ea typeface="Arial"/>
                <a:cs typeface="Arial"/>
              </a:defRPr>
            </a:defPPr>
            <a:lvl1pPr>
              <a:defRPr sz="2250" b="1">
                <a:solidFill>
                  <a:srgbClr val="142D4E"/>
                </a:solidFill>
                <a:latin typeface="Arial"/>
                <a:ea typeface="Arial"/>
                <a:cs typeface="Arial"/>
              </a:defRPr>
            </a:lvl1pPr>
            <a:lvl2pPr>
              <a:defRPr sz="2250" b="1">
                <a:solidFill>
                  <a:srgbClr val="142D4E"/>
                </a:solidFill>
                <a:latin typeface="Arial"/>
                <a:ea typeface="Arial"/>
                <a:cs typeface="Arial"/>
              </a:defRPr>
            </a:lvl2pPr>
            <a:lvl3pPr>
              <a:defRPr sz="2250" b="1">
                <a:solidFill>
                  <a:srgbClr val="142D4E"/>
                </a:solidFill>
                <a:latin typeface="Arial"/>
                <a:ea typeface="Arial"/>
                <a:cs typeface="Arial"/>
              </a:defRPr>
            </a:lvl3pPr>
            <a:lvl4pPr>
              <a:defRPr sz="2250" b="1">
                <a:solidFill>
                  <a:srgbClr val="142D4E"/>
                </a:solidFill>
                <a:latin typeface="Arial"/>
                <a:ea typeface="Arial"/>
                <a:cs typeface="Arial"/>
              </a:defRPr>
            </a:lvl4pPr>
            <a:lvl5pPr>
              <a:defRPr sz="2250" b="1">
                <a:solidFill>
                  <a:srgbClr val="142D4E"/>
                </a:solidFill>
                <a:latin typeface="Arial"/>
                <a:ea typeface="Arial"/>
                <a:cs typeface="Arial"/>
              </a:defRPr>
            </a:lvl5pPr>
            <a:lvl6pPr>
              <a:defRPr sz="2250" b="1">
                <a:solidFill>
                  <a:srgbClr val="142D4E"/>
                </a:solidFill>
                <a:latin typeface="Arial"/>
                <a:ea typeface="Arial"/>
                <a:cs typeface="Arial"/>
              </a:defRPr>
            </a:lvl6pPr>
            <a:lvl7pPr>
              <a:defRPr sz="2250" b="1">
                <a:solidFill>
                  <a:srgbClr val="142D4E"/>
                </a:solidFill>
                <a:latin typeface="Arial"/>
                <a:ea typeface="Arial"/>
                <a:cs typeface="Arial"/>
              </a:defRPr>
            </a:lvl7pPr>
            <a:lvl8pPr>
              <a:defRPr sz="2250" b="1">
                <a:solidFill>
                  <a:srgbClr val="142D4E"/>
                </a:solidFill>
                <a:latin typeface="Arial"/>
                <a:ea typeface="Arial"/>
                <a:cs typeface="Arial"/>
              </a:defRPr>
            </a:lvl8pPr>
            <a:lvl9pPr>
              <a:defRPr sz="2250" b="1">
                <a:solidFill>
                  <a:srgbClr val="142D4E"/>
                </a:solidFill>
                <a:latin typeface="Arial"/>
                <a:ea typeface="Arial"/>
                <a:cs typeface="Arial"/>
              </a:defRPr>
            </a:lvl9pPr>
          </a:lstStyle>
          <a:p xmlns:a="http://schemas.openxmlformats.org/drawingml/2006/main">
            <a:pPr>
              <a:defRPr sz="2250" b="1">
                <a:solidFill>
                  <a:srgbClr val="142D4E"/>
                </a:solidFill>
                <a:latin typeface="Arial"/>
                <a:ea typeface="Arial"/>
                <a:cs typeface="Arial"/>
              </a:defRPr>
            </a:pPr>
            <a:r>
              <a:rPr sz="2250" b="1">
                <a:solidFill>
                  <a:srgbClr val="142D4E"/>
                </a:solidFill>
                <a:latin typeface="Arial"/>
                <a:ea typeface="Arial"/>
                <a:cs typeface="Arial"/>
              </a:rPr>
              <a:t>Main player changes</a:t>
            </a:r>
          </a:p>
        </p:txBody>
      </p:sp>
      <p:sp>
        <p:nvSpPr>
          <p:cNvPr id="9" name="register">
            <a:extLst xmlns:a="http://schemas.openxmlformats.org/drawingml/2006/main">
              <a:ext uri="{FF2B5EF4-FFF2-40B4-BE49-F238E27FC236}">
                <a16:creationId xmlns:a16="http://schemas.microsoft.com/office/drawing/2014/main" id="{2805200C-6313-4A27-9D25-5318C7A70913}"/>
              </a:ext>
            </a:extLst>
          </p:cNvPr>
          <p:cNvSpPr>
            <a:spLocks xmlns:a="http://schemas.openxmlformats.org/drawingml/2006/main" noGrp="1"/>
          </p:cNvSpPr>
          <p:nvPr/>
        </p:nvSpPr>
        <p:spPr>
          <a:xfrm xmlns:a="http://schemas.openxmlformats.org/drawingml/2006/main">
            <a:off x="7124700" y="2809875"/>
            <a:ext cx="4457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B7A75"/>
                </a:solidFill>
                <a:latin typeface="Arial"/>
                <a:ea typeface="Arial"/>
                <a:cs typeface="Arial"/>
              </a:defRPr>
            </a:defPPr>
            <a:lvl1pPr>
              <a:defRPr sz="1875" b="1">
                <a:solidFill>
                  <a:srgbClr val="0B7A75"/>
                </a:solidFill>
                <a:latin typeface="Arial"/>
                <a:ea typeface="Arial"/>
                <a:cs typeface="Arial"/>
              </a:defRPr>
            </a:lvl1pPr>
            <a:lvl2pPr>
              <a:defRPr sz="1875" b="1">
                <a:solidFill>
                  <a:srgbClr val="0B7A75"/>
                </a:solidFill>
                <a:latin typeface="Arial"/>
                <a:ea typeface="Arial"/>
                <a:cs typeface="Arial"/>
              </a:defRPr>
            </a:lvl2pPr>
            <a:lvl3pPr>
              <a:defRPr sz="1875" b="1">
                <a:solidFill>
                  <a:srgbClr val="0B7A75"/>
                </a:solidFill>
                <a:latin typeface="Arial"/>
                <a:ea typeface="Arial"/>
                <a:cs typeface="Arial"/>
              </a:defRPr>
            </a:lvl3pPr>
            <a:lvl4pPr>
              <a:defRPr sz="1875" b="1">
                <a:solidFill>
                  <a:srgbClr val="0B7A75"/>
                </a:solidFill>
                <a:latin typeface="Arial"/>
                <a:ea typeface="Arial"/>
                <a:cs typeface="Arial"/>
              </a:defRPr>
            </a:lvl4pPr>
            <a:lvl5pPr>
              <a:defRPr sz="1875" b="1">
                <a:solidFill>
                  <a:srgbClr val="0B7A75"/>
                </a:solidFill>
                <a:latin typeface="Arial"/>
                <a:ea typeface="Arial"/>
                <a:cs typeface="Arial"/>
              </a:defRPr>
            </a:lvl5pPr>
            <a:lvl6pPr>
              <a:defRPr sz="1875" b="1">
                <a:solidFill>
                  <a:srgbClr val="0B7A75"/>
                </a:solidFill>
                <a:latin typeface="Arial"/>
                <a:ea typeface="Arial"/>
                <a:cs typeface="Arial"/>
              </a:defRPr>
            </a:lvl6pPr>
            <a:lvl7pPr>
              <a:defRPr sz="1875" b="1">
                <a:solidFill>
                  <a:srgbClr val="0B7A75"/>
                </a:solidFill>
                <a:latin typeface="Arial"/>
                <a:ea typeface="Arial"/>
                <a:cs typeface="Arial"/>
              </a:defRPr>
            </a:lvl7pPr>
            <a:lvl8pPr>
              <a:defRPr sz="1875" b="1">
                <a:solidFill>
                  <a:srgbClr val="0B7A75"/>
                </a:solidFill>
                <a:latin typeface="Arial"/>
                <a:ea typeface="Arial"/>
                <a:cs typeface="Arial"/>
              </a:defRPr>
            </a:lvl8pPr>
            <a:lvl9pPr>
              <a:defRPr sz="1875" b="1">
                <a:solidFill>
                  <a:srgbClr val="0B7A75"/>
                </a:solidFill>
                <a:latin typeface="Arial"/>
                <a:ea typeface="Arial"/>
                <a:cs typeface="Arial"/>
              </a:defRPr>
            </a:lvl9pPr>
          </a:lstStyle>
          <a:p xmlns:a="http://schemas.openxmlformats.org/drawingml/2006/main">
            <a:pPr>
              <a:defRPr sz="1875" b="1">
                <a:solidFill>
                  <a:srgbClr val="0B7A75"/>
                </a:solidFill>
                <a:latin typeface="Arial"/>
                <a:ea typeface="Arial"/>
                <a:cs typeface="Arial"/>
              </a:defRPr>
            </a:pPr>
            <a:r>
              <a:rPr sz="1875" b="1">
                <a:solidFill>
                  <a:srgbClr val="0B7A75"/>
                </a:solidFill>
                <a:latin typeface="Arial"/>
                <a:ea typeface="Arial"/>
                <a:cs typeface="Arial"/>
              </a:rPr>
              <a:t>Register the policy</a:t>
            </a:r>
          </a:p>
        </p:txBody>
      </p:sp>
      <p:sp>
        <p:nvSpPr>
          <p:cNvPr id="10" name="register-files">
            <a:extLst xmlns:a="http://schemas.openxmlformats.org/drawingml/2006/main">
              <a:ext uri="{FF2B5EF4-FFF2-40B4-BE49-F238E27FC236}">
                <a16:creationId xmlns:a16="http://schemas.microsoft.com/office/drawing/2014/main" id="{FC00DFC8-5103-4BD8-B2C6-A38DE543F8C8}"/>
              </a:ext>
            </a:extLst>
          </p:cNvPr>
          <p:cNvSpPr>
            <a:spLocks xmlns:a="http://schemas.openxmlformats.org/drawingml/2006/main" noGrp="1"/>
          </p:cNvSpPr>
          <p:nvPr/>
        </p:nvSpPr>
        <p:spPr>
          <a:xfrm xmlns:a="http://schemas.openxmlformats.org/drawingml/2006/main">
            <a:off x="7124700" y="3133725"/>
            <a:ext cx="4457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42D4E"/>
                </a:solidFill>
                <a:latin typeface="Arial"/>
                <a:ea typeface="Arial"/>
                <a:cs typeface="Arial"/>
              </a:defRPr>
            </a:defPPr>
            <a:lvl1pPr>
              <a:defRPr sz="1800" b="0">
                <a:solidFill>
                  <a:srgbClr val="142D4E"/>
                </a:solidFill>
                <a:latin typeface="Arial"/>
                <a:ea typeface="Arial"/>
                <a:cs typeface="Arial"/>
              </a:defRPr>
            </a:lvl1pPr>
            <a:lvl2pPr>
              <a:defRPr sz="1800" b="0">
                <a:solidFill>
                  <a:srgbClr val="142D4E"/>
                </a:solidFill>
                <a:latin typeface="Arial"/>
                <a:ea typeface="Arial"/>
                <a:cs typeface="Arial"/>
              </a:defRPr>
            </a:lvl2pPr>
            <a:lvl3pPr>
              <a:defRPr sz="1800" b="0">
                <a:solidFill>
                  <a:srgbClr val="142D4E"/>
                </a:solidFill>
                <a:latin typeface="Arial"/>
                <a:ea typeface="Arial"/>
                <a:cs typeface="Arial"/>
              </a:defRPr>
            </a:lvl3pPr>
            <a:lvl4pPr>
              <a:defRPr sz="1800" b="0">
                <a:solidFill>
                  <a:srgbClr val="142D4E"/>
                </a:solidFill>
                <a:latin typeface="Arial"/>
                <a:ea typeface="Arial"/>
                <a:cs typeface="Arial"/>
              </a:defRPr>
            </a:lvl4pPr>
            <a:lvl5pPr>
              <a:defRPr sz="1800" b="0">
                <a:solidFill>
                  <a:srgbClr val="142D4E"/>
                </a:solidFill>
                <a:latin typeface="Arial"/>
                <a:ea typeface="Arial"/>
                <a:cs typeface="Arial"/>
              </a:defRPr>
            </a:lvl5pPr>
            <a:lvl6pPr>
              <a:defRPr sz="1800" b="0">
                <a:solidFill>
                  <a:srgbClr val="142D4E"/>
                </a:solidFill>
                <a:latin typeface="Arial"/>
                <a:ea typeface="Arial"/>
                <a:cs typeface="Arial"/>
              </a:defRPr>
            </a:lvl6pPr>
            <a:lvl7pPr>
              <a:defRPr sz="1800" b="0">
                <a:solidFill>
                  <a:srgbClr val="142D4E"/>
                </a:solidFill>
                <a:latin typeface="Arial"/>
                <a:ea typeface="Arial"/>
                <a:cs typeface="Arial"/>
              </a:defRPr>
            </a:lvl7pPr>
            <a:lvl8pPr>
              <a:defRPr sz="1800" b="0">
                <a:solidFill>
                  <a:srgbClr val="142D4E"/>
                </a:solidFill>
                <a:latin typeface="Arial"/>
                <a:ea typeface="Arial"/>
                <a:cs typeface="Arial"/>
              </a:defRPr>
            </a:lvl8pPr>
            <a:lvl9pPr>
              <a:defRPr sz="1800" b="0">
                <a:solidFill>
                  <a:srgbClr val="142D4E"/>
                </a:solidFill>
                <a:latin typeface="Arial"/>
                <a:ea typeface="Arial"/>
                <a:cs typeface="Arial"/>
              </a:defRPr>
            </a:lvl9pPr>
          </a:lstStyle>
          <a:p xmlns:a="http://schemas.openxmlformats.org/drawingml/2006/main">
            <a:pPr>
              <a:defRPr sz="1800" b="0">
                <a:solidFill>
                  <a:srgbClr val="142D4E"/>
                </a:solidFill>
                <a:latin typeface="Arial"/>
                <a:ea typeface="Arial"/>
                <a:cs typeface="Arial"/>
              </a:defRPr>
            </a:pPr>
            <a:r>
              <a:rPr sz="1800" b="0">
                <a:solidFill>
                  <a:srgbClr val="142D4E"/>
                </a:solidFill>
                <a:latin typeface="Arial"/>
                <a:ea typeface="Arial"/>
                <a:cs typeface="Arial"/>
              </a:rPr>
              <a:t>Constants.js</a:t>
            </a:r>
          </a:p>
          <a:p xmlns:a="http://schemas.openxmlformats.org/drawingml/2006/main">
            <a:pPr>
              <a:defRPr sz="1800" b="0">
                <a:solidFill>
                  <a:srgbClr val="142D4E"/>
                </a:solidFill>
                <a:latin typeface="Arial"/>
                <a:ea typeface="Arial"/>
                <a:cs typeface="Arial"/>
              </a:defRPr>
            </a:pPr>
            <a:r>
              <a:rPr sz="1800" b="0">
                <a:solidFill>
                  <a:srgbClr val="142D4E"/>
                </a:solidFill>
                <a:latin typeface="Arial"/>
                <a:ea typeface="Arial"/>
                <a:cs typeface="Arial"/>
              </a:rPr>
              <a:t>ABRRulesCollection.js</a:t>
            </a:r>
          </a:p>
        </p:txBody>
      </p:sp>
      <p:sp>
        <p:nvSpPr>
          <p:cNvPr id="11" name="decide">
            <a:extLst xmlns:a="http://schemas.openxmlformats.org/drawingml/2006/main">
              <a:ext uri="{FF2B5EF4-FFF2-40B4-BE49-F238E27FC236}">
                <a16:creationId xmlns:a16="http://schemas.microsoft.com/office/drawing/2014/main" id="{6B454B2B-FD99-4729-961D-3222B813BF01}"/>
              </a:ext>
            </a:extLst>
          </p:cNvPr>
          <p:cNvSpPr>
            <a:spLocks xmlns:a="http://schemas.openxmlformats.org/drawingml/2006/main" noGrp="1"/>
          </p:cNvSpPr>
          <p:nvPr/>
        </p:nvSpPr>
        <p:spPr>
          <a:xfrm xmlns:a="http://schemas.openxmlformats.org/drawingml/2006/main">
            <a:off x="7124700" y="3857625"/>
            <a:ext cx="445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B7A75"/>
                </a:solidFill>
                <a:latin typeface="Arial"/>
                <a:ea typeface="Arial"/>
                <a:cs typeface="Arial"/>
              </a:defRPr>
            </a:defPPr>
            <a:lvl1pPr>
              <a:defRPr sz="1875" b="1">
                <a:solidFill>
                  <a:srgbClr val="0B7A75"/>
                </a:solidFill>
                <a:latin typeface="Arial"/>
                <a:ea typeface="Arial"/>
                <a:cs typeface="Arial"/>
              </a:defRPr>
            </a:lvl1pPr>
            <a:lvl2pPr>
              <a:defRPr sz="1875" b="1">
                <a:solidFill>
                  <a:srgbClr val="0B7A75"/>
                </a:solidFill>
                <a:latin typeface="Arial"/>
                <a:ea typeface="Arial"/>
                <a:cs typeface="Arial"/>
              </a:defRPr>
            </a:lvl2pPr>
            <a:lvl3pPr>
              <a:defRPr sz="1875" b="1">
                <a:solidFill>
                  <a:srgbClr val="0B7A75"/>
                </a:solidFill>
                <a:latin typeface="Arial"/>
                <a:ea typeface="Arial"/>
                <a:cs typeface="Arial"/>
              </a:defRPr>
            </a:lvl3pPr>
            <a:lvl4pPr>
              <a:defRPr sz="1875" b="1">
                <a:solidFill>
                  <a:srgbClr val="0B7A75"/>
                </a:solidFill>
                <a:latin typeface="Arial"/>
                <a:ea typeface="Arial"/>
                <a:cs typeface="Arial"/>
              </a:defRPr>
            </a:lvl4pPr>
            <a:lvl5pPr>
              <a:defRPr sz="1875" b="1">
                <a:solidFill>
                  <a:srgbClr val="0B7A75"/>
                </a:solidFill>
                <a:latin typeface="Arial"/>
                <a:ea typeface="Arial"/>
                <a:cs typeface="Arial"/>
              </a:defRPr>
            </a:lvl5pPr>
            <a:lvl6pPr>
              <a:defRPr sz="1875" b="1">
                <a:solidFill>
                  <a:srgbClr val="0B7A75"/>
                </a:solidFill>
                <a:latin typeface="Arial"/>
                <a:ea typeface="Arial"/>
                <a:cs typeface="Arial"/>
              </a:defRPr>
            </a:lvl6pPr>
            <a:lvl7pPr>
              <a:defRPr sz="1875" b="1">
                <a:solidFill>
                  <a:srgbClr val="0B7A75"/>
                </a:solidFill>
                <a:latin typeface="Arial"/>
                <a:ea typeface="Arial"/>
                <a:cs typeface="Arial"/>
              </a:defRPr>
            </a:lvl7pPr>
            <a:lvl8pPr>
              <a:defRPr sz="1875" b="1">
                <a:solidFill>
                  <a:srgbClr val="0B7A75"/>
                </a:solidFill>
                <a:latin typeface="Arial"/>
                <a:ea typeface="Arial"/>
                <a:cs typeface="Arial"/>
              </a:defRPr>
            </a:lvl8pPr>
            <a:lvl9pPr>
              <a:defRPr sz="1875" b="1">
                <a:solidFill>
                  <a:srgbClr val="0B7A75"/>
                </a:solidFill>
                <a:latin typeface="Arial"/>
                <a:ea typeface="Arial"/>
                <a:cs typeface="Arial"/>
              </a:defRPr>
            </a:lvl9pPr>
          </a:lstStyle>
          <a:p xmlns:a="http://schemas.openxmlformats.org/drawingml/2006/main">
            <a:pPr>
              <a:defRPr sz="1875" b="1">
                <a:solidFill>
                  <a:srgbClr val="0B7A75"/>
                </a:solidFill>
                <a:latin typeface="Arial"/>
                <a:ea typeface="Arial"/>
                <a:cs typeface="Arial"/>
              </a:defRPr>
            </a:pPr>
            <a:r>
              <a:rPr sz="1875" b="1">
                <a:solidFill>
                  <a:srgbClr val="0B7A75"/>
                </a:solidFill>
                <a:latin typeface="Arial"/>
                <a:ea typeface="Arial"/>
                <a:cs typeface="Arial"/>
              </a:rPr>
              <a:t>Observe and choose quality</a:t>
            </a:r>
          </a:p>
        </p:txBody>
      </p:sp>
      <p:sp>
        <p:nvSpPr>
          <p:cNvPr id="12" name="decide-files">
            <a:extLst xmlns:a="http://schemas.openxmlformats.org/drawingml/2006/main">
              <a:ext uri="{FF2B5EF4-FFF2-40B4-BE49-F238E27FC236}">
                <a16:creationId xmlns:a16="http://schemas.microsoft.com/office/drawing/2014/main" id="{38EE4B6C-3854-4E59-AC6D-BDEF7FB4661D}"/>
              </a:ext>
            </a:extLst>
          </p:cNvPr>
          <p:cNvSpPr>
            <a:spLocks xmlns:a="http://schemas.openxmlformats.org/drawingml/2006/main" noGrp="1"/>
          </p:cNvSpPr>
          <p:nvPr/>
        </p:nvSpPr>
        <p:spPr>
          <a:xfrm xmlns:a="http://schemas.openxmlformats.org/drawingml/2006/main">
            <a:off x="7124700" y="4191000"/>
            <a:ext cx="4457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42D4E"/>
                </a:solidFill>
                <a:latin typeface="Arial"/>
                <a:ea typeface="Arial"/>
                <a:cs typeface="Arial"/>
              </a:defRPr>
            </a:defPPr>
            <a:lvl1pPr>
              <a:defRPr sz="1800" b="0">
                <a:solidFill>
                  <a:srgbClr val="142D4E"/>
                </a:solidFill>
                <a:latin typeface="Arial"/>
                <a:ea typeface="Arial"/>
                <a:cs typeface="Arial"/>
              </a:defRPr>
            </a:lvl1pPr>
            <a:lvl2pPr>
              <a:defRPr sz="1800" b="0">
                <a:solidFill>
                  <a:srgbClr val="142D4E"/>
                </a:solidFill>
                <a:latin typeface="Arial"/>
                <a:ea typeface="Arial"/>
                <a:cs typeface="Arial"/>
              </a:defRPr>
            </a:lvl2pPr>
            <a:lvl3pPr>
              <a:defRPr sz="1800" b="0">
                <a:solidFill>
                  <a:srgbClr val="142D4E"/>
                </a:solidFill>
                <a:latin typeface="Arial"/>
                <a:ea typeface="Arial"/>
                <a:cs typeface="Arial"/>
              </a:defRPr>
            </a:lvl3pPr>
            <a:lvl4pPr>
              <a:defRPr sz="1800" b="0">
                <a:solidFill>
                  <a:srgbClr val="142D4E"/>
                </a:solidFill>
                <a:latin typeface="Arial"/>
                <a:ea typeface="Arial"/>
                <a:cs typeface="Arial"/>
              </a:defRPr>
            </a:lvl4pPr>
            <a:lvl5pPr>
              <a:defRPr sz="1800" b="0">
                <a:solidFill>
                  <a:srgbClr val="142D4E"/>
                </a:solidFill>
                <a:latin typeface="Arial"/>
                <a:ea typeface="Arial"/>
                <a:cs typeface="Arial"/>
              </a:defRPr>
            </a:lvl5pPr>
            <a:lvl6pPr>
              <a:defRPr sz="1800" b="0">
                <a:solidFill>
                  <a:srgbClr val="142D4E"/>
                </a:solidFill>
                <a:latin typeface="Arial"/>
                <a:ea typeface="Arial"/>
                <a:cs typeface="Arial"/>
              </a:defRPr>
            </a:lvl6pPr>
            <a:lvl7pPr>
              <a:defRPr sz="1800" b="0">
                <a:solidFill>
                  <a:srgbClr val="142D4E"/>
                </a:solidFill>
                <a:latin typeface="Arial"/>
                <a:ea typeface="Arial"/>
                <a:cs typeface="Arial"/>
              </a:defRPr>
            </a:lvl7pPr>
            <a:lvl8pPr>
              <a:defRPr sz="1800" b="0">
                <a:solidFill>
                  <a:srgbClr val="142D4E"/>
                </a:solidFill>
                <a:latin typeface="Arial"/>
                <a:ea typeface="Arial"/>
                <a:cs typeface="Arial"/>
              </a:defRPr>
            </a:lvl8pPr>
            <a:lvl9pPr>
              <a:defRPr sz="1800" b="0">
                <a:solidFill>
                  <a:srgbClr val="142D4E"/>
                </a:solidFill>
                <a:latin typeface="Arial"/>
                <a:ea typeface="Arial"/>
                <a:cs typeface="Arial"/>
              </a:defRPr>
            </a:lvl9pPr>
          </a:lstStyle>
          <a:p xmlns:a="http://schemas.openxmlformats.org/drawingml/2006/main">
            <a:pPr>
              <a:defRPr sz="1800" b="0">
                <a:solidFill>
                  <a:srgbClr val="142D4E"/>
                </a:solidFill>
                <a:latin typeface="Arial"/>
                <a:ea typeface="Arial"/>
                <a:cs typeface="Arial"/>
              </a:defRPr>
            </a:pPr>
            <a:r>
              <a:rPr sz="1800" b="0">
                <a:solidFill>
                  <a:srgbClr val="142D4E"/>
                </a:solidFill>
                <a:latin typeface="Arial"/>
                <a:ea typeface="Arial"/>
                <a:cs typeface="Arial"/>
              </a:rPr>
              <a:t>AnjanRule.js + policy_core.js</a:t>
            </a:r>
          </a:p>
        </p:txBody>
      </p:sp>
      <p:sp>
        <p:nvSpPr>
          <p:cNvPr id="13" name="load">
            <a:extLst xmlns:a="http://schemas.openxmlformats.org/drawingml/2006/main">
              <a:ext uri="{FF2B5EF4-FFF2-40B4-BE49-F238E27FC236}">
                <a16:creationId xmlns:a16="http://schemas.microsoft.com/office/drawing/2014/main" id="{31681AA0-08B6-4613-BB44-14AE89569EED}"/>
              </a:ext>
            </a:extLst>
          </p:cNvPr>
          <p:cNvSpPr>
            <a:spLocks xmlns:a="http://schemas.openxmlformats.org/drawingml/2006/main" noGrp="1"/>
          </p:cNvSpPr>
          <p:nvPr/>
        </p:nvSpPr>
        <p:spPr>
          <a:xfrm xmlns:a="http://schemas.openxmlformats.org/drawingml/2006/main">
            <a:off x="7124700" y="4648200"/>
            <a:ext cx="4457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B7A75"/>
                </a:solidFill>
                <a:latin typeface="Arial"/>
                <a:ea typeface="Arial"/>
                <a:cs typeface="Arial"/>
              </a:defRPr>
            </a:defPPr>
            <a:lvl1pPr>
              <a:defRPr sz="1875" b="1">
                <a:solidFill>
                  <a:srgbClr val="0B7A75"/>
                </a:solidFill>
                <a:latin typeface="Arial"/>
                <a:ea typeface="Arial"/>
                <a:cs typeface="Arial"/>
              </a:defRPr>
            </a:lvl1pPr>
            <a:lvl2pPr>
              <a:defRPr sz="1875" b="1">
                <a:solidFill>
                  <a:srgbClr val="0B7A75"/>
                </a:solidFill>
                <a:latin typeface="Arial"/>
                <a:ea typeface="Arial"/>
                <a:cs typeface="Arial"/>
              </a:defRPr>
            </a:lvl2pPr>
            <a:lvl3pPr>
              <a:defRPr sz="1875" b="1">
                <a:solidFill>
                  <a:srgbClr val="0B7A75"/>
                </a:solidFill>
                <a:latin typeface="Arial"/>
                <a:ea typeface="Arial"/>
                <a:cs typeface="Arial"/>
              </a:defRPr>
            </a:lvl3pPr>
            <a:lvl4pPr>
              <a:defRPr sz="1875" b="1">
                <a:solidFill>
                  <a:srgbClr val="0B7A75"/>
                </a:solidFill>
                <a:latin typeface="Arial"/>
                <a:ea typeface="Arial"/>
                <a:cs typeface="Arial"/>
              </a:defRPr>
            </a:lvl4pPr>
            <a:lvl5pPr>
              <a:defRPr sz="1875" b="1">
                <a:solidFill>
                  <a:srgbClr val="0B7A75"/>
                </a:solidFill>
                <a:latin typeface="Arial"/>
                <a:ea typeface="Arial"/>
                <a:cs typeface="Arial"/>
              </a:defRPr>
            </a:lvl5pPr>
            <a:lvl6pPr>
              <a:defRPr sz="1875" b="1">
                <a:solidFill>
                  <a:srgbClr val="0B7A75"/>
                </a:solidFill>
                <a:latin typeface="Arial"/>
                <a:ea typeface="Arial"/>
                <a:cs typeface="Arial"/>
              </a:defRPr>
            </a:lvl6pPr>
            <a:lvl7pPr>
              <a:defRPr sz="1875" b="1">
                <a:solidFill>
                  <a:srgbClr val="0B7A75"/>
                </a:solidFill>
                <a:latin typeface="Arial"/>
                <a:ea typeface="Arial"/>
                <a:cs typeface="Arial"/>
              </a:defRPr>
            </a:lvl7pPr>
            <a:lvl8pPr>
              <a:defRPr sz="1875" b="1">
                <a:solidFill>
                  <a:srgbClr val="0B7A75"/>
                </a:solidFill>
                <a:latin typeface="Arial"/>
                <a:ea typeface="Arial"/>
                <a:cs typeface="Arial"/>
              </a:defRPr>
            </a:lvl8pPr>
            <a:lvl9pPr>
              <a:defRPr sz="1875" b="1">
                <a:solidFill>
                  <a:srgbClr val="0B7A75"/>
                </a:solidFill>
                <a:latin typeface="Arial"/>
                <a:ea typeface="Arial"/>
                <a:cs typeface="Arial"/>
              </a:defRPr>
            </a:lvl9pPr>
          </a:lstStyle>
          <a:p xmlns:a="http://schemas.openxmlformats.org/drawingml/2006/main">
            <a:pPr>
              <a:defRPr sz="1875" b="1">
                <a:solidFill>
                  <a:srgbClr val="0B7A75"/>
                </a:solidFill>
                <a:latin typeface="Arial"/>
                <a:ea typeface="Arial"/>
                <a:cs typeface="Arial"/>
              </a:defRPr>
            </a:pPr>
            <a:r>
              <a:rPr sz="1875" b="1">
                <a:solidFill>
                  <a:srgbClr val="0B7A75"/>
                </a:solidFill>
                <a:latin typeface="Arial"/>
                <a:ea typeface="Arial"/>
                <a:cs typeface="Arial"/>
              </a:rPr>
              <a:t>Load assets and controls</a:t>
            </a:r>
          </a:p>
        </p:txBody>
      </p:sp>
      <p:sp>
        <p:nvSpPr>
          <p:cNvPr id="14" name="load-files">
            <a:extLst xmlns:a="http://schemas.openxmlformats.org/drawingml/2006/main">
              <a:ext uri="{FF2B5EF4-FFF2-40B4-BE49-F238E27FC236}">
                <a16:creationId xmlns:a16="http://schemas.microsoft.com/office/drawing/2014/main" id="{34803A26-7785-4F05-8466-7983DD4381FE}"/>
              </a:ext>
            </a:extLst>
          </p:cNvPr>
          <p:cNvSpPr>
            <a:spLocks xmlns:a="http://schemas.openxmlformats.org/drawingml/2006/main" noGrp="1"/>
          </p:cNvSpPr>
          <p:nvPr/>
        </p:nvSpPr>
        <p:spPr>
          <a:xfrm xmlns:a="http://schemas.openxmlformats.org/drawingml/2006/main">
            <a:off x="7124700" y="4991100"/>
            <a:ext cx="4457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42D4E"/>
                </a:solidFill>
                <a:latin typeface="Arial"/>
                <a:ea typeface="Arial"/>
                <a:cs typeface="Arial"/>
              </a:defRPr>
            </a:defPPr>
            <a:lvl1pPr>
              <a:defRPr sz="1800" b="0">
                <a:solidFill>
                  <a:srgbClr val="142D4E"/>
                </a:solidFill>
                <a:latin typeface="Arial"/>
                <a:ea typeface="Arial"/>
                <a:cs typeface="Arial"/>
              </a:defRPr>
            </a:lvl1pPr>
            <a:lvl2pPr>
              <a:defRPr sz="1800" b="0">
                <a:solidFill>
                  <a:srgbClr val="142D4E"/>
                </a:solidFill>
                <a:latin typeface="Arial"/>
                <a:ea typeface="Arial"/>
                <a:cs typeface="Arial"/>
              </a:defRPr>
            </a:lvl2pPr>
            <a:lvl3pPr>
              <a:defRPr sz="1800" b="0">
                <a:solidFill>
                  <a:srgbClr val="142D4E"/>
                </a:solidFill>
                <a:latin typeface="Arial"/>
                <a:ea typeface="Arial"/>
                <a:cs typeface="Arial"/>
              </a:defRPr>
            </a:lvl3pPr>
            <a:lvl4pPr>
              <a:defRPr sz="1800" b="0">
                <a:solidFill>
                  <a:srgbClr val="142D4E"/>
                </a:solidFill>
                <a:latin typeface="Arial"/>
                <a:ea typeface="Arial"/>
                <a:cs typeface="Arial"/>
              </a:defRPr>
            </a:lvl4pPr>
            <a:lvl5pPr>
              <a:defRPr sz="1800" b="0">
                <a:solidFill>
                  <a:srgbClr val="142D4E"/>
                </a:solidFill>
                <a:latin typeface="Arial"/>
                <a:ea typeface="Arial"/>
                <a:cs typeface="Arial"/>
              </a:defRPr>
            </a:lvl5pPr>
            <a:lvl6pPr>
              <a:defRPr sz="1800" b="0">
                <a:solidFill>
                  <a:srgbClr val="142D4E"/>
                </a:solidFill>
                <a:latin typeface="Arial"/>
                <a:ea typeface="Arial"/>
                <a:cs typeface="Arial"/>
              </a:defRPr>
            </a:lvl6pPr>
            <a:lvl7pPr>
              <a:defRPr sz="1800" b="0">
                <a:solidFill>
                  <a:srgbClr val="142D4E"/>
                </a:solidFill>
                <a:latin typeface="Arial"/>
                <a:ea typeface="Arial"/>
                <a:cs typeface="Arial"/>
              </a:defRPr>
            </a:lvl7pPr>
            <a:lvl8pPr>
              <a:defRPr sz="1800" b="0">
                <a:solidFill>
                  <a:srgbClr val="142D4E"/>
                </a:solidFill>
                <a:latin typeface="Arial"/>
                <a:ea typeface="Arial"/>
                <a:cs typeface="Arial"/>
              </a:defRPr>
            </a:lvl8pPr>
            <a:lvl9pPr>
              <a:defRPr sz="1800" b="0">
                <a:solidFill>
                  <a:srgbClr val="142D4E"/>
                </a:solidFill>
                <a:latin typeface="Arial"/>
                <a:ea typeface="Arial"/>
                <a:cs typeface="Arial"/>
              </a:defRPr>
            </a:lvl9pPr>
          </a:lstStyle>
          <a:p xmlns:a="http://schemas.openxmlformats.org/drawingml/2006/main">
            <a:pPr>
              <a:defRPr sz="1800" b="0">
                <a:solidFill>
                  <a:srgbClr val="142D4E"/>
                </a:solidFill>
                <a:latin typeface="Arial"/>
                <a:ea typeface="Arial"/>
                <a:cs typeface="Arial"/>
              </a:defRPr>
            </a:pPr>
            <a:r>
              <a:rPr sz="1800" b="0">
                <a:solidFill>
                  <a:srgbClr val="142D4E"/>
                </a:solidFill>
                <a:latin typeface="Arial"/>
                <a:ea typeface="Arial"/>
                <a:cs typeface="Arial"/>
              </a:rPr>
              <a:t>testplayer.html</a:t>
            </a:r>
          </a:p>
        </p:txBody>
      </p:sp>
      <p:sp>
        <p:nvSpPr>
          <p:cNvPr id="15" name="integration-proof">
            <a:extLst xmlns:a="http://schemas.openxmlformats.org/drawingml/2006/main">
              <a:ext uri="{FF2B5EF4-FFF2-40B4-BE49-F238E27FC236}">
                <a16:creationId xmlns:a16="http://schemas.microsoft.com/office/drawing/2014/main" id="{28C3BBC1-55F6-4187-A91C-A7686C37092F}"/>
              </a:ext>
            </a:extLst>
          </p:cNvPr>
          <p:cNvSpPr>
            <a:spLocks xmlns:a="http://schemas.openxmlformats.org/drawingml/2006/main" noGrp="1"/>
          </p:cNvSpPr>
          <p:nvPr/>
        </p:nvSpPr>
        <p:spPr>
          <a:xfrm xmlns:a="http://schemas.openxmlformats.org/drawingml/2006/main">
            <a:off x="609600" y="55721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0B7A75"/>
                </a:solidFill>
                <a:latin typeface="Arial"/>
                <a:ea typeface="Arial"/>
                <a:cs typeface="Arial"/>
              </a:defRPr>
            </a:defPPr>
            <a:lvl1pPr>
              <a:defRPr sz="2625" b="1">
                <a:solidFill>
                  <a:srgbClr val="0B7A75"/>
                </a:solidFill>
                <a:latin typeface="Arial"/>
                <a:ea typeface="Arial"/>
                <a:cs typeface="Arial"/>
              </a:defRPr>
            </a:lvl1pPr>
            <a:lvl2pPr>
              <a:defRPr sz="2625" b="1">
                <a:solidFill>
                  <a:srgbClr val="0B7A75"/>
                </a:solidFill>
                <a:latin typeface="Arial"/>
                <a:ea typeface="Arial"/>
                <a:cs typeface="Arial"/>
              </a:defRPr>
            </a:lvl2pPr>
            <a:lvl3pPr>
              <a:defRPr sz="2625" b="1">
                <a:solidFill>
                  <a:srgbClr val="0B7A75"/>
                </a:solidFill>
                <a:latin typeface="Arial"/>
                <a:ea typeface="Arial"/>
                <a:cs typeface="Arial"/>
              </a:defRPr>
            </a:lvl3pPr>
            <a:lvl4pPr>
              <a:defRPr sz="2625" b="1">
                <a:solidFill>
                  <a:srgbClr val="0B7A75"/>
                </a:solidFill>
                <a:latin typeface="Arial"/>
                <a:ea typeface="Arial"/>
                <a:cs typeface="Arial"/>
              </a:defRPr>
            </a:lvl4pPr>
            <a:lvl5pPr>
              <a:defRPr sz="2625" b="1">
                <a:solidFill>
                  <a:srgbClr val="0B7A75"/>
                </a:solidFill>
                <a:latin typeface="Arial"/>
                <a:ea typeface="Arial"/>
                <a:cs typeface="Arial"/>
              </a:defRPr>
            </a:lvl5pPr>
            <a:lvl6pPr>
              <a:defRPr sz="2625" b="1">
                <a:solidFill>
                  <a:srgbClr val="0B7A75"/>
                </a:solidFill>
                <a:latin typeface="Arial"/>
                <a:ea typeface="Arial"/>
                <a:cs typeface="Arial"/>
              </a:defRPr>
            </a:lvl6pPr>
            <a:lvl7pPr>
              <a:defRPr sz="2625" b="1">
                <a:solidFill>
                  <a:srgbClr val="0B7A75"/>
                </a:solidFill>
                <a:latin typeface="Arial"/>
                <a:ea typeface="Arial"/>
                <a:cs typeface="Arial"/>
              </a:defRPr>
            </a:lvl7pPr>
            <a:lvl8pPr>
              <a:defRPr sz="2625" b="1">
                <a:solidFill>
                  <a:srgbClr val="0B7A75"/>
                </a:solidFill>
                <a:latin typeface="Arial"/>
                <a:ea typeface="Arial"/>
                <a:cs typeface="Arial"/>
              </a:defRPr>
            </a:lvl8pPr>
            <a:lvl9pPr>
              <a:defRPr sz="2625" b="1">
                <a:solidFill>
                  <a:srgbClr val="0B7A75"/>
                </a:solidFill>
                <a:latin typeface="Arial"/>
                <a:ea typeface="Arial"/>
                <a:cs typeface="Arial"/>
              </a:defRPr>
            </a:lvl9pPr>
          </a:lstStyle>
          <a:p xmlns:a="http://schemas.openxmlformats.org/drawingml/2006/main">
            <a:pPr>
              <a:defRPr sz="2625" b="1">
                <a:solidFill>
                  <a:srgbClr val="0B7A75"/>
                </a:solidFill>
                <a:latin typeface="Arial"/>
                <a:ea typeface="Arial"/>
                <a:cs typeface="Arial"/>
              </a:defRPr>
            </a:pPr>
            <a:r>
              <a:rPr sz="2625" b="1">
                <a:solidFill>
                  <a:srgbClr val="0B7A75"/>
                </a:solidFill>
                <a:latin typeface="Arial"/>
                <a:ea typeface="Arial"/>
                <a:cs typeface="Arial"/>
              </a:rPr>
              <a:t>39 completed requests linked to 40 decisions</a:t>
            </a:r>
          </a:p>
        </p:txBody>
      </p:sp>
      <p:sp>
        <p:nvSpPr>
          <p:cNvPr id="16" name="lifecycle-proof">
            <a:extLst xmlns:a="http://schemas.openxmlformats.org/drawingml/2006/main">
              <a:ext uri="{FF2B5EF4-FFF2-40B4-BE49-F238E27FC236}">
                <a16:creationId xmlns:a16="http://schemas.microsoft.com/office/drawing/2014/main" id="{7F2142EF-F604-4A6E-8588-37A4A9FB573C}"/>
              </a:ext>
            </a:extLst>
          </p:cNvPr>
          <p:cNvSpPr>
            <a:spLocks xmlns:a="http://schemas.openxmlformats.org/drawingml/2006/main" noGrp="1"/>
          </p:cNvSpPr>
          <p:nvPr/>
        </p:nvSpPr>
        <p:spPr>
          <a:xfrm xmlns:a="http://schemas.openxmlformats.org/drawingml/2006/main">
            <a:off x="609600" y="6076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36273"/>
                </a:solidFill>
                <a:latin typeface="Arial"/>
                <a:ea typeface="Arial"/>
                <a:cs typeface="Arial"/>
              </a:defRPr>
            </a:defPPr>
            <a:lvl1pPr>
              <a:defRPr sz="1800" b="0">
                <a:solidFill>
                  <a:srgbClr val="536273"/>
                </a:solidFill>
                <a:latin typeface="Arial"/>
                <a:ea typeface="Arial"/>
                <a:cs typeface="Arial"/>
              </a:defRPr>
            </a:lvl1pPr>
            <a:lvl2pPr>
              <a:defRPr sz="1800" b="0">
                <a:solidFill>
                  <a:srgbClr val="536273"/>
                </a:solidFill>
                <a:latin typeface="Arial"/>
                <a:ea typeface="Arial"/>
                <a:cs typeface="Arial"/>
              </a:defRPr>
            </a:lvl2pPr>
            <a:lvl3pPr>
              <a:defRPr sz="1800" b="0">
                <a:solidFill>
                  <a:srgbClr val="536273"/>
                </a:solidFill>
                <a:latin typeface="Arial"/>
                <a:ea typeface="Arial"/>
                <a:cs typeface="Arial"/>
              </a:defRPr>
            </a:lvl3pPr>
            <a:lvl4pPr>
              <a:defRPr sz="1800" b="0">
                <a:solidFill>
                  <a:srgbClr val="536273"/>
                </a:solidFill>
                <a:latin typeface="Arial"/>
                <a:ea typeface="Arial"/>
                <a:cs typeface="Arial"/>
              </a:defRPr>
            </a:lvl4pPr>
            <a:lvl5pPr>
              <a:defRPr sz="1800" b="0">
                <a:solidFill>
                  <a:srgbClr val="536273"/>
                </a:solidFill>
                <a:latin typeface="Arial"/>
                <a:ea typeface="Arial"/>
                <a:cs typeface="Arial"/>
              </a:defRPr>
            </a:lvl5pPr>
            <a:lvl6pPr>
              <a:defRPr sz="1800" b="0">
                <a:solidFill>
                  <a:srgbClr val="536273"/>
                </a:solidFill>
                <a:latin typeface="Arial"/>
                <a:ea typeface="Arial"/>
                <a:cs typeface="Arial"/>
              </a:defRPr>
            </a:lvl6pPr>
            <a:lvl7pPr>
              <a:defRPr sz="1800" b="0">
                <a:solidFill>
                  <a:srgbClr val="536273"/>
                </a:solidFill>
                <a:latin typeface="Arial"/>
                <a:ea typeface="Arial"/>
                <a:cs typeface="Arial"/>
              </a:defRPr>
            </a:lvl7pPr>
            <a:lvl8pPr>
              <a:defRPr sz="1800" b="0">
                <a:solidFill>
                  <a:srgbClr val="536273"/>
                </a:solidFill>
                <a:latin typeface="Arial"/>
                <a:ea typeface="Arial"/>
                <a:cs typeface="Arial"/>
              </a:defRPr>
            </a:lvl8pPr>
            <a:lvl9pPr>
              <a:defRPr sz="1800" b="0">
                <a:solidFill>
                  <a:srgbClr val="536273"/>
                </a:solidFill>
                <a:latin typeface="Arial"/>
                <a:ea typeface="Arial"/>
                <a:cs typeface="Arial"/>
              </a:defRPr>
            </a:lvl9pPr>
          </a:lstStyle>
          <a:p xmlns:a="http://schemas.openxmlformats.org/drawingml/2006/main">
            <a:pPr>
              <a:defRPr sz="1800" b="0">
                <a:solidFill>
                  <a:srgbClr val="536273"/>
                </a:solidFill>
                <a:latin typeface="Arial"/>
                <a:ea typeface="Arial"/>
                <a:cs typeface="Arial"/>
              </a:defRPr>
            </a:pPr>
            <a:r>
              <a:rPr sz="1800" b="0">
                <a:solidFill>
                  <a:srgbClr val="536273"/>
                </a:solidFill>
                <a:latin typeface="Arial"/>
                <a:ea typeface="Arial"/>
                <a:cs typeface="Arial"/>
              </a:rPr>
              <a:t>Startup, stale input, repeated callbacks and seek/reset checks passed</a:t>
            </a:r>
          </a:p>
        </p:txBody>
      </p:sp>
    </p:spTree>
    <p:extLst>
      <p:ext uri="{BB962C8B-B14F-4D97-AF65-F5344CB8AC3E}">
        <p14:creationId xmlns:p14="http://schemas.microsoft.com/office/powerpoint/2010/main" val="3676432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7A39BB68-B596-4533-8174-F1F4507FD0B5}"/>
              </a:ext>
            </a:extLst>
          </p:cNvPr>
          <p:cNvSpPr>
            <a:spLocks xmlns:a="http://schemas.openxmlformats.org/drawingml/2006/main" noGrp="1"/>
          </p:cNvSpPr>
          <p:nvPr/>
        </p:nvSpPr>
        <p:spPr>
          <a:xfrm xmlns:a="http://schemas.openxmlformats.org/drawingml/2006/main">
            <a:off x="609600" y="4095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42D4E"/>
                </a:solidFill>
                <a:latin typeface="Arial"/>
                <a:ea typeface="Arial"/>
                <a:cs typeface="Arial"/>
              </a:defRPr>
            </a:defPPr>
            <a:lvl1pPr>
              <a:defRPr sz="3300" b="1">
                <a:solidFill>
                  <a:srgbClr val="142D4E"/>
                </a:solidFill>
                <a:latin typeface="Arial"/>
                <a:ea typeface="Arial"/>
                <a:cs typeface="Arial"/>
              </a:defRPr>
            </a:lvl1pPr>
            <a:lvl2pPr>
              <a:defRPr sz="3300" b="1">
                <a:solidFill>
                  <a:srgbClr val="142D4E"/>
                </a:solidFill>
                <a:latin typeface="Arial"/>
                <a:ea typeface="Arial"/>
                <a:cs typeface="Arial"/>
              </a:defRPr>
            </a:lvl2pPr>
            <a:lvl3pPr>
              <a:defRPr sz="3300" b="1">
                <a:solidFill>
                  <a:srgbClr val="142D4E"/>
                </a:solidFill>
                <a:latin typeface="Arial"/>
                <a:ea typeface="Arial"/>
                <a:cs typeface="Arial"/>
              </a:defRPr>
            </a:lvl3pPr>
            <a:lvl4pPr>
              <a:defRPr sz="3300" b="1">
                <a:solidFill>
                  <a:srgbClr val="142D4E"/>
                </a:solidFill>
                <a:latin typeface="Arial"/>
                <a:ea typeface="Arial"/>
                <a:cs typeface="Arial"/>
              </a:defRPr>
            </a:lvl4pPr>
            <a:lvl5pPr>
              <a:defRPr sz="3300" b="1">
                <a:solidFill>
                  <a:srgbClr val="142D4E"/>
                </a:solidFill>
                <a:latin typeface="Arial"/>
                <a:ea typeface="Arial"/>
                <a:cs typeface="Arial"/>
              </a:defRPr>
            </a:lvl5pPr>
            <a:lvl6pPr>
              <a:defRPr sz="3300" b="1">
                <a:solidFill>
                  <a:srgbClr val="142D4E"/>
                </a:solidFill>
                <a:latin typeface="Arial"/>
                <a:ea typeface="Arial"/>
                <a:cs typeface="Arial"/>
              </a:defRPr>
            </a:lvl6pPr>
            <a:lvl7pPr>
              <a:defRPr sz="3300" b="1">
                <a:solidFill>
                  <a:srgbClr val="142D4E"/>
                </a:solidFill>
                <a:latin typeface="Arial"/>
                <a:ea typeface="Arial"/>
                <a:cs typeface="Arial"/>
              </a:defRPr>
            </a:lvl7pPr>
            <a:lvl8pPr>
              <a:defRPr sz="3300" b="1">
                <a:solidFill>
                  <a:srgbClr val="142D4E"/>
                </a:solidFill>
                <a:latin typeface="Arial"/>
                <a:ea typeface="Arial"/>
                <a:cs typeface="Arial"/>
              </a:defRPr>
            </a:lvl8pPr>
            <a:lvl9pPr>
              <a:defRPr sz="3300" b="1">
                <a:solidFill>
                  <a:srgbClr val="142D4E"/>
                </a:solidFill>
                <a:latin typeface="Arial"/>
                <a:ea typeface="Arial"/>
                <a:cs typeface="Arial"/>
              </a:defRPr>
            </a:lvl9pPr>
          </a:lstStyle>
          <a:p xmlns:a="http://schemas.openxmlformats.org/drawingml/2006/main">
            <a:pPr>
              <a:defRPr sz="3300" b="1">
                <a:solidFill>
                  <a:srgbClr val="142D4E"/>
                </a:solidFill>
                <a:latin typeface="Arial"/>
                <a:ea typeface="Arial"/>
                <a:cs typeface="Arial"/>
              </a:defRPr>
            </a:pPr>
            <a:r>
              <a:rPr sz="3300" b="1">
                <a:solidFill>
                  <a:srgbClr val="142D4E"/>
                </a:solidFill>
                <a:latin typeface="Arial"/>
                <a:ea typeface="Arial"/>
                <a:cs typeface="Arial"/>
              </a:rPr>
              <a:t>Training data: sources, gaps and scenarios</a:t>
            </a:r>
          </a:p>
        </p:txBody>
      </p:sp>
      <p:sp>
        <p:nvSpPr>
          <p:cNvPr id="3" name="slide-number">
            <a:extLst xmlns:a="http://schemas.openxmlformats.org/drawingml/2006/main">
              <a:ext uri="{FF2B5EF4-FFF2-40B4-BE49-F238E27FC236}">
                <a16:creationId xmlns:a16="http://schemas.microsoft.com/office/drawing/2014/main" id="{2A81F140-6305-40B2-9FA7-C05577FDF035}"/>
              </a:ext>
            </a:extLst>
          </p:cNvPr>
          <p:cNvSpPr>
            <a:spLocks xmlns:a="http://schemas.openxmlformats.org/drawingml/2006/main" noGrp="1"/>
          </p:cNvSpPr>
          <p:nvPr/>
        </p:nvSpPr>
        <p:spPr>
          <a:xfrm xmlns:a="http://schemas.openxmlformats.org/drawingml/2006/main">
            <a:off x="11163300" y="64198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36273"/>
                </a:solidFill>
                <a:latin typeface="Arial"/>
                <a:ea typeface="Arial"/>
                <a:cs typeface="Arial"/>
              </a:defRPr>
            </a:defPPr>
            <a:lvl1pPr>
              <a:defRPr sz="1650" b="0">
                <a:solidFill>
                  <a:srgbClr val="536273"/>
                </a:solidFill>
                <a:latin typeface="Arial"/>
                <a:ea typeface="Arial"/>
                <a:cs typeface="Arial"/>
              </a:defRPr>
            </a:lvl1pPr>
            <a:lvl2pPr>
              <a:defRPr sz="1650" b="0">
                <a:solidFill>
                  <a:srgbClr val="536273"/>
                </a:solidFill>
                <a:latin typeface="Arial"/>
                <a:ea typeface="Arial"/>
                <a:cs typeface="Arial"/>
              </a:defRPr>
            </a:lvl2pPr>
            <a:lvl3pPr>
              <a:defRPr sz="1650" b="0">
                <a:solidFill>
                  <a:srgbClr val="536273"/>
                </a:solidFill>
                <a:latin typeface="Arial"/>
                <a:ea typeface="Arial"/>
                <a:cs typeface="Arial"/>
              </a:defRPr>
            </a:lvl3pPr>
            <a:lvl4pPr>
              <a:defRPr sz="1650" b="0">
                <a:solidFill>
                  <a:srgbClr val="536273"/>
                </a:solidFill>
                <a:latin typeface="Arial"/>
                <a:ea typeface="Arial"/>
                <a:cs typeface="Arial"/>
              </a:defRPr>
            </a:lvl4pPr>
            <a:lvl5pPr>
              <a:defRPr sz="1650" b="0">
                <a:solidFill>
                  <a:srgbClr val="536273"/>
                </a:solidFill>
                <a:latin typeface="Arial"/>
                <a:ea typeface="Arial"/>
                <a:cs typeface="Arial"/>
              </a:defRPr>
            </a:lvl5pPr>
            <a:lvl6pPr>
              <a:defRPr sz="1650" b="0">
                <a:solidFill>
                  <a:srgbClr val="536273"/>
                </a:solidFill>
                <a:latin typeface="Arial"/>
                <a:ea typeface="Arial"/>
                <a:cs typeface="Arial"/>
              </a:defRPr>
            </a:lvl6pPr>
            <a:lvl7pPr>
              <a:defRPr sz="1650" b="0">
                <a:solidFill>
                  <a:srgbClr val="536273"/>
                </a:solidFill>
                <a:latin typeface="Arial"/>
                <a:ea typeface="Arial"/>
                <a:cs typeface="Arial"/>
              </a:defRPr>
            </a:lvl7pPr>
            <a:lvl8pPr>
              <a:defRPr sz="1650" b="0">
                <a:solidFill>
                  <a:srgbClr val="536273"/>
                </a:solidFill>
                <a:latin typeface="Arial"/>
                <a:ea typeface="Arial"/>
                <a:cs typeface="Arial"/>
              </a:defRPr>
            </a:lvl8pPr>
            <a:lvl9pPr>
              <a:defRPr sz="1650" b="0">
                <a:solidFill>
                  <a:srgbClr val="536273"/>
                </a:solidFill>
                <a:latin typeface="Arial"/>
                <a:ea typeface="Arial"/>
                <a:cs typeface="Arial"/>
              </a:defRPr>
            </a:lvl9pPr>
          </a:lstStyle>
          <a:p xmlns:a="http://schemas.openxmlformats.org/drawingml/2006/main">
            <a:pPr>
              <a:defRPr sz="1650" b="0">
                <a:solidFill>
                  <a:srgbClr val="536273"/>
                </a:solidFill>
                <a:latin typeface="Arial"/>
                <a:ea typeface="Arial"/>
                <a:cs typeface="Arial"/>
              </a:defRPr>
            </a:pPr>
            <a:r>
              <a:rPr sz="1650" b="0">
                <a:solidFill>
                  <a:srgbClr val="536273"/>
                </a:solidFill>
                <a:latin typeface="Arial"/>
                <a:ea typeface="Arial"/>
                <a:cs typeface="Arial"/>
              </a:rPr>
              <a:t>05</a:t>
            </a:r>
          </a:p>
        </p:txBody>
      </p:sp>
      <p:sp>
        <p:nvSpPr>
          <p:cNvPr id="4" name="why-head">
            <a:extLst xmlns:a="http://schemas.openxmlformats.org/drawingml/2006/main">
              <a:ext uri="{FF2B5EF4-FFF2-40B4-BE49-F238E27FC236}">
                <a16:creationId xmlns:a16="http://schemas.microsoft.com/office/drawing/2014/main" id="{A7722D51-6953-411C-A2EA-4C179A3E5323}"/>
              </a:ext>
            </a:extLst>
          </p:cNvPr>
          <p:cNvSpPr>
            <a:spLocks xmlns:a="http://schemas.openxmlformats.org/drawingml/2006/main" noGrp="1"/>
          </p:cNvSpPr>
          <p:nvPr/>
        </p:nvSpPr>
        <p:spPr>
          <a:xfrm xmlns:a="http://schemas.openxmlformats.org/drawingml/2006/main">
            <a:off x="609600" y="13811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0B7A75"/>
                </a:solidFill>
                <a:latin typeface="Arial"/>
                <a:ea typeface="Arial"/>
                <a:cs typeface="Arial"/>
              </a:defRPr>
            </a:defPPr>
            <a:lvl1pPr>
              <a:defRPr sz="2325" b="1">
                <a:solidFill>
                  <a:srgbClr val="0B7A75"/>
                </a:solidFill>
                <a:latin typeface="Arial"/>
                <a:ea typeface="Arial"/>
                <a:cs typeface="Arial"/>
              </a:defRPr>
            </a:lvl1pPr>
            <a:lvl2pPr>
              <a:defRPr sz="2325" b="1">
                <a:solidFill>
                  <a:srgbClr val="0B7A75"/>
                </a:solidFill>
                <a:latin typeface="Arial"/>
                <a:ea typeface="Arial"/>
                <a:cs typeface="Arial"/>
              </a:defRPr>
            </a:lvl2pPr>
            <a:lvl3pPr>
              <a:defRPr sz="2325" b="1">
                <a:solidFill>
                  <a:srgbClr val="0B7A75"/>
                </a:solidFill>
                <a:latin typeface="Arial"/>
                <a:ea typeface="Arial"/>
                <a:cs typeface="Arial"/>
              </a:defRPr>
            </a:lvl3pPr>
            <a:lvl4pPr>
              <a:defRPr sz="2325" b="1">
                <a:solidFill>
                  <a:srgbClr val="0B7A75"/>
                </a:solidFill>
                <a:latin typeface="Arial"/>
                <a:ea typeface="Arial"/>
                <a:cs typeface="Arial"/>
              </a:defRPr>
            </a:lvl4pPr>
            <a:lvl5pPr>
              <a:defRPr sz="2325" b="1">
                <a:solidFill>
                  <a:srgbClr val="0B7A75"/>
                </a:solidFill>
                <a:latin typeface="Arial"/>
                <a:ea typeface="Arial"/>
                <a:cs typeface="Arial"/>
              </a:defRPr>
            </a:lvl5pPr>
            <a:lvl6pPr>
              <a:defRPr sz="2325" b="1">
                <a:solidFill>
                  <a:srgbClr val="0B7A75"/>
                </a:solidFill>
                <a:latin typeface="Arial"/>
                <a:ea typeface="Arial"/>
                <a:cs typeface="Arial"/>
              </a:defRPr>
            </a:lvl6pPr>
            <a:lvl7pPr>
              <a:defRPr sz="2325" b="1">
                <a:solidFill>
                  <a:srgbClr val="0B7A75"/>
                </a:solidFill>
                <a:latin typeface="Arial"/>
                <a:ea typeface="Arial"/>
                <a:cs typeface="Arial"/>
              </a:defRPr>
            </a:lvl7pPr>
            <a:lvl8pPr>
              <a:defRPr sz="2325" b="1">
                <a:solidFill>
                  <a:srgbClr val="0B7A75"/>
                </a:solidFill>
                <a:latin typeface="Arial"/>
                <a:ea typeface="Arial"/>
                <a:cs typeface="Arial"/>
              </a:defRPr>
            </a:lvl8pPr>
            <a:lvl9pPr>
              <a:defRPr sz="2325" b="1">
                <a:solidFill>
                  <a:srgbClr val="0B7A75"/>
                </a:solidFill>
                <a:latin typeface="Arial"/>
                <a:ea typeface="Arial"/>
                <a:cs typeface="Arial"/>
              </a:defRPr>
            </a:lvl9pPr>
          </a:lstStyle>
          <a:p xmlns:a="http://schemas.openxmlformats.org/drawingml/2006/main">
            <a:pPr>
              <a:defRPr sz="2325" b="1">
                <a:solidFill>
                  <a:srgbClr val="0B7A75"/>
                </a:solidFill>
                <a:latin typeface="Arial"/>
                <a:ea typeface="Arial"/>
                <a:cs typeface="Arial"/>
              </a:defRPr>
            </a:pPr>
            <a:r>
              <a:rPr sz="2325" b="1">
                <a:solidFill>
                  <a:srgbClr val="0B7A75"/>
                </a:solidFill>
                <a:latin typeface="Arial"/>
                <a:ea typeface="Arial"/>
                <a:cs typeface="Arial"/>
              </a:rPr>
              <a:t>Why the supplied data is insufficient</a:t>
            </a:r>
          </a:p>
        </p:txBody>
      </p:sp>
      <p:sp>
        <p:nvSpPr>
          <p:cNvPr id="5" name="why-text">
            <a:extLst xmlns:a="http://schemas.openxmlformats.org/drawingml/2006/main">
              <a:ext uri="{FF2B5EF4-FFF2-40B4-BE49-F238E27FC236}">
                <a16:creationId xmlns:a16="http://schemas.microsoft.com/office/drawing/2014/main" id="{DAE5C4BC-6BD8-4DC4-BEEA-078DD448F563}"/>
              </a:ext>
            </a:extLst>
          </p:cNvPr>
          <p:cNvSpPr>
            <a:spLocks xmlns:a="http://schemas.openxmlformats.org/drawingml/2006/main" noGrp="1"/>
          </p:cNvSpPr>
          <p:nvPr/>
        </p:nvSpPr>
        <p:spPr>
          <a:xfrm xmlns:a="http://schemas.openxmlformats.org/drawingml/2006/main">
            <a:off x="609600" y="1924050"/>
            <a:ext cx="52387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42D4E"/>
                </a:solidFill>
                <a:latin typeface="Arial"/>
                <a:ea typeface="Arial"/>
                <a:cs typeface="Arial"/>
              </a:defRPr>
            </a:defPPr>
            <a:lvl1pPr>
              <a:defRPr sz="2025" b="0">
                <a:solidFill>
                  <a:srgbClr val="142D4E"/>
                </a:solidFill>
                <a:latin typeface="Arial"/>
                <a:ea typeface="Arial"/>
                <a:cs typeface="Arial"/>
              </a:defRPr>
            </a:lvl1pPr>
            <a:lvl2pPr>
              <a:defRPr sz="2025" b="0">
                <a:solidFill>
                  <a:srgbClr val="142D4E"/>
                </a:solidFill>
                <a:latin typeface="Arial"/>
                <a:ea typeface="Arial"/>
                <a:cs typeface="Arial"/>
              </a:defRPr>
            </a:lvl2pPr>
            <a:lvl3pPr>
              <a:defRPr sz="2025" b="0">
                <a:solidFill>
                  <a:srgbClr val="142D4E"/>
                </a:solidFill>
                <a:latin typeface="Arial"/>
                <a:ea typeface="Arial"/>
                <a:cs typeface="Arial"/>
              </a:defRPr>
            </a:lvl3pPr>
            <a:lvl4pPr>
              <a:defRPr sz="2025" b="0">
                <a:solidFill>
                  <a:srgbClr val="142D4E"/>
                </a:solidFill>
                <a:latin typeface="Arial"/>
                <a:ea typeface="Arial"/>
                <a:cs typeface="Arial"/>
              </a:defRPr>
            </a:lvl4pPr>
            <a:lvl5pPr>
              <a:defRPr sz="2025" b="0">
                <a:solidFill>
                  <a:srgbClr val="142D4E"/>
                </a:solidFill>
                <a:latin typeface="Arial"/>
                <a:ea typeface="Arial"/>
                <a:cs typeface="Arial"/>
              </a:defRPr>
            </a:lvl5pPr>
            <a:lvl6pPr>
              <a:defRPr sz="2025" b="0">
                <a:solidFill>
                  <a:srgbClr val="142D4E"/>
                </a:solidFill>
                <a:latin typeface="Arial"/>
                <a:ea typeface="Arial"/>
                <a:cs typeface="Arial"/>
              </a:defRPr>
            </a:lvl6pPr>
            <a:lvl7pPr>
              <a:defRPr sz="2025" b="0">
                <a:solidFill>
                  <a:srgbClr val="142D4E"/>
                </a:solidFill>
                <a:latin typeface="Arial"/>
                <a:ea typeface="Arial"/>
                <a:cs typeface="Arial"/>
              </a:defRPr>
            </a:lvl7pPr>
            <a:lvl8pPr>
              <a:defRPr sz="2025" b="0">
                <a:solidFill>
                  <a:srgbClr val="142D4E"/>
                </a:solidFill>
                <a:latin typeface="Arial"/>
                <a:ea typeface="Arial"/>
                <a:cs typeface="Arial"/>
              </a:defRPr>
            </a:lvl8pPr>
            <a:lvl9pPr>
              <a:defRPr sz="2025" b="0">
                <a:solidFill>
                  <a:srgbClr val="142D4E"/>
                </a:solidFill>
                <a:latin typeface="Arial"/>
                <a:ea typeface="Arial"/>
                <a:cs typeface="Arial"/>
              </a:defRPr>
            </a:lvl9pPr>
          </a:lstStyle>
          <a:p xmlns:a="http://schemas.openxmlformats.org/drawingml/2006/main">
            <a:pPr>
              <a:defRPr sz="2025" b="0">
                <a:solidFill>
                  <a:srgbClr val="142D4E"/>
                </a:solidFill>
                <a:latin typeface="Arial"/>
                <a:ea typeface="Arial"/>
                <a:cs typeface="Arial"/>
              </a:defRPr>
            </a:pPr>
            <a:r>
              <a:rPr sz="2025" b="0">
                <a:solidFill>
                  <a:srgbClr val="142D4E"/>
                </a:solidFill>
                <a:latin typeface="Arial"/>
                <a:ea typeface="Arial"/>
                <a:cs typeface="Arial"/>
              </a:rPr>
              <a:t>One RTT hour, duplicated as a replay CSV</a:t>
            </a:r>
          </a:p>
          <a:p xmlns:a="http://schemas.openxmlformats.org/drawingml/2006/main">
            <a:pPr>
              <a:defRPr sz="2025" b="0">
                <a:solidFill>
                  <a:srgbClr val="142D4E"/>
                </a:solidFill>
                <a:latin typeface="Arial"/>
                <a:ea typeface="Arial"/>
                <a:cs typeface="Arial"/>
              </a:defRPr>
            </a:pPr>
            <a:r>
              <a:rPr sz="2025" b="0">
                <a:solidFill>
                  <a:srgbClr val="142D4E"/>
                </a:solidFill>
                <a:latin typeface="Arial"/>
                <a:ea typeface="Arial"/>
                <a:cs typeface="Arial"/>
              </a:rPr>
              <a:t>Two short throughput runs</a:t>
            </a:r>
          </a:p>
          <a:p xmlns:a="http://schemas.openxmlformats.org/drawingml/2006/main">
            <a:pPr>
              <a:defRPr sz="2025" b="0">
                <a:solidFill>
                  <a:srgbClr val="142D4E"/>
                </a:solidFill>
                <a:latin typeface="Arial"/>
                <a:ea typeface="Arial"/>
                <a:cs typeface="Arial"/>
              </a:defRPr>
            </a:pPr>
            <a:r>
              <a:rPr sz="2025" b="0">
                <a:solidFill>
                  <a:srgbClr val="142D4E"/>
                </a:solidFill>
                <a:latin typeface="Arial"/>
                <a:ea typeface="Arial"/>
                <a:cs typeface="Arial"/>
              </a:rPr>
              <a:t>Little diversity across days and locations</a:t>
            </a:r>
          </a:p>
        </p:txBody>
      </p:sp>
      <p:sp>
        <p:nvSpPr>
          <p:cNvPr id="6" name="source-head">
            <a:extLst xmlns:a="http://schemas.openxmlformats.org/drawingml/2006/main">
              <a:ext uri="{FF2B5EF4-FFF2-40B4-BE49-F238E27FC236}">
                <a16:creationId xmlns:a16="http://schemas.microsoft.com/office/drawing/2014/main" id="{8D19CF77-739A-44F2-B5F0-D21C4B95092A}"/>
              </a:ext>
            </a:extLst>
          </p:cNvPr>
          <p:cNvSpPr>
            <a:spLocks xmlns:a="http://schemas.openxmlformats.org/drawingml/2006/main" noGrp="1"/>
          </p:cNvSpPr>
          <p:nvPr/>
        </p:nvSpPr>
        <p:spPr>
          <a:xfrm xmlns:a="http://schemas.openxmlformats.org/drawingml/2006/main">
            <a:off x="6572250" y="1381125"/>
            <a:ext cx="5010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0B7A75"/>
                </a:solidFill>
                <a:latin typeface="Arial"/>
                <a:ea typeface="Arial"/>
                <a:cs typeface="Arial"/>
              </a:defRPr>
            </a:defPPr>
            <a:lvl1pPr>
              <a:defRPr sz="2325" b="1">
                <a:solidFill>
                  <a:srgbClr val="0B7A75"/>
                </a:solidFill>
                <a:latin typeface="Arial"/>
                <a:ea typeface="Arial"/>
                <a:cs typeface="Arial"/>
              </a:defRPr>
            </a:lvl1pPr>
            <a:lvl2pPr>
              <a:defRPr sz="2325" b="1">
                <a:solidFill>
                  <a:srgbClr val="0B7A75"/>
                </a:solidFill>
                <a:latin typeface="Arial"/>
                <a:ea typeface="Arial"/>
                <a:cs typeface="Arial"/>
              </a:defRPr>
            </a:lvl2pPr>
            <a:lvl3pPr>
              <a:defRPr sz="2325" b="1">
                <a:solidFill>
                  <a:srgbClr val="0B7A75"/>
                </a:solidFill>
                <a:latin typeface="Arial"/>
                <a:ea typeface="Arial"/>
                <a:cs typeface="Arial"/>
              </a:defRPr>
            </a:lvl3pPr>
            <a:lvl4pPr>
              <a:defRPr sz="2325" b="1">
                <a:solidFill>
                  <a:srgbClr val="0B7A75"/>
                </a:solidFill>
                <a:latin typeface="Arial"/>
                <a:ea typeface="Arial"/>
                <a:cs typeface="Arial"/>
              </a:defRPr>
            </a:lvl4pPr>
            <a:lvl5pPr>
              <a:defRPr sz="2325" b="1">
                <a:solidFill>
                  <a:srgbClr val="0B7A75"/>
                </a:solidFill>
                <a:latin typeface="Arial"/>
                <a:ea typeface="Arial"/>
                <a:cs typeface="Arial"/>
              </a:defRPr>
            </a:lvl5pPr>
            <a:lvl6pPr>
              <a:defRPr sz="2325" b="1">
                <a:solidFill>
                  <a:srgbClr val="0B7A75"/>
                </a:solidFill>
                <a:latin typeface="Arial"/>
                <a:ea typeface="Arial"/>
                <a:cs typeface="Arial"/>
              </a:defRPr>
            </a:lvl6pPr>
            <a:lvl7pPr>
              <a:defRPr sz="2325" b="1">
                <a:solidFill>
                  <a:srgbClr val="0B7A75"/>
                </a:solidFill>
                <a:latin typeface="Arial"/>
                <a:ea typeface="Arial"/>
                <a:cs typeface="Arial"/>
              </a:defRPr>
            </a:lvl7pPr>
            <a:lvl8pPr>
              <a:defRPr sz="2325" b="1">
                <a:solidFill>
                  <a:srgbClr val="0B7A75"/>
                </a:solidFill>
                <a:latin typeface="Arial"/>
                <a:ea typeface="Arial"/>
                <a:cs typeface="Arial"/>
              </a:defRPr>
            </a:lvl8pPr>
            <a:lvl9pPr>
              <a:defRPr sz="2325" b="1">
                <a:solidFill>
                  <a:srgbClr val="0B7A75"/>
                </a:solidFill>
                <a:latin typeface="Arial"/>
                <a:ea typeface="Arial"/>
                <a:cs typeface="Arial"/>
              </a:defRPr>
            </a:lvl9pPr>
          </a:lstStyle>
          <a:p xmlns:a="http://schemas.openxmlformats.org/drawingml/2006/main">
            <a:pPr>
              <a:defRPr sz="2325" b="1">
                <a:solidFill>
                  <a:srgbClr val="0B7A75"/>
                </a:solidFill>
                <a:latin typeface="Arial"/>
                <a:ea typeface="Arial"/>
                <a:cs typeface="Arial"/>
              </a:defRPr>
            </a:pPr>
            <a:r>
              <a:rPr sz="2325" b="1">
                <a:solidFill>
                  <a:srgbClr val="0B7A75"/>
                </a:solidFill>
                <a:latin typeface="Arial"/>
                <a:ea typeface="Arial"/>
                <a:cs typeface="Arial"/>
              </a:rPr>
              <a:t>Where we obtained more coverage</a:t>
            </a:r>
          </a:p>
        </p:txBody>
      </p:sp>
      <p:sp>
        <p:nvSpPr>
          <p:cNvPr id="7" name="source-text">
            <a:extLst xmlns:a="http://schemas.openxmlformats.org/drawingml/2006/main">
              <a:ext uri="{FF2B5EF4-FFF2-40B4-BE49-F238E27FC236}">
                <a16:creationId xmlns:a16="http://schemas.microsoft.com/office/drawing/2014/main" id="{0C581D09-1B23-45C4-9CD7-203B73C831A8}"/>
              </a:ext>
            </a:extLst>
          </p:cNvPr>
          <p:cNvSpPr>
            <a:spLocks xmlns:a="http://schemas.openxmlformats.org/drawingml/2006/main" noGrp="1"/>
          </p:cNvSpPr>
          <p:nvPr/>
        </p:nvSpPr>
        <p:spPr>
          <a:xfrm xmlns:a="http://schemas.openxmlformats.org/drawingml/2006/main">
            <a:off x="6572250" y="1924050"/>
            <a:ext cx="50101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42D4E"/>
                </a:solidFill>
                <a:latin typeface="Arial"/>
                <a:ea typeface="Arial"/>
                <a:cs typeface="Arial"/>
              </a:defRPr>
            </a:defPPr>
            <a:lvl1pPr>
              <a:defRPr sz="2025" b="0">
                <a:solidFill>
                  <a:srgbClr val="142D4E"/>
                </a:solidFill>
                <a:latin typeface="Arial"/>
                <a:ea typeface="Arial"/>
                <a:cs typeface="Arial"/>
              </a:defRPr>
            </a:lvl1pPr>
            <a:lvl2pPr>
              <a:defRPr sz="2025" b="0">
                <a:solidFill>
                  <a:srgbClr val="142D4E"/>
                </a:solidFill>
                <a:latin typeface="Arial"/>
                <a:ea typeface="Arial"/>
                <a:cs typeface="Arial"/>
              </a:defRPr>
            </a:lvl2pPr>
            <a:lvl3pPr>
              <a:defRPr sz="2025" b="0">
                <a:solidFill>
                  <a:srgbClr val="142D4E"/>
                </a:solidFill>
                <a:latin typeface="Arial"/>
                <a:ea typeface="Arial"/>
                <a:cs typeface="Arial"/>
              </a:defRPr>
            </a:lvl3pPr>
            <a:lvl4pPr>
              <a:defRPr sz="2025" b="0">
                <a:solidFill>
                  <a:srgbClr val="142D4E"/>
                </a:solidFill>
                <a:latin typeface="Arial"/>
                <a:ea typeface="Arial"/>
                <a:cs typeface="Arial"/>
              </a:defRPr>
            </a:lvl4pPr>
            <a:lvl5pPr>
              <a:defRPr sz="2025" b="0">
                <a:solidFill>
                  <a:srgbClr val="142D4E"/>
                </a:solidFill>
                <a:latin typeface="Arial"/>
                <a:ea typeface="Arial"/>
                <a:cs typeface="Arial"/>
              </a:defRPr>
            </a:lvl5pPr>
            <a:lvl6pPr>
              <a:defRPr sz="2025" b="0">
                <a:solidFill>
                  <a:srgbClr val="142D4E"/>
                </a:solidFill>
                <a:latin typeface="Arial"/>
                <a:ea typeface="Arial"/>
                <a:cs typeface="Arial"/>
              </a:defRPr>
            </a:lvl6pPr>
            <a:lvl7pPr>
              <a:defRPr sz="2025" b="0">
                <a:solidFill>
                  <a:srgbClr val="142D4E"/>
                </a:solidFill>
                <a:latin typeface="Arial"/>
                <a:ea typeface="Arial"/>
                <a:cs typeface="Arial"/>
              </a:defRPr>
            </a:lvl7pPr>
            <a:lvl8pPr>
              <a:defRPr sz="2025" b="0">
                <a:solidFill>
                  <a:srgbClr val="142D4E"/>
                </a:solidFill>
                <a:latin typeface="Arial"/>
                <a:ea typeface="Arial"/>
                <a:cs typeface="Arial"/>
              </a:defRPr>
            </a:lvl8pPr>
            <a:lvl9pPr>
              <a:defRPr sz="2025" b="0">
                <a:solidFill>
                  <a:srgbClr val="142D4E"/>
                </a:solidFill>
                <a:latin typeface="Arial"/>
                <a:ea typeface="Arial"/>
                <a:cs typeface="Arial"/>
              </a:defRPr>
            </a:lvl9pPr>
          </a:lstStyle>
          <a:p xmlns:a="http://schemas.openxmlformats.org/drawingml/2006/main">
            <a:pPr>
              <a:defRPr sz="2025" b="0">
                <a:solidFill>
                  <a:srgbClr val="142D4E"/>
                </a:solidFill>
                <a:latin typeface="Arial"/>
                <a:ea typeface="Arial"/>
                <a:cs typeface="Arial"/>
              </a:defRPr>
            </a:pPr>
            <a:r>
              <a:rPr sz="2025" b="0">
                <a:solidFill>
                  <a:srgbClr val="142D4E"/>
                </a:solidFill>
                <a:latin typeface="Arial"/>
                <a:ea typeface="Arial"/>
                <a:cs typeface="Arial"/>
              </a:rPr>
              <a:t>Supplied Seychelles RTT recording</a:t>
            </a:r>
          </a:p>
          <a:p xmlns:a="http://schemas.openxmlformats.org/drawingml/2006/main">
            <a:pPr>
              <a:defRPr sz="2025" b="0">
                <a:solidFill>
                  <a:srgbClr val="142D4E"/>
                </a:solidFill>
                <a:latin typeface="Arial"/>
                <a:ea typeface="Arial"/>
                <a:cs typeface="Arial"/>
              </a:defRPr>
            </a:pPr>
            <a:r>
              <a:rPr sz="2025" b="0">
                <a:solidFill>
                  <a:srgbClr val="142D4E"/>
                </a:solidFill>
                <a:latin typeface="Arial"/>
                <a:ea typeface="Arial"/>
                <a:cs typeface="Arial"/>
              </a:rPr>
              <a:t>Public LENS Victoria IRTT session</a:t>
            </a:r>
          </a:p>
          <a:p xmlns:a="http://schemas.openxmlformats.org/drawingml/2006/main">
            <a:pPr>
              <a:defRPr sz="2025" b="0">
                <a:solidFill>
                  <a:srgbClr val="142D4E"/>
                </a:solidFill>
                <a:latin typeface="Arial"/>
                <a:ea typeface="Arial"/>
                <a:cs typeface="Arial"/>
              </a:defRPr>
            </a:pPr>
            <a:r>
              <a:rPr sz="2025" b="0">
                <a:solidFill>
                  <a:srgbClr val="142D4E"/>
                </a:solidFill>
                <a:latin typeface="Arial"/>
                <a:ea typeface="Arial"/>
                <a:cs typeface="Arial"/>
              </a:rPr>
              <a:t>Generated capacity and outage profiles</a:t>
            </a:r>
          </a:p>
        </p:txBody>
      </p:sp>
      <p:sp>
        <p:nvSpPr>
          <p:cNvPr id="8" name="mechanism-head">
            <a:extLst xmlns:a="http://schemas.openxmlformats.org/drawingml/2006/main">
              <a:ext uri="{FF2B5EF4-FFF2-40B4-BE49-F238E27FC236}">
                <a16:creationId xmlns:a16="http://schemas.microsoft.com/office/drawing/2014/main" id="{D3EEE6E2-9C06-4F3B-A637-682368DBE960}"/>
              </a:ext>
            </a:extLst>
          </p:cNvPr>
          <p:cNvSpPr>
            <a:spLocks xmlns:a="http://schemas.openxmlformats.org/drawingml/2006/main" noGrp="1"/>
          </p:cNvSpPr>
          <p:nvPr/>
        </p:nvSpPr>
        <p:spPr>
          <a:xfrm xmlns:a="http://schemas.openxmlformats.org/drawingml/2006/main">
            <a:off x="609600" y="34766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42D4E"/>
                </a:solidFill>
                <a:latin typeface="Arial"/>
                <a:ea typeface="Arial"/>
                <a:cs typeface="Arial"/>
              </a:defRPr>
            </a:defPPr>
            <a:lvl1pPr>
              <a:defRPr sz="2325" b="1">
                <a:solidFill>
                  <a:srgbClr val="142D4E"/>
                </a:solidFill>
                <a:latin typeface="Arial"/>
                <a:ea typeface="Arial"/>
                <a:cs typeface="Arial"/>
              </a:defRPr>
            </a:lvl1pPr>
            <a:lvl2pPr>
              <a:defRPr sz="2325" b="1">
                <a:solidFill>
                  <a:srgbClr val="142D4E"/>
                </a:solidFill>
                <a:latin typeface="Arial"/>
                <a:ea typeface="Arial"/>
                <a:cs typeface="Arial"/>
              </a:defRPr>
            </a:lvl2pPr>
            <a:lvl3pPr>
              <a:defRPr sz="2325" b="1">
                <a:solidFill>
                  <a:srgbClr val="142D4E"/>
                </a:solidFill>
                <a:latin typeface="Arial"/>
                <a:ea typeface="Arial"/>
                <a:cs typeface="Arial"/>
              </a:defRPr>
            </a:lvl3pPr>
            <a:lvl4pPr>
              <a:defRPr sz="2325" b="1">
                <a:solidFill>
                  <a:srgbClr val="142D4E"/>
                </a:solidFill>
                <a:latin typeface="Arial"/>
                <a:ea typeface="Arial"/>
                <a:cs typeface="Arial"/>
              </a:defRPr>
            </a:lvl4pPr>
            <a:lvl5pPr>
              <a:defRPr sz="2325" b="1">
                <a:solidFill>
                  <a:srgbClr val="142D4E"/>
                </a:solidFill>
                <a:latin typeface="Arial"/>
                <a:ea typeface="Arial"/>
                <a:cs typeface="Arial"/>
              </a:defRPr>
            </a:lvl5pPr>
            <a:lvl6pPr>
              <a:defRPr sz="2325" b="1">
                <a:solidFill>
                  <a:srgbClr val="142D4E"/>
                </a:solidFill>
                <a:latin typeface="Arial"/>
                <a:ea typeface="Arial"/>
                <a:cs typeface="Arial"/>
              </a:defRPr>
            </a:lvl6pPr>
            <a:lvl7pPr>
              <a:defRPr sz="2325" b="1">
                <a:solidFill>
                  <a:srgbClr val="142D4E"/>
                </a:solidFill>
                <a:latin typeface="Arial"/>
                <a:ea typeface="Arial"/>
                <a:cs typeface="Arial"/>
              </a:defRPr>
            </a:lvl7pPr>
            <a:lvl8pPr>
              <a:defRPr sz="2325" b="1">
                <a:solidFill>
                  <a:srgbClr val="142D4E"/>
                </a:solidFill>
                <a:latin typeface="Arial"/>
                <a:ea typeface="Arial"/>
                <a:cs typeface="Arial"/>
              </a:defRPr>
            </a:lvl8pPr>
            <a:lvl9pPr>
              <a:defRPr sz="2325" b="1">
                <a:solidFill>
                  <a:srgbClr val="142D4E"/>
                </a:solidFill>
                <a:latin typeface="Arial"/>
                <a:ea typeface="Arial"/>
                <a:cs typeface="Arial"/>
              </a:defRPr>
            </a:lvl9pPr>
          </a:lstStyle>
          <a:p xmlns:a="http://schemas.openxmlformats.org/drawingml/2006/main">
            <a:pPr>
              <a:defRPr sz="2325" b="1">
                <a:solidFill>
                  <a:srgbClr val="142D4E"/>
                </a:solidFill>
                <a:latin typeface="Arial"/>
                <a:ea typeface="Arial"/>
                <a:cs typeface="Arial"/>
              </a:defRPr>
            </a:pPr>
            <a:r>
              <a:rPr sz="2325" b="1">
                <a:solidFill>
                  <a:srgbClr val="142D4E"/>
                </a:solidFill>
                <a:latin typeface="Arial"/>
                <a:ea typeface="Arial"/>
                <a:cs typeface="Arial"/>
              </a:rPr>
              <a:t>Split first, then generate scenario windows</a:t>
            </a:r>
          </a:p>
        </p:txBody>
      </p:sp>
      <p:sp>
        <p:nvSpPr>
          <p:cNvPr id="9" name="mechanism">
            <a:extLst xmlns:a="http://schemas.openxmlformats.org/drawingml/2006/main">
              <a:ext uri="{FF2B5EF4-FFF2-40B4-BE49-F238E27FC236}">
                <a16:creationId xmlns:a16="http://schemas.microsoft.com/office/drawing/2014/main" id="{D74FBE02-E2E1-4892-9F62-26227CC6E1E8}"/>
              </a:ext>
            </a:extLst>
          </p:cNvPr>
          <p:cNvSpPr>
            <a:spLocks xmlns:a="http://schemas.openxmlformats.org/drawingml/2006/main" noGrp="1"/>
          </p:cNvSpPr>
          <p:nvPr/>
        </p:nvSpPr>
        <p:spPr>
          <a:xfrm xmlns:a="http://schemas.openxmlformats.org/drawingml/2006/main">
            <a:off x="609600" y="3952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36273"/>
                </a:solidFill>
                <a:latin typeface="Arial"/>
                <a:ea typeface="Arial"/>
                <a:cs typeface="Arial"/>
              </a:defRPr>
            </a:defPPr>
            <a:lvl1pPr>
              <a:defRPr sz="2100" b="0">
                <a:solidFill>
                  <a:srgbClr val="536273"/>
                </a:solidFill>
                <a:latin typeface="Arial"/>
                <a:ea typeface="Arial"/>
                <a:cs typeface="Arial"/>
              </a:defRPr>
            </a:lvl1pPr>
            <a:lvl2pPr>
              <a:defRPr sz="2100" b="0">
                <a:solidFill>
                  <a:srgbClr val="536273"/>
                </a:solidFill>
                <a:latin typeface="Arial"/>
                <a:ea typeface="Arial"/>
                <a:cs typeface="Arial"/>
              </a:defRPr>
            </a:lvl2pPr>
            <a:lvl3pPr>
              <a:defRPr sz="2100" b="0">
                <a:solidFill>
                  <a:srgbClr val="536273"/>
                </a:solidFill>
                <a:latin typeface="Arial"/>
                <a:ea typeface="Arial"/>
                <a:cs typeface="Arial"/>
              </a:defRPr>
            </a:lvl3pPr>
            <a:lvl4pPr>
              <a:defRPr sz="2100" b="0">
                <a:solidFill>
                  <a:srgbClr val="536273"/>
                </a:solidFill>
                <a:latin typeface="Arial"/>
                <a:ea typeface="Arial"/>
                <a:cs typeface="Arial"/>
              </a:defRPr>
            </a:lvl4pPr>
            <a:lvl5pPr>
              <a:defRPr sz="2100" b="0">
                <a:solidFill>
                  <a:srgbClr val="536273"/>
                </a:solidFill>
                <a:latin typeface="Arial"/>
                <a:ea typeface="Arial"/>
                <a:cs typeface="Arial"/>
              </a:defRPr>
            </a:lvl5pPr>
            <a:lvl6pPr>
              <a:defRPr sz="2100" b="0">
                <a:solidFill>
                  <a:srgbClr val="536273"/>
                </a:solidFill>
                <a:latin typeface="Arial"/>
                <a:ea typeface="Arial"/>
                <a:cs typeface="Arial"/>
              </a:defRPr>
            </a:lvl6pPr>
            <a:lvl7pPr>
              <a:defRPr sz="2100" b="0">
                <a:solidFill>
                  <a:srgbClr val="536273"/>
                </a:solidFill>
                <a:latin typeface="Arial"/>
                <a:ea typeface="Arial"/>
                <a:cs typeface="Arial"/>
              </a:defRPr>
            </a:lvl7pPr>
            <a:lvl8pPr>
              <a:defRPr sz="2100" b="0">
                <a:solidFill>
                  <a:srgbClr val="536273"/>
                </a:solidFill>
                <a:latin typeface="Arial"/>
                <a:ea typeface="Arial"/>
                <a:cs typeface="Arial"/>
              </a:defRPr>
            </a:lvl8pPr>
            <a:lvl9pPr>
              <a:defRPr sz="2100" b="0">
                <a:solidFill>
                  <a:srgbClr val="536273"/>
                </a:solidFill>
                <a:latin typeface="Arial"/>
                <a:ea typeface="Arial"/>
                <a:cs typeface="Arial"/>
              </a:defRPr>
            </a:lvl9pPr>
          </a:lstStyle>
          <a:p xmlns:a="http://schemas.openxmlformats.org/drawingml/2006/main">
            <a:pPr>
              <a:defRPr sz="2100" b="0">
                <a:solidFill>
                  <a:srgbClr val="536273"/>
                </a:solidFill>
                <a:latin typeface="Arial"/>
                <a:ea typeface="Arial"/>
                <a:cs typeface="Arial"/>
              </a:defRPr>
            </a:pPr>
            <a:r>
              <a:rPr sz="2100" b="0">
                <a:solidFill>
                  <a:srgbClr val="536273"/>
                </a:solidFill>
                <a:latin typeface="Arial"/>
                <a:ea typeface="Arial"/>
                <a:cs typeface="Arial"/>
              </a:rPr>
              <a:t>Measured RTT + synthetic bandwidth, interruptions and recovery</a:t>
            </a:r>
          </a:p>
        </p:txBody>
      </p:sp>
      <p:graphicFrame>
        <p:nvGraphicFramePr>
          <p:cNvPr id="10" name="">
            <a:extLst xmlns:a="http://schemas.openxmlformats.org/drawingml/2006/main">
              <a:ext uri="{FF2B5EF4-FFF2-40B4-BE49-F238E27FC236}">
                <a16:creationId xmlns:a16="http://schemas.microsoft.com/office/drawing/2014/main" id="{842256B9-D4B0-4BE8-91C3-990F5CF19A4F}"/>
              </a:ext>
            </a:extLst>
          </p:cNvPr>
          <p:cNvGraphicFramePr/>
          <p:nvPr/>
        </p:nvGraphicFramePr>
        <p:xfrm>
          <a:off xmlns:a="http://schemas.openxmlformats.org/drawingml/2006/main" x="609600" y="4638675"/>
          <a:ext xmlns:a="http://schemas.openxmlformats.org/drawingml/2006/main" cx="10972800" cy="1038225"/>
        </p:xfrm>
        <a:graphic xmlns:a="http://schemas.openxmlformats.org/drawingml/2006/main">
          <a:graphicData uri="http://schemas.openxmlformats.org/drawingml/2006/table">
            <a:tbl>
              <a:tblPr firstRow="0" bandRow="0" bandCol="0"/>
              <a:tblGrid>
                <a:gridCol w="3657600"/>
                <a:gridCol w="3657600"/>
                <a:gridCol w="3657600"/>
              </a:tblGrid>
              <a:tr h="519113">
                <a:tc>
                  <a:txBody>
                    <a:bodyPr lIns="95250" tIns="95250" rIns="95250" bIns="95250"/>
                    <a:lstStyle/>
                    <a:p>
                      <a:r>
                        <a:rPr sz="2100" b="1">
                          <a:solidFill>
                            <a:srgbClr val="FFFFFF"/>
                          </a:solidFill>
                          <a:latin typeface="Arial"/>
                          <a:ea typeface="Arial"/>
                          <a:cs typeface="Arial"/>
                        </a:rPr>
                        <a:t>Training</a:t>
                      </a:r>
                    </a:p>
                  </a:txBody>
                  <a:tcPr marL="91440" marR="91440" marT="45720" marB="45720">
                    <a:solidFill>
                      <a:srgbClr val="142D4E"/>
                    </a:solidFill>
                  </a:tcPr>
                </a:tc>
                <a:tc>
                  <a:txBody>
                    <a:bodyPr lIns="95250" tIns="95250" rIns="95250" bIns="95250"/>
                    <a:lstStyle/>
                    <a:p>
                      <a:r>
                        <a:rPr sz="2100" b="1">
                          <a:solidFill>
                            <a:srgbClr val="FFFFFF"/>
                          </a:solidFill>
                          <a:latin typeface="Arial"/>
                          <a:ea typeface="Arial"/>
                          <a:cs typeface="Arial"/>
                        </a:rPr>
                        <a:t>Validation</a:t>
                      </a:r>
                    </a:p>
                  </a:txBody>
                  <a:tcPr marL="91440" marR="91440" marT="45720" marB="45720">
                    <a:solidFill>
                      <a:srgbClr val="142D4E"/>
                    </a:solidFill>
                  </a:tcPr>
                </a:tc>
                <a:tc>
                  <a:txBody>
                    <a:bodyPr lIns="95250" tIns="95250" rIns="95250" bIns="95250"/>
                    <a:lstStyle/>
                    <a:p>
                      <a:r>
                        <a:rPr sz="2100" b="1">
                          <a:solidFill>
                            <a:srgbClr val="FFFFFF"/>
                          </a:solidFill>
                          <a:latin typeface="Arial"/>
                          <a:ea typeface="Arial"/>
                          <a:cs typeface="Arial"/>
                        </a:rPr>
                        <a:t>Sealed test</a:t>
                      </a:r>
                    </a:p>
                  </a:txBody>
                  <a:tcPr marL="91440" marR="91440" marT="45720" marB="45720">
                    <a:solidFill>
                      <a:srgbClr val="142D4E"/>
                    </a:solidFill>
                  </a:tcPr>
                </a:tc>
              </a:tr>
              <a:tr h="519113">
                <a:tc>
                  <a:txBody>
                    <a:bodyPr lIns="95250" tIns="95250" rIns="95250" bIns="95250"/>
                    <a:lstStyle/>
                    <a:p>
                      <a:r>
                        <a:rPr sz="2100" b="0">
                          <a:solidFill>
                            <a:srgbClr val="142D4E"/>
                          </a:solidFill>
                          <a:latin typeface="Arial"/>
                          <a:ea typeface="Arial"/>
                          <a:cs typeface="Arial"/>
                        </a:rPr>
                        <a:t>48 scenarios</a:t>
                      </a:r>
                    </a:p>
                  </a:txBody>
                  <a:tcPr marL="91440" marR="91440" marT="45720" marB="45720">
                    <a:solidFill>
                      <a:srgbClr val="FFFFFF"/>
                    </a:solidFill>
                  </a:tcPr>
                </a:tc>
                <a:tc>
                  <a:txBody>
                    <a:bodyPr lIns="95250" tIns="95250" rIns="95250" bIns="95250"/>
                    <a:lstStyle/>
                    <a:p>
                      <a:r>
                        <a:rPr sz="2100" b="0">
                          <a:solidFill>
                            <a:srgbClr val="142D4E"/>
                          </a:solidFill>
                          <a:latin typeface="Arial"/>
                          <a:ea typeface="Arial"/>
                          <a:cs typeface="Arial"/>
                        </a:rPr>
                        <a:t>18 scenarios</a:t>
                      </a:r>
                    </a:p>
                  </a:txBody>
                  <a:tcPr marL="91440" marR="91440" marT="45720" marB="45720">
                    <a:solidFill>
                      <a:srgbClr val="FFFFFF"/>
                    </a:solidFill>
                  </a:tcPr>
                </a:tc>
                <a:tc>
                  <a:txBody>
                    <a:bodyPr lIns="95250" tIns="95250" rIns="95250" bIns="95250"/>
                    <a:lstStyle/>
                    <a:p>
                      <a:r>
                        <a:rPr sz="2100" b="0">
                          <a:solidFill>
                            <a:srgbClr val="142D4E"/>
                          </a:solidFill>
                          <a:latin typeface="Arial"/>
                          <a:ea typeface="Arial"/>
                          <a:cs typeface="Arial"/>
                        </a:rPr>
                        <a:t>18 scenarios</a:t>
                      </a:r>
                    </a:p>
                  </a:txBody>
                  <a:tcPr marL="91440" marR="91440" marT="45720" marB="45720">
                    <a:solidFill>
                      <a:srgbClr val="FFFFFF"/>
                    </a:solidFill>
                  </a:tcPr>
                </a:tc>
              </a:tr>
            </a:tbl>
          </a:graphicData>
        </a:graphic>
      </p:graphicFrame>
      <p:sp>
        <p:nvSpPr>
          <p:cNvPr id="11" name="guard">
            <a:extLst xmlns:a="http://schemas.openxmlformats.org/drawingml/2006/main">
              <a:ext uri="{FF2B5EF4-FFF2-40B4-BE49-F238E27FC236}">
                <a16:creationId xmlns:a16="http://schemas.microsoft.com/office/drawing/2014/main" id="{E797BEB1-644C-49B5-97CF-FA537E2C26BD}"/>
              </a:ext>
            </a:extLst>
          </p:cNvPr>
          <p:cNvSpPr>
            <a:spLocks xmlns:a="http://schemas.openxmlformats.org/drawingml/2006/main" noGrp="1"/>
          </p:cNvSpPr>
          <p:nvPr/>
        </p:nvSpPr>
        <p:spPr>
          <a:xfrm xmlns:a="http://schemas.openxmlformats.org/drawingml/2006/main">
            <a:off x="609600" y="58483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36273"/>
                </a:solidFill>
                <a:latin typeface="Arial"/>
                <a:ea typeface="Arial"/>
                <a:cs typeface="Arial"/>
              </a:defRPr>
            </a:defPPr>
            <a:lvl1pPr>
              <a:defRPr sz="1800" b="0">
                <a:solidFill>
                  <a:srgbClr val="536273"/>
                </a:solidFill>
                <a:latin typeface="Arial"/>
                <a:ea typeface="Arial"/>
                <a:cs typeface="Arial"/>
              </a:defRPr>
            </a:lvl1pPr>
            <a:lvl2pPr>
              <a:defRPr sz="1800" b="0">
                <a:solidFill>
                  <a:srgbClr val="536273"/>
                </a:solidFill>
                <a:latin typeface="Arial"/>
                <a:ea typeface="Arial"/>
                <a:cs typeface="Arial"/>
              </a:defRPr>
            </a:lvl2pPr>
            <a:lvl3pPr>
              <a:defRPr sz="1800" b="0">
                <a:solidFill>
                  <a:srgbClr val="536273"/>
                </a:solidFill>
                <a:latin typeface="Arial"/>
                <a:ea typeface="Arial"/>
                <a:cs typeface="Arial"/>
              </a:defRPr>
            </a:lvl3pPr>
            <a:lvl4pPr>
              <a:defRPr sz="1800" b="0">
                <a:solidFill>
                  <a:srgbClr val="536273"/>
                </a:solidFill>
                <a:latin typeface="Arial"/>
                <a:ea typeface="Arial"/>
                <a:cs typeface="Arial"/>
              </a:defRPr>
            </a:lvl4pPr>
            <a:lvl5pPr>
              <a:defRPr sz="1800" b="0">
                <a:solidFill>
                  <a:srgbClr val="536273"/>
                </a:solidFill>
                <a:latin typeface="Arial"/>
                <a:ea typeface="Arial"/>
                <a:cs typeface="Arial"/>
              </a:defRPr>
            </a:lvl5pPr>
            <a:lvl6pPr>
              <a:defRPr sz="1800" b="0">
                <a:solidFill>
                  <a:srgbClr val="536273"/>
                </a:solidFill>
                <a:latin typeface="Arial"/>
                <a:ea typeface="Arial"/>
                <a:cs typeface="Arial"/>
              </a:defRPr>
            </a:lvl6pPr>
            <a:lvl7pPr>
              <a:defRPr sz="1800" b="0">
                <a:solidFill>
                  <a:srgbClr val="536273"/>
                </a:solidFill>
                <a:latin typeface="Arial"/>
                <a:ea typeface="Arial"/>
                <a:cs typeface="Arial"/>
              </a:defRPr>
            </a:lvl7pPr>
            <a:lvl8pPr>
              <a:defRPr sz="1800" b="0">
                <a:solidFill>
                  <a:srgbClr val="536273"/>
                </a:solidFill>
                <a:latin typeface="Arial"/>
                <a:ea typeface="Arial"/>
                <a:cs typeface="Arial"/>
              </a:defRPr>
            </a:lvl8pPr>
            <a:lvl9pPr>
              <a:defRPr sz="1800" b="0">
                <a:solidFill>
                  <a:srgbClr val="536273"/>
                </a:solidFill>
                <a:latin typeface="Arial"/>
                <a:ea typeface="Arial"/>
                <a:cs typeface="Arial"/>
              </a:defRPr>
            </a:lvl9pPr>
          </a:lstStyle>
          <a:p xmlns:a="http://schemas.openxmlformats.org/drawingml/2006/main">
            <a:pPr>
              <a:defRPr sz="1800" b="0">
                <a:solidFill>
                  <a:srgbClr val="536273"/>
                </a:solidFill>
                <a:latin typeface="Arial"/>
                <a:ea typeface="Arial"/>
                <a:cs typeface="Arial"/>
              </a:defRPr>
            </a:pPr>
            <a:r>
              <a:rPr sz="1800" b="0">
                <a:solidFill>
                  <a:srgbClr val="536273"/>
                </a:solidFill>
                <a:latin typeface="Arial"/>
                <a:ea typeface="Arial"/>
                <a:cs typeface="Arial"/>
              </a:rPr>
              <a:t>60s guard gaps separate source blocks. Scenario derivatives stay in their split.</a:t>
            </a:r>
          </a:p>
        </p:txBody>
      </p:sp>
      <p:sp>
        <p:nvSpPr>
          <p:cNvPr id="12" name="reserve">
            <a:extLst xmlns:a="http://schemas.openxmlformats.org/drawingml/2006/main">
              <a:ext uri="{FF2B5EF4-FFF2-40B4-BE49-F238E27FC236}">
                <a16:creationId xmlns:a16="http://schemas.microsoft.com/office/drawing/2014/main" id="{9F007861-E71C-4D88-A696-A97CBD66F0F3}"/>
              </a:ext>
            </a:extLst>
          </p:cNvPr>
          <p:cNvSpPr>
            <a:spLocks xmlns:a="http://schemas.openxmlformats.org/drawingml/2006/main" noGrp="1"/>
          </p:cNvSpPr>
          <p:nvPr/>
        </p:nvSpPr>
        <p:spPr>
          <a:xfrm xmlns:a="http://schemas.openxmlformats.org/drawingml/2006/main">
            <a:off x="609600" y="620077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36273"/>
                </a:solidFill>
                <a:latin typeface="Arial"/>
                <a:ea typeface="Arial"/>
                <a:cs typeface="Arial"/>
              </a:defRPr>
            </a:defPPr>
            <a:lvl1pPr>
              <a:defRPr sz="1725" b="0">
                <a:solidFill>
                  <a:srgbClr val="536273"/>
                </a:solidFill>
                <a:latin typeface="Arial"/>
                <a:ea typeface="Arial"/>
                <a:cs typeface="Arial"/>
              </a:defRPr>
            </a:lvl1pPr>
            <a:lvl2pPr>
              <a:defRPr sz="1725" b="0">
                <a:solidFill>
                  <a:srgbClr val="536273"/>
                </a:solidFill>
                <a:latin typeface="Arial"/>
                <a:ea typeface="Arial"/>
                <a:cs typeface="Arial"/>
              </a:defRPr>
            </a:lvl2pPr>
            <a:lvl3pPr>
              <a:defRPr sz="1725" b="0">
                <a:solidFill>
                  <a:srgbClr val="536273"/>
                </a:solidFill>
                <a:latin typeface="Arial"/>
                <a:ea typeface="Arial"/>
                <a:cs typeface="Arial"/>
              </a:defRPr>
            </a:lvl3pPr>
            <a:lvl4pPr>
              <a:defRPr sz="1725" b="0">
                <a:solidFill>
                  <a:srgbClr val="536273"/>
                </a:solidFill>
                <a:latin typeface="Arial"/>
                <a:ea typeface="Arial"/>
                <a:cs typeface="Arial"/>
              </a:defRPr>
            </a:lvl4pPr>
            <a:lvl5pPr>
              <a:defRPr sz="1725" b="0">
                <a:solidFill>
                  <a:srgbClr val="536273"/>
                </a:solidFill>
                <a:latin typeface="Arial"/>
                <a:ea typeface="Arial"/>
                <a:cs typeface="Arial"/>
              </a:defRPr>
            </a:lvl5pPr>
            <a:lvl6pPr>
              <a:defRPr sz="1725" b="0">
                <a:solidFill>
                  <a:srgbClr val="536273"/>
                </a:solidFill>
                <a:latin typeface="Arial"/>
                <a:ea typeface="Arial"/>
                <a:cs typeface="Arial"/>
              </a:defRPr>
            </a:lvl6pPr>
            <a:lvl7pPr>
              <a:defRPr sz="1725" b="0">
                <a:solidFill>
                  <a:srgbClr val="536273"/>
                </a:solidFill>
                <a:latin typeface="Arial"/>
                <a:ea typeface="Arial"/>
                <a:cs typeface="Arial"/>
              </a:defRPr>
            </a:lvl7pPr>
            <a:lvl8pPr>
              <a:defRPr sz="1725" b="0">
                <a:solidFill>
                  <a:srgbClr val="536273"/>
                </a:solidFill>
                <a:latin typeface="Arial"/>
                <a:ea typeface="Arial"/>
                <a:cs typeface="Arial"/>
              </a:defRPr>
            </a:lvl8pPr>
            <a:lvl9pPr>
              <a:defRPr sz="1725" b="0">
                <a:solidFill>
                  <a:srgbClr val="536273"/>
                </a:solidFill>
                <a:latin typeface="Arial"/>
                <a:ea typeface="Arial"/>
                <a:cs typeface="Arial"/>
              </a:defRPr>
            </a:lvl9pPr>
          </a:lstStyle>
          <a:p xmlns:a="http://schemas.openxmlformats.org/drawingml/2006/main">
            <a:pPr>
              <a:defRPr sz="1725" b="0">
                <a:solidFill>
                  <a:srgbClr val="536273"/>
                </a:solidFill>
                <a:latin typeface="Arial"/>
                <a:ea typeface="Arial"/>
                <a:cs typeface="Arial"/>
              </a:defRPr>
            </a:pPr>
            <a:r>
              <a:rPr sz="1725" b="0">
                <a:solidFill>
                  <a:srgbClr val="536273"/>
                </a:solidFill>
                <a:latin typeface="Arial"/>
                <a:ea typeface="Arial"/>
                <a:cs typeface="Arial"/>
              </a:rPr>
              <a:t>The extra LENS hour is a calibration reserve, outside the pilot split.</a:t>
            </a:r>
          </a:p>
        </p:txBody>
      </p:sp>
    </p:spTree>
    <p:extLst>
      <p:ext uri="{BB962C8B-B14F-4D97-AF65-F5344CB8AC3E}">
        <p14:creationId xmlns:p14="http://schemas.microsoft.com/office/powerpoint/2010/main" val="689259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3161AF0F-9F00-422A-9F0D-D424A0818232}"/>
              </a:ext>
            </a:extLst>
          </p:cNvPr>
          <p:cNvSpPr>
            <a:spLocks xmlns:a="http://schemas.openxmlformats.org/drawingml/2006/main" noGrp="1"/>
          </p:cNvSpPr>
          <p:nvPr/>
        </p:nvSpPr>
        <p:spPr>
          <a:xfrm xmlns:a="http://schemas.openxmlformats.org/drawingml/2006/main">
            <a:off x="609600" y="4095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42D4E"/>
                </a:solidFill>
                <a:latin typeface="Arial"/>
                <a:ea typeface="Arial"/>
                <a:cs typeface="Arial"/>
              </a:defRPr>
            </a:defPPr>
            <a:lvl1pPr>
              <a:defRPr sz="3300" b="1">
                <a:solidFill>
                  <a:srgbClr val="142D4E"/>
                </a:solidFill>
                <a:latin typeface="Arial"/>
                <a:ea typeface="Arial"/>
                <a:cs typeface="Arial"/>
              </a:defRPr>
            </a:lvl1pPr>
            <a:lvl2pPr>
              <a:defRPr sz="3300" b="1">
                <a:solidFill>
                  <a:srgbClr val="142D4E"/>
                </a:solidFill>
                <a:latin typeface="Arial"/>
                <a:ea typeface="Arial"/>
                <a:cs typeface="Arial"/>
              </a:defRPr>
            </a:lvl2pPr>
            <a:lvl3pPr>
              <a:defRPr sz="3300" b="1">
                <a:solidFill>
                  <a:srgbClr val="142D4E"/>
                </a:solidFill>
                <a:latin typeface="Arial"/>
                <a:ea typeface="Arial"/>
                <a:cs typeface="Arial"/>
              </a:defRPr>
            </a:lvl3pPr>
            <a:lvl4pPr>
              <a:defRPr sz="3300" b="1">
                <a:solidFill>
                  <a:srgbClr val="142D4E"/>
                </a:solidFill>
                <a:latin typeface="Arial"/>
                <a:ea typeface="Arial"/>
                <a:cs typeface="Arial"/>
              </a:defRPr>
            </a:lvl4pPr>
            <a:lvl5pPr>
              <a:defRPr sz="3300" b="1">
                <a:solidFill>
                  <a:srgbClr val="142D4E"/>
                </a:solidFill>
                <a:latin typeface="Arial"/>
                <a:ea typeface="Arial"/>
                <a:cs typeface="Arial"/>
              </a:defRPr>
            </a:lvl5pPr>
            <a:lvl6pPr>
              <a:defRPr sz="3300" b="1">
                <a:solidFill>
                  <a:srgbClr val="142D4E"/>
                </a:solidFill>
                <a:latin typeface="Arial"/>
                <a:ea typeface="Arial"/>
                <a:cs typeface="Arial"/>
              </a:defRPr>
            </a:lvl6pPr>
            <a:lvl7pPr>
              <a:defRPr sz="3300" b="1">
                <a:solidFill>
                  <a:srgbClr val="142D4E"/>
                </a:solidFill>
                <a:latin typeface="Arial"/>
                <a:ea typeface="Arial"/>
                <a:cs typeface="Arial"/>
              </a:defRPr>
            </a:lvl7pPr>
            <a:lvl8pPr>
              <a:defRPr sz="3300" b="1">
                <a:solidFill>
                  <a:srgbClr val="142D4E"/>
                </a:solidFill>
                <a:latin typeface="Arial"/>
                <a:ea typeface="Arial"/>
                <a:cs typeface="Arial"/>
              </a:defRPr>
            </a:lvl8pPr>
            <a:lvl9pPr>
              <a:defRPr sz="3300" b="1">
                <a:solidFill>
                  <a:srgbClr val="142D4E"/>
                </a:solidFill>
                <a:latin typeface="Arial"/>
                <a:ea typeface="Arial"/>
                <a:cs typeface="Arial"/>
              </a:defRPr>
            </a:lvl9pPr>
          </a:lstStyle>
          <a:p xmlns:a="http://schemas.openxmlformats.org/drawingml/2006/main">
            <a:pPr>
              <a:defRPr sz="3300" b="1">
                <a:solidFill>
                  <a:srgbClr val="142D4E"/>
                </a:solidFill>
                <a:latin typeface="Arial"/>
                <a:ea typeface="Arial"/>
                <a:cs typeface="Arial"/>
              </a:defRPr>
            </a:pPr>
            <a:r>
              <a:rPr sz="3300" b="1">
                <a:solidFill>
                  <a:srgbClr val="142D4E"/>
                </a:solidFill>
                <a:latin typeface="Arial"/>
                <a:ea typeface="Arial"/>
                <a:cs typeface="Arial"/>
              </a:rPr>
              <a:t>Neural baseline and synchronous JavaScript</a:t>
            </a:r>
          </a:p>
        </p:txBody>
      </p:sp>
      <p:sp>
        <p:nvSpPr>
          <p:cNvPr id="3" name="slide-number">
            <a:extLst xmlns:a="http://schemas.openxmlformats.org/drawingml/2006/main">
              <a:ext uri="{FF2B5EF4-FFF2-40B4-BE49-F238E27FC236}">
                <a16:creationId xmlns:a16="http://schemas.microsoft.com/office/drawing/2014/main" id="{DE4BD7F3-13F8-491D-B01B-FEFD8F562E05}"/>
              </a:ext>
            </a:extLst>
          </p:cNvPr>
          <p:cNvSpPr>
            <a:spLocks xmlns:a="http://schemas.openxmlformats.org/drawingml/2006/main" noGrp="1"/>
          </p:cNvSpPr>
          <p:nvPr/>
        </p:nvSpPr>
        <p:spPr>
          <a:xfrm xmlns:a="http://schemas.openxmlformats.org/drawingml/2006/main">
            <a:off x="11163300" y="64198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36273"/>
                </a:solidFill>
                <a:latin typeface="Arial"/>
                <a:ea typeface="Arial"/>
                <a:cs typeface="Arial"/>
              </a:defRPr>
            </a:defPPr>
            <a:lvl1pPr>
              <a:defRPr sz="1650" b="0">
                <a:solidFill>
                  <a:srgbClr val="536273"/>
                </a:solidFill>
                <a:latin typeface="Arial"/>
                <a:ea typeface="Arial"/>
                <a:cs typeface="Arial"/>
              </a:defRPr>
            </a:lvl1pPr>
            <a:lvl2pPr>
              <a:defRPr sz="1650" b="0">
                <a:solidFill>
                  <a:srgbClr val="536273"/>
                </a:solidFill>
                <a:latin typeface="Arial"/>
                <a:ea typeface="Arial"/>
                <a:cs typeface="Arial"/>
              </a:defRPr>
            </a:lvl2pPr>
            <a:lvl3pPr>
              <a:defRPr sz="1650" b="0">
                <a:solidFill>
                  <a:srgbClr val="536273"/>
                </a:solidFill>
                <a:latin typeface="Arial"/>
                <a:ea typeface="Arial"/>
                <a:cs typeface="Arial"/>
              </a:defRPr>
            </a:lvl3pPr>
            <a:lvl4pPr>
              <a:defRPr sz="1650" b="0">
                <a:solidFill>
                  <a:srgbClr val="536273"/>
                </a:solidFill>
                <a:latin typeface="Arial"/>
                <a:ea typeface="Arial"/>
                <a:cs typeface="Arial"/>
              </a:defRPr>
            </a:lvl4pPr>
            <a:lvl5pPr>
              <a:defRPr sz="1650" b="0">
                <a:solidFill>
                  <a:srgbClr val="536273"/>
                </a:solidFill>
                <a:latin typeface="Arial"/>
                <a:ea typeface="Arial"/>
                <a:cs typeface="Arial"/>
              </a:defRPr>
            </a:lvl5pPr>
            <a:lvl6pPr>
              <a:defRPr sz="1650" b="0">
                <a:solidFill>
                  <a:srgbClr val="536273"/>
                </a:solidFill>
                <a:latin typeface="Arial"/>
                <a:ea typeface="Arial"/>
                <a:cs typeface="Arial"/>
              </a:defRPr>
            </a:lvl6pPr>
            <a:lvl7pPr>
              <a:defRPr sz="1650" b="0">
                <a:solidFill>
                  <a:srgbClr val="536273"/>
                </a:solidFill>
                <a:latin typeface="Arial"/>
                <a:ea typeface="Arial"/>
                <a:cs typeface="Arial"/>
              </a:defRPr>
            </a:lvl7pPr>
            <a:lvl8pPr>
              <a:defRPr sz="1650" b="0">
                <a:solidFill>
                  <a:srgbClr val="536273"/>
                </a:solidFill>
                <a:latin typeface="Arial"/>
                <a:ea typeface="Arial"/>
                <a:cs typeface="Arial"/>
              </a:defRPr>
            </a:lvl8pPr>
            <a:lvl9pPr>
              <a:defRPr sz="1650" b="0">
                <a:solidFill>
                  <a:srgbClr val="536273"/>
                </a:solidFill>
                <a:latin typeface="Arial"/>
                <a:ea typeface="Arial"/>
                <a:cs typeface="Arial"/>
              </a:defRPr>
            </a:lvl9pPr>
          </a:lstStyle>
          <a:p xmlns:a="http://schemas.openxmlformats.org/drawingml/2006/main">
            <a:pPr>
              <a:defRPr sz="1650" b="0">
                <a:solidFill>
                  <a:srgbClr val="536273"/>
                </a:solidFill>
                <a:latin typeface="Arial"/>
                <a:ea typeface="Arial"/>
                <a:cs typeface="Arial"/>
              </a:defRPr>
            </a:pPr>
            <a:r>
              <a:rPr sz="1650" b="0">
                <a:solidFill>
                  <a:srgbClr val="536273"/>
                </a:solidFill>
                <a:latin typeface="Arial"/>
                <a:ea typeface="Arial"/>
                <a:cs typeface="Arial"/>
              </a:rPr>
              <a:t>06</a:t>
            </a:r>
          </a:p>
        </p:txBody>
      </p:sp>
      <p:sp>
        <p:nvSpPr>
          <p:cNvPr id="4" name="reference">
            <a:extLst xmlns:a="http://schemas.openxmlformats.org/drawingml/2006/main">
              <a:ext uri="{FF2B5EF4-FFF2-40B4-BE49-F238E27FC236}">
                <a16:creationId xmlns:a16="http://schemas.microsoft.com/office/drawing/2014/main" id="{1B6BCB35-B784-4FC0-9141-ECCF2851A1EF}"/>
              </a:ext>
            </a:extLst>
          </p:cNvPr>
          <p:cNvSpPr>
            <a:spLocks xmlns:a="http://schemas.openxmlformats.org/drawingml/2006/main" noGrp="1"/>
          </p:cNvSpPr>
          <p:nvPr/>
        </p:nvSpPr>
        <p:spPr>
          <a:xfrm xmlns:a="http://schemas.openxmlformats.org/drawingml/2006/main">
            <a:off x="609600" y="1257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0B7A75"/>
                </a:solidFill>
                <a:latin typeface="Arial"/>
                <a:ea typeface="Arial"/>
                <a:cs typeface="Arial"/>
              </a:defRPr>
            </a:defPPr>
            <a:lvl1pPr>
              <a:defRPr sz="2250" b="1">
                <a:solidFill>
                  <a:srgbClr val="0B7A75"/>
                </a:solidFill>
                <a:latin typeface="Arial"/>
                <a:ea typeface="Arial"/>
                <a:cs typeface="Arial"/>
              </a:defRPr>
            </a:lvl1pPr>
            <a:lvl2pPr>
              <a:defRPr sz="2250" b="1">
                <a:solidFill>
                  <a:srgbClr val="0B7A75"/>
                </a:solidFill>
                <a:latin typeface="Arial"/>
                <a:ea typeface="Arial"/>
                <a:cs typeface="Arial"/>
              </a:defRPr>
            </a:lvl2pPr>
            <a:lvl3pPr>
              <a:defRPr sz="2250" b="1">
                <a:solidFill>
                  <a:srgbClr val="0B7A75"/>
                </a:solidFill>
                <a:latin typeface="Arial"/>
                <a:ea typeface="Arial"/>
                <a:cs typeface="Arial"/>
              </a:defRPr>
            </a:lvl3pPr>
            <a:lvl4pPr>
              <a:defRPr sz="2250" b="1">
                <a:solidFill>
                  <a:srgbClr val="0B7A75"/>
                </a:solidFill>
                <a:latin typeface="Arial"/>
                <a:ea typeface="Arial"/>
                <a:cs typeface="Arial"/>
              </a:defRPr>
            </a:lvl4pPr>
            <a:lvl5pPr>
              <a:defRPr sz="2250" b="1">
                <a:solidFill>
                  <a:srgbClr val="0B7A75"/>
                </a:solidFill>
                <a:latin typeface="Arial"/>
                <a:ea typeface="Arial"/>
                <a:cs typeface="Arial"/>
              </a:defRPr>
            </a:lvl5pPr>
            <a:lvl6pPr>
              <a:defRPr sz="2250" b="1">
                <a:solidFill>
                  <a:srgbClr val="0B7A75"/>
                </a:solidFill>
                <a:latin typeface="Arial"/>
                <a:ea typeface="Arial"/>
                <a:cs typeface="Arial"/>
              </a:defRPr>
            </a:lvl6pPr>
            <a:lvl7pPr>
              <a:defRPr sz="2250" b="1">
                <a:solidFill>
                  <a:srgbClr val="0B7A75"/>
                </a:solidFill>
                <a:latin typeface="Arial"/>
                <a:ea typeface="Arial"/>
                <a:cs typeface="Arial"/>
              </a:defRPr>
            </a:lvl7pPr>
            <a:lvl8pPr>
              <a:defRPr sz="2250" b="1">
                <a:solidFill>
                  <a:srgbClr val="0B7A75"/>
                </a:solidFill>
                <a:latin typeface="Arial"/>
                <a:ea typeface="Arial"/>
                <a:cs typeface="Arial"/>
              </a:defRPr>
            </a:lvl8pPr>
            <a:lvl9pPr>
              <a:defRPr sz="2250" b="1">
                <a:solidFill>
                  <a:srgbClr val="0B7A75"/>
                </a:solidFill>
                <a:latin typeface="Arial"/>
                <a:ea typeface="Arial"/>
                <a:cs typeface="Arial"/>
              </a:defRPr>
            </a:lvl9pPr>
          </a:lstStyle>
          <a:p xmlns:a="http://schemas.openxmlformats.org/drawingml/2006/main">
            <a:pPr>
              <a:defRPr sz="2250" b="1">
                <a:solidFill>
                  <a:srgbClr val="0B7A75"/>
                </a:solidFill>
                <a:latin typeface="Arial"/>
                <a:ea typeface="Arial"/>
                <a:cs typeface="Arial"/>
              </a:defRPr>
            </a:pPr>
            <a:r>
              <a:rPr sz="2250" b="1">
                <a:solidFill>
                  <a:srgbClr val="0B7A75"/>
                </a:solidFill>
                <a:latin typeface="Arial"/>
                <a:ea typeface="Arial"/>
                <a:cs typeface="Arial"/>
              </a:rPr>
              <a:t>Reference: Gelato/Plume and its live-streaming A2C workflow</a:t>
            </a:r>
          </a:p>
        </p:txBody>
      </p:sp>
      <p:sp>
        <p:nvSpPr>
          <p:cNvPr id="5" name="compatibility">
            <a:extLst xmlns:a="http://schemas.openxmlformats.org/drawingml/2006/main">
              <a:ext uri="{FF2B5EF4-FFF2-40B4-BE49-F238E27FC236}">
                <a16:creationId xmlns:a16="http://schemas.microsoft.com/office/drawing/2014/main" id="{0DE318B2-DB7A-40AD-A9D5-2BE4FBBA025B}"/>
              </a:ext>
            </a:extLst>
          </p:cNvPr>
          <p:cNvSpPr>
            <a:spLocks xmlns:a="http://schemas.openxmlformats.org/drawingml/2006/main" noGrp="1"/>
          </p:cNvSpPr>
          <p:nvPr/>
        </p:nvSpPr>
        <p:spPr>
          <a:xfrm xmlns:a="http://schemas.openxmlformats.org/drawingml/2006/main">
            <a:off x="609600" y="17240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36273"/>
                </a:solidFill>
                <a:latin typeface="Arial"/>
                <a:ea typeface="Arial"/>
                <a:cs typeface="Arial"/>
              </a:defRPr>
            </a:defPPr>
            <a:lvl1pPr>
              <a:defRPr sz="1950" b="0">
                <a:solidFill>
                  <a:srgbClr val="536273"/>
                </a:solidFill>
                <a:latin typeface="Arial"/>
                <a:ea typeface="Arial"/>
                <a:cs typeface="Arial"/>
              </a:defRPr>
            </a:lvl1pPr>
            <a:lvl2pPr>
              <a:defRPr sz="1950" b="0">
                <a:solidFill>
                  <a:srgbClr val="536273"/>
                </a:solidFill>
                <a:latin typeface="Arial"/>
                <a:ea typeface="Arial"/>
                <a:cs typeface="Arial"/>
              </a:defRPr>
            </a:lvl2pPr>
            <a:lvl3pPr>
              <a:defRPr sz="1950" b="0">
                <a:solidFill>
                  <a:srgbClr val="536273"/>
                </a:solidFill>
                <a:latin typeface="Arial"/>
                <a:ea typeface="Arial"/>
                <a:cs typeface="Arial"/>
              </a:defRPr>
            </a:lvl3pPr>
            <a:lvl4pPr>
              <a:defRPr sz="1950" b="0">
                <a:solidFill>
                  <a:srgbClr val="536273"/>
                </a:solidFill>
                <a:latin typeface="Arial"/>
                <a:ea typeface="Arial"/>
                <a:cs typeface="Arial"/>
              </a:defRPr>
            </a:lvl4pPr>
            <a:lvl5pPr>
              <a:defRPr sz="1950" b="0">
                <a:solidFill>
                  <a:srgbClr val="536273"/>
                </a:solidFill>
                <a:latin typeface="Arial"/>
                <a:ea typeface="Arial"/>
                <a:cs typeface="Arial"/>
              </a:defRPr>
            </a:lvl5pPr>
            <a:lvl6pPr>
              <a:defRPr sz="1950" b="0">
                <a:solidFill>
                  <a:srgbClr val="536273"/>
                </a:solidFill>
                <a:latin typeface="Arial"/>
                <a:ea typeface="Arial"/>
                <a:cs typeface="Arial"/>
              </a:defRPr>
            </a:lvl6pPr>
            <a:lvl7pPr>
              <a:defRPr sz="1950" b="0">
                <a:solidFill>
                  <a:srgbClr val="536273"/>
                </a:solidFill>
                <a:latin typeface="Arial"/>
                <a:ea typeface="Arial"/>
                <a:cs typeface="Arial"/>
              </a:defRPr>
            </a:lvl7pPr>
            <a:lvl8pPr>
              <a:defRPr sz="1950" b="0">
                <a:solidFill>
                  <a:srgbClr val="536273"/>
                </a:solidFill>
                <a:latin typeface="Arial"/>
                <a:ea typeface="Arial"/>
                <a:cs typeface="Arial"/>
              </a:defRPr>
            </a:lvl8pPr>
            <a:lvl9pPr>
              <a:defRPr sz="1950" b="0">
                <a:solidFill>
                  <a:srgbClr val="536273"/>
                </a:solidFill>
                <a:latin typeface="Arial"/>
                <a:ea typeface="Arial"/>
                <a:cs typeface="Arial"/>
              </a:defRPr>
            </a:lvl9pPr>
          </a:lstStyle>
          <a:p xmlns:a="http://schemas.openxmlformats.org/drawingml/2006/main">
            <a:pPr>
              <a:defRPr sz="1950" b="0">
                <a:solidFill>
                  <a:srgbClr val="536273"/>
                </a:solidFill>
                <a:latin typeface="Arial"/>
                <a:ea typeface="Arial"/>
                <a:cs typeface="Arial"/>
              </a:defRPr>
            </a:pPr>
            <a:r>
              <a:rPr sz="1950" b="0">
                <a:solidFill>
                  <a:srgbClr val="536273"/>
                </a:solidFill>
                <a:latin typeface="Arial"/>
                <a:ea typeface="Arial"/>
                <a:cs typeface="Arial"/>
              </a:rPr>
              <a:t>Released actor: 10 actions and future metadata unavailable to this player</a:t>
            </a:r>
          </a:p>
        </p:txBody>
      </p:sp>
      <p:sp>
        <p:nvSpPr>
          <p:cNvPr id="6" name="adaptation">
            <a:extLst xmlns:a="http://schemas.openxmlformats.org/drawingml/2006/main">
              <a:ext uri="{FF2B5EF4-FFF2-40B4-BE49-F238E27FC236}">
                <a16:creationId xmlns:a16="http://schemas.microsoft.com/office/drawing/2014/main" id="{7B74B715-8F08-4CEC-93B0-7E874DB7FFA7}"/>
              </a:ext>
            </a:extLst>
          </p:cNvPr>
          <p:cNvSpPr>
            <a:spLocks xmlns:a="http://schemas.openxmlformats.org/drawingml/2006/main" noGrp="1"/>
          </p:cNvSpPr>
          <p:nvPr/>
        </p:nvSpPr>
        <p:spPr>
          <a:xfrm xmlns:a="http://schemas.openxmlformats.org/drawingml/2006/main">
            <a:off x="609600" y="21812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42D4E"/>
                </a:solidFill>
                <a:latin typeface="Arial"/>
                <a:ea typeface="Arial"/>
                <a:cs typeface="Arial"/>
              </a:defRPr>
            </a:defPPr>
            <a:lvl1pPr>
              <a:defRPr sz="2025" b="1">
                <a:solidFill>
                  <a:srgbClr val="142D4E"/>
                </a:solidFill>
                <a:latin typeface="Arial"/>
                <a:ea typeface="Arial"/>
                <a:cs typeface="Arial"/>
              </a:defRPr>
            </a:lvl1pPr>
            <a:lvl2pPr>
              <a:defRPr sz="2025" b="1">
                <a:solidFill>
                  <a:srgbClr val="142D4E"/>
                </a:solidFill>
                <a:latin typeface="Arial"/>
                <a:ea typeface="Arial"/>
                <a:cs typeface="Arial"/>
              </a:defRPr>
            </a:lvl2pPr>
            <a:lvl3pPr>
              <a:defRPr sz="2025" b="1">
                <a:solidFill>
                  <a:srgbClr val="142D4E"/>
                </a:solidFill>
                <a:latin typeface="Arial"/>
                <a:ea typeface="Arial"/>
                <a:cs typeface="Arial"/>
              </a:defRPr>
            </a:lvl3pPr>
            <a:lvl4pPr>
              <a:defRPr sz="2025" b="1">
                <a:solidFill>
                  <a:srgbClr val="142D4E"/>
                </a:solidFill>
                <a:latin typeface="Arial"/>
                <a:ea typeface="Arial"/>
                <a:cs typeface="Arial"/>
              </a:defRPr>
            </a:lvl4pPr>
            <a:lvl5pPr>
              <a:defRPr sz="2025" b="1">
                <a:solidFill>
                  <a:srgbClr val="142D4E"/>
                </a:solidFill>
                <a:latin typeface="Arial"/>
                <a:ea typeface="Arial"/>
                <a:cs typeface="Arial"/>
              </a:defRPr>
            </a:lvl5pPr>
            <a:lvl6pPr>
              <a:defRPr sz="2025" b="1">
                <a:solidFill>
                  <a:srgbClr val="142D4E"/>
                </a:solidFill>
                <a:latin typeface="Arial"/>
                <a:ea typeface="Arial"/>
                <a:cs typeface="Arial"/>
              </a:defRPr>
            </a:lvl6pPr>
            <a:lvl7pPr>
              <a:defRPr sz="2025" b="1">
                <a:solidFill>
                  <a:srgbClr val="142D4E"/>
                </a:solidFill>
                <a:latin typeface="Arial"/>
                <a:ea typeface="Arial"/>
                <a:cs typeface="Arial"/>
              </a:defRPr>
            </a:lvl7pPr>
            <a:lvl8pPr>
              <a:defRPr sz="2025" b="1">
                <a:solidFill>
                  <a:srgbClr val="142D4E"/>
                </a:solidFill>
                <a:latin typeface="Arial"/>
                <a:ea typeface="Arial"/>
                <a:cs typeface="Arial"/>
              </a:defRPr>
            </a:lvl8pPr>
            <a:lvl9pPr>
              <a:defRPr sz="2025" b="1">
                <a:solidFill>
                  <a:srgbClr val="142D4E"/>
                </a:solidFill>
                <a:latin typeface="Arial"/>
                <a:ea typeface="Arial"/>
                <a:cs typeface="Arial"/>
              </a:defRPr>
            </a:lvl9pPr>
          </a:lstStyle>
          <a:p xmlns:a="http://schemas.openxmlformats.org/drawingml/2006/main">
            <a:pPr>
              <a:defRPr sz="2100" b="1">
                <a:solidFill>
                  <a:srgbClr val="142D4E"/>
                </a:solidFill>
                <a:latin typeface="Arial"/>
                <a:ea typeface="Arial"/>
                <a:cs typeface="Arial"/>
              </a:defRPr>
            </a:pPr>
            <a:r>
              <a:rPr sz="2025" b="1">
                <a:solidFill>
                  <a:srgbClr val="142D4E"/>
                </a:solidFill>
                <a:latin typeface="Arial"/>
                <a:ea typeface="Arial"/>
                <a:cs typeface="Arial"/>
              </a:rPr>
              <a:t>Separate 8-action pilot: PyTorch weights and a Float32 JavaScript forward pass</a:t>
            </a:r>
          </a:p>
        </p:txBody>
      </p:sp>
      <p:sp>
        <p:nvSpPr>
          <p:cNvPr id="7" name="inputs-number">
            <a:extLst xmlns:a="http://schemas.openxmlformats.org/drawingml/2006/main">
              <a:ext uri="{FF2B5EF4-FFF2-40B4-BE49-F238E27FC236}">
                <a16:creationId xmlns:a16="http://schemas.microsoft.com/office/drawing/2014/main" id="{7CF45BEE-27E0-4AF4-BC47-9196B0FB144D}"/>
              </a:ext>
            </a:extLst>
          </p:cNvPr>
          <p:cNvSpPr>
            <a:spLocks xmlns:a="http://schemas.openxmlformats.org/drawingml/2006/main" noGrp="1"/>
          </p:cNvSpPr>
          <p:nvPr/>
        </p:nvSpPr>
        <p:spPr>
          <a:xfrm xmlns:a="http://schemas.openxmlformats.org/drawingml/2006/main">
            <a:off x="609600" y="2828925"/>
            <a:ext cx="1809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00" b="1">
                <a:solidFill>
                  <a:srgbClr val="0B7A75"/>
                </a:solidFill>
                <a:latin typeface="Arial"/>
                <a:ea typeface="Arial"/>
                <a:cs typeface="Arial"/>
              </a:defRPr>
            </a:defPPr>
            <a:lvl1pPr>
              <a:defRPr sz="4200" b="1">
                <a:solidFill>
                  <a:srgbClr val="0B7A75"/>
                </a:solidFill>
                <a:latin typeface="Arial"/>
                <a:ea typeface="Arial"/>
                <a:cs typeface="Arial"/>
              </a:defRPr>
            </a:lvl1pPr>
            <a:lvl2pPr>
              <a:defRPr sz="4200" b="1">
                <a:solidFill>
                  <a:srgbClr val="0B7A75"/>
                </a:solidFill>
                <a:latin typeface="Arial"/>
                <a:ea typeface="Arial"/>
                <a:cs typeface="Arial"/>
              </a:defRPr>
            </a:lvl2pPr>
            <a:lvl3pPr>
              <a:defRPr sz="4200" b="1">
                <a:solidFill>
                  <a:srgbClr val="0B7A75"/>
                </a:solidFill>
                <a:latin typeface="Arial"/>
                <a:ea typeface="Arial"/>
                <a:cs typeface="Arial"/>
              </a:defRPr>
            </a:lvl3pPr>
            <a:lvl4pPr>
              <a:defRPr sz="4200" b="1">
                <a:solidFill>
                  <a:srgbClr val="0B7A75"/>
                </a:solidFill>
                <a:latin typeface="Arial"/>
                <a:ea typeface="Arial"/>
                <a:cs typeface="Arial"/>
              </a:defRPr>
            </a:lvl4pPr>
            <a:lvl5pPr>
              <a:defRPr sz="4200" b="1">
                <a:solidFill>
                  <a:srgbClr val="0B7A75"/>
                </a:solidFill>
                <a:latin typeface="Arial"/>
                <a:ea typeface="Arial"/>
                <a:cs typeface="Arial"/>
              </a:defRPr>
            </a:lvl5pPr>
            <a:lvl6pPr>
              <a:defRPr sz="4200" b="1">
                <a:solidFill>
                  <a:srgbClr val="0B7A75"/>
                </a:solidFill>
                <a:latin typeface="Arial"/>
                <a:ea typeface="Arial"/>
                <a:cs typeface="Arial"/>
              </a:defRPr>
            </a:lvl6pPr>
            <a:lvl7pPr>
              <a:defRPr sz="4200" b="1">
                <a:solidFill>
                  <a:srgbClr val="0B7A75"/>
                </a:solidFill>
                <a:latin typeface="Arial"/>
                <a:ea typeface="Arial"/>
                <a:cs typeface="Arial"/>
              </a:defRPr>
            </a:lvl7pPr>
            <a:lvl8pPr>
              <a:defRPr sz="4200" b="1">
                <a:solidFill>
                  <a:srgbClr val="0B7A75"/>
                </a:solidFill>
                <a:latin typeface="Arial"/>
                <a:ea typeface="Arial"/>
                <a:cs typeface="Arial"/>
              </a:defRPr>
            </a:lvl8pPr>
            <a:lvl9pPr>
              <a:defRPr sz="4200" b="1">
                <a:solidFill>
                  <a:srgbClr val="0B7A75"/>
                </a:solidFill>
                <a:latin typeface="Arial"/>
                <a:ea typeface="Arial"/>
                <a:cs typeface="Arial"/>
              </a:defRPr>
            </a:lvl9pPr>
          </a:lstStyle>
          <a:p xmlns:a="http://schemas.openxmlformats.org/drawingml/2006/main">
            <a:pPr>
              <a:defRPr sz="4200" b="1">
                <a:solidFill>
                  <a:srgbClr val="0B7A75"/>
                </a:solidFill>
                <a:latin typeface="Arial"/>
                <a:ea typeface="Arial"/>
                <a:cs typeface="Arial"/>
              </a:defRPr>
            </a:pPr>
            <a:r>
              <a:rPr sz="4200" b="1">
                <a:solidFill>
                  <a:srgbClr val="0B7A75"/>
                </a:solidFill>
                <a:latin typeface="Arial"/>
                <a:ea typeface="Arial"/>
                <a:cs typeface="Arial"/>
              </a:rPr>
              <a:t>36</a:t>
            </a:r>
          </a:p>
        </p:txBody>
      </p:sp>
      <p:sp>
        <p:nvSpPr>
          <p:cNvPr id="8" name="inputs-caption">
            <a:extLst xmlns:a="http://schemas.openxmlformats.org/drawingml/2006/main">
              <a:ext uri="{FF2B5EF4-FFF2-40B4-BE49-F238E27FC236}">
                <a16:creationId xmlns:a16="http://schemas.microsoft.com/office/drawing/2014/main" id="{A4955375-9E5D-4330-A77A-D8113B66247D}"/>
              </a:ext>
            </a:extLst>
          </p:cNvPr>
          <p:cNvSpPr>
            <a:spLocks xmlns:a="http://schemas.openxmlformats.org/drawingml/2006/main" noGrp="1"/>
          </p:cNvSpPr>
          <p:nvPr/>
        </p:nvSpPr>
        <p:spPr>
          <a:xfrm xmlns:a="http://schemas.openxmlformats.org/drawingml/2006/main">
            <a:off x="609600" y="34956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36273"/>
                </a:solidFill>
                <a:latin typeface="Arial"/>
                <a:ea typeface="Arial"/>
                <a:cs typeface="Arial"/>
              </a:defRPr>
            </a:defPPr>
            <a:lvl1pPr>
              <a:defRPr sz="1875" b="0">
                <a:solidFill>
                  <a:srgbClr val="536273"/>
                </a:solidFill>
                <a:latin typeface="Arial"/>
                <a:ea typeface="Arial"/>
                <a:cs typeface="Arial"/>
              </a:defRPr>
            </a:lvl1pPr>
            <a:lvl2pPr>
              <a:defRPr sz="1875" b="0">
                <a:solidFill>
                  <a:srgbClr val="536273"/>
                </a:solidFill>
                <a:latin typeface="Arial"/>
                <a:ea typeface="Arial"/>
                <a:cs typeface="Arial"/>
              </a:defRPr>
            </a:lvl2pPr>
            <a:lvl3pPr>
              <a:defRPr sz="1875" b="0">
                <a:solidFill>
                  <a:srgbClr val="536273"/>
                </a:solidFill>
                <a:latin typeface="Arial"/>
                <a:ea typeface="Arial"/>
                <a:cs typeface="Arial"/>
              </a:defRPr>
            </a:lvl3pPr>
            <a:lvl4pPr>
              <a:defRPr sz="1875" b="0">
                <a:solidFill>
                  <a:srgbClr val="536273"/>
                </a:solidFill>
                <a:latin typeface="Arial"/>
                <a:ea typeface="Arial"/>
                <a:cs typeface="Arial"/>
              </a:defRPr>
            </a:lvl4pPr>
            <a:lvl5pPr>
              <a:defRPr sz="1875" b="0">
                <a:solidFill>
                  <a:srgbClr val="536273"/>
                </a:solidFill>
                <a:latin typeface="Arial"/>
                <a:ea typeface="Arial"/>
                <a:cs typeface="Arial"/>
              </a:defRPr>
            </a:lvl5pPr>
            <a:lvl6pPr>
              <a:defRPr sz="1875" b="0">
                <a:solidFill>
                  <a:srgbClr val="536273"/>
                </a:solidFill>
                <a:latin typeface="Arial"/>
                <a:ea typeface="Arial"/>
                <a:cs typeface="Arial"/>
              </a:defRPr>
            </a:lvl6pPr>
            <a:lvl7pPr>
              <a:defRPr sz="1875" b="0">
                <a:solidFill>
                  <a:srgbClr val="536273"/>
                </a:solidFill>
                <a:latin typeface="Arial"/>
                <a:ea typeface="Arial"/>
                <a:cs typeface="Arial"/>
              </a:defRPr>
            </a:lvl7pPr>
            <a:lvl8pPr>
              <a:defRPr sz="1875" b="0">
                <a:solidFill>
                  <a:srgbClr val="536273"/>
                </a:solidFill>
                <a:latin typeface="Arial"/>
                <a:ea typeface="Arial"/>
                <a:cs typeface="Arial"/>
              </a:defRPr>
            </a:lvl8pPr>
            <a:lvl9pPr>
              <a:defRPr sz="1875" b="0">
                <a:solidFill>
                  <a:srgbClr val="536273"/>
                </a:solidFill>
                <a:latin typeface="Arial"/>
                <a:ea typeface="Arial"/>
                <a:cs typeface="Arial"/>
              </a:defRPr>
            </a:lvl9pPr>
          </a:lstStyle>
          <a:p xmlns:a="http://schemas.openxmlformats.org/drawingml/2006/main">
            <a:pPr>
              <a:defRPr sz="1875" b="0">
                <a:solidFill>
                  <a:srgbClr val="536273"/>
                </a:solidFill>
                <a:latin typeface="Arial"/>
                <a:ea typeface="Arial"/>
                <a:cs typeface="Arial"/>
              </a:defRPr>
            </a:pPr>
            <a:r>
              <a:rPr sz="1875" b="0">
                <a:solidFill>
                  <a:srgbClr val="536273"/>
                </a:solidFill>
                <a:latin typeface="Arial"/>
                <a:ea typeface="Arial"/>
                <a:cs typeface="Arial"/>
              </a:rPr>
              <a:t>Causal inputs</a:t>
            </a:r>
          </a:p>
        </p:txBody>
      </p:sp>
      <p:sp>
        <p:nvSpPr>
          <p:cNvPr id="9" name="hidden-number">
            <a:extLst xmlns:a="http://schemas.openxmlformats.org/drawingml/2006/main">
              <a:ext uri="{FF2B5EF4-FFF2-40B4-BE49-F238E27FC236}">
                <a16:creationId xmlns:a16="http://schemas.microsoft.com/office/drawing/2014/main" id="{839FB2C0-1AD9-49F2-8780-FE7920EFEC30}"/>
              </a:ext>
            </a:extLst>
          </p:cNvPr>
          <p:cNvSpPr>
            <a:spLocks xmlns:a="http://schemas.openxmlformats.org/drawingml/2006/main" noGrp="1"/>
          </p:cNvSpPr>
          <p:nvPr/>
        </p:nvSpPr>
        <p:spPr>
          <a:xfrm xmlns:a="http://schemas.openxmlformats.org/drawingml/2006/main">
            <a:off x="3476625" y="2828925"/>
            <a:ext cx="2571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00" b="1">
                <a:solidFill>
                  <a:srgbClr val="0B7A75"/>
                </a:solidFill>
                <a:latin typeface="Arial"/>
                <a:ea typeface="Arial"/>
                <a:cs typeface="Arial"/>
              </a:defRPr>
            </a:defPPr>
            <a:lvl1pPr>
              <a:defRPr sz="4200" b="1">
                <a:solidFill>
                  <a:srgbClr val="0B7A75"/>
                </a:solidFill>
                <a:latin typeface="Arial"/>
                <a:ea typeface="Arial"/>
                <a:cs typeface="Arial"/>
              </a:defRPr>
            </a:lvl1pPr>
            <a:lvl2pPr>
              <a:defRPr sz="4200" b="1">
                <a:solidFill>
                  <a:srgbClr val="0B7A75"/>
                </a:solidFill>
                <a:latin typeface="Arial"/>
                <a:ea typeface="Arial"/>
                <a:cs typeface="Arial"/>
              </a:defRPr>
            </a:lvl2pPr>
            <a:lvl3pPr>
              <a:defRPr sz="4200" b="1">
                <a:solidFill>
                  <a:srgbClr val="0B7A75"/>
                </a:solidFill>
                <a:latin typeface="Arial"/>
                <a:ea typeface="Arial"/>
                <a:cs typeface="Arial"/>
              </a:defRPr>
            </a:lvl3pPr>
            <a:lvl4pPr>
              <a:defRPr sz="4200" b="1">
                <a:solidFill>
                  <a:srgbClr val="0B7A75"/>
                </a:solidFill>
                <a:latin typeface="Arial"/>
                <a:ea typeface="Arial"/>
                <a:cs typeface="Arial"/>
              </a:defRPr>
            </a:lvl4pPr>
            <a:lvl5pPr>
              <a:defRPr sz="4200" b="1">
                <a:solidFill>
                  <a:srgbClr val="0B7A75"/>
                </a:solidFill>
                <a:latin typeface="Arial"/>
                <a:ea typeface="Arial"/>
                <a:cs typeface="Arial"/>
              </a:defRPr>
            </a:lvl5pPr>
            <a:lvl6pPr>
              <a:defRPr sz="4200" b="1">
                <a:solidFill>
                  <a:srgbClr val="0B7A75"/>
                </a:solidFill>
                <a:latin typeface="Arial"/>
                <a:ea typeface="Arial"/>
                <a:cs typeface="Arial"/>
              </a:defRPr>
            </a:lvl6pPr>
            <a:lvl7pPr>
              <a:defRPr sz="4200" b="1">
                <a:solidFill>
                  <a:srgbClr val="0B7A75"/>
                </a:solidFill>
                <a:latin typeface="Arial"/>
                <a:ea typeface="Arial"/>
                <a:cs typeface="Arial"/>
              </a:defRPr>
            </a:lvl7pPr>
            <a:lvl8pPr>
              <a:defRPr sz="4200" b="1">
                <a:solidFill>
                  <a:srgbClr val="0B7A75"/>
                </a:solidFill>
                <a:latin typeface="Arial"/>
                <a:ea typeface="Arial"/>
                <a:cs typeface="Arial"/>
              </a:defRPr>
            </a:lvl8pPr>
            <a:lvl9pPr>
              <a:defRPr sz="4200" b="1">
                <a:solidFill>
                  <a:srgbClr val="0B7A75"/>
                </a:solidFill>
                <a:latin typeface="Arial"/>
                <a:ea typeface="Arial"/>
                <a:cs typeface="Arial"/>
              </a:defRPr>
            </a:lvl9pPr>
          </a:lstStyle>
          <a:p xmlns:a="http://schemas.openxmlformats.org/drawingml/2006/main">
            <a:pPr>
              <a:defRPr sz="4200" b="1">
                <a:solidFill>
                  <a:srgbClr val="0B7A75"/>
                </a:solidFill>
                <a:latin typeface="Arial"/>
                <a:ea typeface="Arial"/>
                <a:cs typeface="Arial"/>
              </a:defRPr>
            </a:pPr>
            <a:r>
              <a:rPr sz="4200" b="1">
                <a:solidFill>
                  <a:srgbClr val="0B7A75"/>
                </a:solidFill>
                <a:latin typeface="Arial"/>
                <a:ea typeface="Arial"/>
                <a:cs typeface="Arial"/>
              </a:rPr>
              <a:t>64 + 64</a:t>
            </a:r>
          </a:p>
        </p:txBody>
      </p:sp>
      <p:sp>
        <p:nvSpPr>
          <p:cNvPr id="10" name="hidden-caption">
            <a:extLst xmlns:a="http://schemas.openxmlformats.org/drawingml/2006/main">
              <a:ext uri="{FF2B5EF4-FFF2-40B4-BE49-F238E27FC236}">
                <a16:creationId xmlns:a16="http://schemas.microsoft.com/office/drawing/2014/main" id="{3F608EAA-8A8B-431A-803C-E3E98FC1A771}"/>
              </a:ext>
            </a:extLst>
          </p:cNvPr>
          <p:cNvSpPr>
            <a:spLocks xmlns:a="http://schemas.openxmlformats.org/drawingml/2006/main" noGrp="1"/>
          </p:cNvSpPr>
          <p:nvPr/>
        </p:nvSpPr>
        <p:spPr>
          <a:xfrm xmlns:a="http://schemas.openxmlformats.org/drawingml/2006/main">
            <a:off x="3476625" y="3495675"/>
            <a:ext cx="257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36273"/>
                </a:solidFill>
                <a:latin typeface="Arial"/>
                <a:ea typeface="Arial"/>
                <a:cs typeface="Arial"/>
              </a:defRPr>
            </a:defPPr>
            <a:lvl1pPr>
              <a:defRPr sz="1875" b="0">
                <a:solidFill>
                  <a:srgbClr val="536273"/>
                </a:solidFill>
                <a:latin typeface="Arial"/>
                <a:ea typeface="Arial"/>
                <a:cs typeface="Arial"/>
              </a:defRPr>
            </a:lvl1pPr>
            <a:lvl2pPr>
              <a:defRPr sz="1875" b="0">
                <a:solidFill>
                  <a:srgbClr val="536273"/>
                </a:solidFill>
                <a:latin typeface="Arial"/>
                <a:ea typeface="Arial"/>
                <a:cs typeface="Arial"/>
              </a:defRPr>
            </a:lvl2pPr>
            <a:lvl3pPr>
              <a:defRPr sz="1875" b="0">
                <a:solidFill>
                  <a:srgbClr val="536273"/>
                </a:solidFill>
                <a:latin typeface="Arial"/>
                <a:ea typeface="Arial"/>
                <a:cs typeface="Arial"/>
              </a:defRPr>
            </a:lvl3pPr>
            <a:lvl4pPr>
              <a:defRPr sz="1875" b="0">
                <a:solidFill>
                  <a:srgbClr val="536273"/>
                </a:solidFill>
                <a:latin typeface="Arial"/>
                <a:ea typeface="Arial"/>
                <a:cs typeface="Arial"/>
              </a:defRPr>
            </a:lvl4pPr>
            <a:lvl5pPr>
              <a:defRPr sz="1875" b="0">
                <a:solidFill>
                  <a:srgbClr val="536273"/>
                </a:solidFill>
                <a:latin typeface="Arial"/>
                <a:ea typeface="Arial"/>
                <a:cs typeface="Arial"/>
              </a:defRPr>
            </a:lvl5pPr>
            <a:lvl6pPr>
              <a:defRPr sz="1875" b="0">
                <a:solidFill>
                  <a:srgbClr val="536273"/>
                </a:solidFill>
                <a:latin typeface="Arial"/>
                <a:ea typeface="Arial"/>
                <a:cs typeface="Arial"/>
              </a:defRPr>
            </a:lvl6pPr>
            <a:lvl7pPr>
              <a:defRPr sz="1875" b="0">
                <a:solidFill>
                  <a:srgbClr val="536273"/>
                </a:solidFill>
                <a:latin typeface="Arial"/>
                <a:ea typeface="Arial"/>
                <a:cs typeface="Arial"/>
              </a:defRPr>
            </a:lvl7pPr>
            <a:lvl8pPr>
              <a:defRPr sz="1875" b="0">
                <a:solidFill>
                  <a:srgbClr val="536273"/>
                </a:solidFill>
                <a:latin typeface="Arial"/>
                <a:ea typeface="Arial"/>
                <a:cs typeface="Arial"/>
              </a:defRPr>
            </a:lvl8pPr>
            <a:lvl9pPr>
              <a:defRPr sz="1875" b="0">
                <a:solidFill>
                  <a:srgbClr val="536273"/>
                </a:solidFill>
                <a:latin typeface="Arial"/>
                <a:ea typeface="Arial"/>
                <a:cs typeface="Arial"/>
              </a:defRPr>
            </a:lvl9pPr>
          </a:lstStyle>
          <a:p xmlns:a="http://schemas.openxmlformats.org/drawingml/2006/main">
            <a:pPr>
              <a:defRPr sz="1875" b="0">
                <a:solidFill>
                  <a:srgbClr val="536273"/>
                </a:solidFill>
                <a:latin typeface="Arial"/>
                <a:ea typeface="Arial"/>
                <a:cs typeface="Arial"/>
              </a:defRPr>
            </a:pPr>
            <a:r>
              <a:rPr sz="1875" b="0">
                <a:solidFill>
                  <a:srgbClr val="536273"/>
                </a:solidFill>
                <a:latin typeface="Arial"/>
                <a:ea typeface="Arial"/>
                <a:cs typeface="Arial"/>
              </a:rPr>
              <a:t>Hidden units</a:t>
            </a:r>
          </a:p>
        </p:txBody>
      </p:sp>
      <p:sp>
        <p:nvSpPr>
          <p:cNvPr id="11" name="output-number">
            <a:extLst xmlns:a="http://schemas.openxmlformats.org/drawingml/2006/main">
              <a:ext uri="{FF2B5EF4-FFF2-40B4-BE49-F238E27FC236}">
                <a16:creationId xmlns:a16="http://schemas.microsoft.com/office/drawing/2014/main" id="{A23C6AC0-D5BB-477A-B62C-5B6123974639}"/>
              </a:ext>
            </a:extLst>
          </p:cNvPr>
          <p:cNvSpPr>
            <a:spLocks xmlns:a="http://schemas.openxmlformats.org/drawingml/2006/main" noGrp="1"/>
          </p:cNvSpPr>
          <p:nvPr/>
        </p:nvSpPr>
        <p:spPr>
          <a:xfrm xmlns:a="http://schemas.openxmlformats.org/drawingml/2006/main">
            <a:off x="6858000" y="2828925"/>
            <a:ext cx="1809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00" b="1">
                <a:solidFill>
                  <a:srgbClr val="0B7A75"/>
                </a:solidFill>
                <a:latin typeface="Arial"/>
                <a:ea typeface="Arial"/>
                <a:cs typeface="Arial"/>
              </a:defRPr>
            </a:defPPr>
            <a:lvl1pPr>
              <a:defRPr sz="4200" b="1">
                <a:solidFill>
                  <a:srgbClr val="0B7A75"/>
                </a:solidFill>
                <a:latin typeface="Arial"/>
                <a:ea typeface="Arial"/>
                <a:cs typeface="Arial"/>
              </a:defRPr>
            </a:lvl1pPr>
            <a:lvl2pPr>
              <a:defRPr sz="4200" b="1">
                <a:solidFill>
                  <a:srgbClr val="0B7A75"/>
                </a:solidFill>
                <a:latin typeface="Arial"/>
                <a:ea typeface="Arial"/>
                <a:cs typeface="Arial"/>
              </a:defRPr>
            </a:lvl2pPr>
            <a:lvl3pPr>
              <a:defRPr sz="4200" b="1">
                <a:solidFill>
                  <a:srgbClr val="0B7A75"/>
                </a:solidFill>
                <a:latin typeface="Arial"/>
                <a:ea typeface="Arial"/>
                <a:cs typeface="Arial"/>
              </a:defRPr>
            </a:lvl3pPr>
            <a:lvl4pPr>
              <a:defRPr sz="4200" b="1">
                <a:solidFill>
                  <a:srgbClr val="0B7A75"/>
                </a:solidFill>
                <a:latin typeface="Arial"/>
                <a:ea typeface="Arial"/>
                <a:cs typeface="Arial"/>
              </a:defRPr>
            </a:lvl4pPr>
            <a:lvl5pPr>
              <a:defRPr sz="4200" b="1">
                <a:solidFill>
                  <a:srgbClr val="0B7A75"/>
                </a:solidFill>
                <a:latin typeface="Arial"/>
                <a:ea typeface="Arial"/>
                <a:cs typeface="Arial"/>
              </a:defRPr>
            </a:lvl5pPr>
            <a:lvl6pPr>
              <a:defRPr sz="4200" b="1">
                <a:solidFill>
                  <a:srgbClr val="0B7A75"/>
                </a:solidFill>
                <a:latin typeface="Arial"/>
                <a:ea typeface="Arial"/>
                <a:cs typeface="Arial"/>
              </a:defRPr>
            </a:lvl6pPr>
            <a:lvl7pPr>
              <a:defRPr sz="4200" b="1">
                <a:solidFill>
                  <a:srgbClr val="0B7A75"/>
                </a:solidFill>
                <a:latin typeface="Arial"/>
                <a:ea typeface="Arial"/>
                <a:cs typeface="Arial"/>
              </a:defRPr>
            </a:lvl7pPr>
            <a:lvl8pPr>
              <a:defRPr sz="4200" b="1">
                <a:solidFill>
                  <a:srgbClr val="0B7A75"/>
                </a:solidFill>
                <a:latin typeface="Arial"/>
                <a:ea typeface="Arial"/>
                <a:cs typeface="Arial"/>
              </a:defRPr>
            </a:lvl8pPr>
            <a:lvl9pPr>
              <a:defRPr sz="4200" b="1">
                <a:solidFill>
                  <a:srgbClr val="0B7A75"/>
                </a:solidFill>
                <a:latin typeface="Arial"/>
                <a:ea typeface="Arial"/>
                <a:cs typeface="Arial"/>
              </a:defRPr>
            </a:lvl9pPr>
          </a:lstStyle>
          <a:p xmlns:a="http://schemas.openxmlformats.org/drawingml/2006/main">
            <a:pPr>
              <a:defRPr sz="4200" b="1">
                <a:solidFill>
                  <a:srgbClr val="0B7A75"/>
                </a:solidFill>
                <a:latin typeface="Arial"/>
                <a:ea typeface="Arial"/>
                <a:cs typeface="Arial"/>
              </a:defRPr>
            </a:pPr>
            <a:r>
              <a:rPr sz="4200" b="1">
                <a:solidFill>
                  <a:srgbClr val="0B7A75"/>
                </a:solidFill>
                <a:latin typeface="Arial"/>
                <a:ea typeface="Arial"/>
                <a:cs typeface="Arial"/>
              </a:rPr>
              <a:t>8</a:t>
            </a:r>
          </a:p>
        </p:txBody>
      </p:sp>
      <p:sp>
        <p:nvSpPr>
          <p:cNvPr id="12" name="output-caption">
            <a:extLst xmlns:a="http://schemas.openxmlformats.org/drawingml/2006/main">
              <a:ext uri="{FF2B5EF4-FFF2-40B4-BE49-F238E27FC236}">
                <a16:creationId xmlns:a16="http://schemas.microsoft.com/office/drawing/2014/main" id="{82680379-BFC0-49D2-9E60-5790285F7476}"/>
              </a:ext>
            </a:extLst>
          </p:cNvPr>
          <p:cNvSpPr>
            <a:spLocks xmlns:a="http://schemas.openxmlformats.org/drawingml/2006/main" noGrp="1"/>
          </p:cNvSpPr>
          <p:nvPr/>
        </p:nvSpPr>
        <p:spPr>
          <a:xfrm xmlns:a="http://schemas.openxmlformats.org/drawingml/2006/main">
            <a:off x="6858000" y="349567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36273"/>
                </a:solidFill>
                <a:latin typeface="Arial"/>
                <a:ea typeface="Arial"/>
                <a:cs typeface="Arial"/>
              </a:defRPr>
            </a:defPPr>
            <a:lvl1pPr>
              <a:defRPr sz="1875" b="0">
                <a:solidFill>
                  <a:srgbClr val="536273"/>
                </a:solidFill>
                <a:latin typeface="Arial"/>
                <a:ea typeface="Arial"/>
                <a:cs typeface="Arial"/>
              </a:defRPr>
            </a:lvl1pPr>
            <a:lvl2pPr>
              <a:defRPr sz="1875" b="0">
                <a:solidFill>
                  <a:srgbClr val="536273"/>
                </a:solidFill>
                <a:latin typeface="Arial"/>
                <a:ea typeface="Arial"/>
                <a:cs typeface="Arial"/>
              </a:defRPr>
            </a:lvl2pPr>
            <a:lvl3pPr>
              <a:defRPr sz="1875" b="0">
                <a:solidFill>
                  <a:srgbClr val="536273"/>
                </a:solidFill>
                <a:latin typeface="Arial"/>
                <a:ea typeface="Arial"/>
                <a:cs typeface="Arial"/>
              </a:defRPr>
            </a:lvl3pPr>
            <a:lvl4pPr>
              <a:defRPr sz="1875" b="0">
                <a:solidFill>
                  <a:srgbClr val="536273"/>
                </a:solidFill>
                <a:latin typeface="Arial"/>
                <a:ea typeface="Arial"/>
                <a:cs typeface="Arial"/>
              </a:defRPr>
            </a:lvl4pPr>
            <a:lvl5pPr>
              <a:defRPr sz="1875" b="0">
                <a:solidFill>
                  <a:srgbClr val="536273"/>
                </a:solidFill>
                <a:latin typeface="Arial"/>
                <a:ea typeface="Arial"/>
                <a:cs typeface="Arial"/>
              </a:defRPr>
            </a:lvl5pPr>
            <a:lvl6pPr>
              <a:defRPr sz="1875" b="0">
                <a:solidFill>
                  <a:srgbClr val="536273"/>
                </a:solidFill>
                <a:latin typeface="Arial"/>
                <a:ea typeface="Arial"/>
                <a:cs typeface="Arial"/>
              </a:defRPr>
            </a:lvl6pPr>
            <a:lvl7pPr>
              <a:defRPr sz="1875" b="0">
                <a:solidFill>
                  <a:srgbClr val="536273"/>
                </a:solidFill>
                <a:latin typeface="Arial"/>
                <a:ea typeface="Arial"/>
                <a:cs typeface="Arial"/>
              </a:defRPr>
            </a:lvl7pPr>
            <a:lvl8pPr>
              <a:defRPr sz="1875" b="0">
                <a:solidFill>
                  <a:srgbClr val="536273"/>
                </a:solidFill>
                <a:latin typeface="Arial"/>
                <a:ea typeface="Arial"/>
                <a:cs typeface="Arial"/>
              </a:defRPr>
            </a:lvl8pPr>
            <a:lvl9pPr>
              <a:defRPr sz="1875" b="0">
                <a:solidFill>
                  <a:srgbClr val="536273"/>
                </a:solidFill>
                <a:latin typeface="Arial"/>
                <a:ea typeface="Arial"/>
                <a:cs typeface="Arial"/>
              </a:defRPr>
            </a:lvl9pPr>
          </a:lstStyle>
          <a:p xmlns:a="http://schemas.openxmlformats.org/drawingml/2006/main">
            <a:pPr>
              <a:defRPr sz="1875" b="0">
                <a:solidFill>
                  <a:srgbClr val="536273"/>
                </a:solidFill>
                <a:latin typeface="Arial"/>
                <a:ea typeface="Arial"/>
                <a:cs typeface="Arial"/>
              </a:defRPr>
            </a:pPr>
            <a:r>
              <a:rPr sz="1875" b="0">
                <a:solidFill>
                  <a:srgbClr val="536273"/>
                </a:solidFill>
                <a:latin typeface="Arial"/>
                <a:ea typeface="Arial"/>
                <a:cs typeface="Arial"/>
              </a:rPr>
              <a:t>Bitrate scores</a:t>
            </a:r>
          </a:p>
        </p:txBody>
      </p:sp>
      <p:sp>
        <p:nvSpPr>
          <p:cNvPr id="13" name="runtime-number">
            <a:extLst xmlns:a="http://schemas.openxmlformats.org/drawingml/2006/main">
              <a:ext uri="{FF2B5EF4-FFF2-40B4-BE49-F238E27FC236}">
                <a16:creationId xmlns:a16="http://schemas.microsoft.com/office/drawing/2014/main" id="{84985674-BDE3-4F45-9A19-4C187238B0FD}"/>
              </a:ext>
            </a:extLst>
          </p:cNvPr>
          <p:cNvSpPr>
            <a:spLocks xmlns:a="http://schemas.openxmlformats.org/drawingml/2006/main" noGrp="1"/>
          </p:cNvSpPr>
          <p:nvPr/>
        </p:nvSpPr>
        <p:spPr>
          <a:xfrm xmlns:a="http://schemas.openxmlformats.org/drawingml/2006/main">
            <a:off x="9620250" y="2828925"/>
            <a:ext cx="1905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00" b="1">
                <a:solidFill>
                  <a:srgbClr val="0B7A75"/>
                </a:solidFill>
                <a:latin typeface="Arial"/>
                <a:ea typeface="Arial"/>
                <a:cs typeface="Arial"/>
              </a:defRPr>
            </a:defPPr>
            <a:lvl1pPr>
              <a:defRPr sz="4200" b="1">
                <a:solidFill>
                  <a:srgbClr val="0B7A75"/>
                </a:solidFill>
                <a:latin typeface="Arial"/>
                <a:ea typeface="Arial"/>
                <a:cs typeface="Arial"/>
              </a:defRPr>
            </a:lvl1pPr>
            <a:lvl2pPr>
              <a:defRPr sz="4200" b="1">
                <a:solidFill>
                  <a:srgbClr val="0B7A75"/>
                </a:solidFill>
                <a:latin typeface="Arial"/>
                <a:ea typeface="Arial"/>
                <a:cs typeface="Arial"/>
              </a:defRPr>
            </a:lvl2pPr>
            <a:lvl3pPr>
              <a:defRPr sz="4200" b="1">
                <a:solidFill>
                  <a:srgbClr val="0B7A75"/>
                </a:solidFill>
                <a:latin typeface="Arial"/>
                <a:ea typeface="Arial"/>
                <a:cs typeface="Arial"/>
              </a:defRPr>
            </a:lvl3pPr>
            <a:lvl4pPr>
              <a:defRPr sz="4200" b="1">
                <a:solidFill>
                  <a:srgbClr val="0B7A75"/>
                </a:solidFill>
                <a:latin typeface="Arial"/>
                <a:ea typeface="Arial"/>
                <a:cs typeface="Arial"/>
              </a:defRPr>
            </a:lvl4pPr>
            <a:lvl5pPr>
              <a:defRPr sz="4200" b="1">
                <a:solidFill>
                  <a:srgbClr val="0B7A75"/>
                </a:solidFill>
                <a:latin typeface="Arial"/>
                <a:ea typeface="Arial"/>
                <a:cs typeface="Arial"/>
              </a:defRPr>
            </a:lvl5pPr>
            <a:lvl6pPr>
              <a:defRPr sz="4200" b="1">
                <a:solidFill>
                  <a:srgbClr val="0B7A75"/>
                </a:solidFill>
                <a:latin typeface="Arial"/>
                <a:ea typeface="Arial"/>
                <a:cs typeface="Arial"/>
              </a:defRPr>
            </a:lvl6pPr>
            <a:lvl7pPr>
              <a:defRPr sz="4200" b="1">
                <a:solidFill>
                  <a:srgbClr val="0B7A75"/>
                </a:solidFill>
                <a:latin typeface="Arial"/>
                <a:ea typeface="Arial"/>
                <a:cs typeface="Arial"/>
              </a:defRPr>
            </a:lvl7pPr>
            <a:lvl8pPr>
              <a:defRPr sz="4200" b="1">
                <a:solidFill>
                  <a:srgbClr val="0B7A75"/>
                </a:solidFill>
                <a:latin typeface="Arial"/>
                <a:ea typeface="Arial"/>
                <a:cs typeface="Arial"/>
              </a:defRPr>
            </a:lvl8pPr>
            <a:lvl9pPr>
              <a:defRPr sz="4200" b="1">
                <a:solidFill>
                  <a:srgbClr val="0B7A75"/>
                </a:solidFill>
                <a:latin typeface="Arial"/>
                <a:ea typeface="Arial"/>
                <a:cs typeface="Arial"/>
              </a:defRPr>
            </a:lvl9pPr>
          </a:lstStyle>
          <a:p xmlns:a="http://schemas.openxmlformats.org/drawingml/2006/main">
            <a:pPr>
              <a:defRPr sz="4200" b="1">
                <a:solidFill>
                  <a:srgbClr val="0B7A75"/>
                </a:solidFill>
                <a:latin typeface="Arial"/>
                <a:ea typeface="Arial"/>
                <a:cs typeface="Arial"/>
              </a:defRPr>
            </a:pPr>
            <a:r>
              <a:rPr sz="4200" b="1">
                <a:solidFill>
                  <a:srgbClr val="0B7A75"/>
                </a:solidFill>
                <a:latin typeface="Arial"/>
                <a:ea typeface="Arial"/>
                <a:cs typeface="Arial"/>
              </a:rPr>
              <a:t>JS</a:t>
            </a:r>
          </a:p>
        </p:txBody>
      </p:sp>
      <p:sp>
        <p:nvSpPr>
          <p:cNvPr id="14" name="runtime-caption">
            <a:extLst xmlns:a="http://schemas.openxmlformats.org/drawingml/2006/main">
              <a:ext uri="{FF2B5EF4-FFF2-40B4-BE49-F238E27FC236}">
                <a16:creationId xmlns:a16="http://schemas.microsoft.com/office/drawing/2014/main" id="{C3691B93-429C-4DFD-BEE8-BF72FF01D6F5}"/>
              </a:ext>
            </a:extLst>
          </p:cNvPr>
          <p:cNvSpPr>
            <a:spLocks xmlns:a="http://schemas.openxmlformats.org/drawingml/2006/main" noGrp="1"/>
          </p:cNvSpPr>
          <p:nvPr/>
        </p:nvSpPr>
        <p:spPr>
          <a:xfrm xmlns:a="http://schemas.openxmlformats.org/drawingml/2006/main">
            <a:off x="9620250" y="349567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36273"/>
                </a:solidFill>
                <a:latin typeface="Arial"/>
                <a:ea typeface="Arial"/>
                <a:cs typeface="Arial"/>
              </a:defRPr>
            </a:defPPr>
            <a:lvl1pPr>
              <a:defRPr sz="1875" b="0">
                <a:solidFill>
                  <a:srgbClr val="536273"/>
                </a:solidFill>
                <a:latin typeface="Arial"/>
                <a:ea typeface="Arial"/>
                <a:cs typeface="Arial"/>
              </a:defRPr>
            </a:lvl1pPr>
            <a:lvl2pPr>
              <a:defRPr sz="1875" b="0">
                <a:solidFill>
                  <a:srgbClr val="536273"/>
                </a:solidFill>
                <a:latin typeface="Arial"/>
                <a:ea typeface="Arial"/>
                <a:cs typeface="Arial"/>
              </a:defRPr>
            </a:lvl2pPr>
            <a:lvl3pPr>
              <a:defRPr sz="1875" b="0">
                <a:solidFill>
                  <a:srgbClr val="536273"/>
                </a:solidFill>
                <a:latin typeface="Arial"/>
                <a:ea typeface="Arial"/>
                <a:cs typeface="Arial"/>
              </a:defRPr>
            </a:lvl3pPr>
            <a:lvl4pPr>
              <a:defRPr sz="1875" b="0">
                <a:solidFill>
                  <a:srgbClr val="536273"/>
                </a:solidFill>
                <a:latin typeface="Arial"/>
                <a:ea typeface="Arial"/>
                <a:cs typeface="Arial"/>
              </a:defRPr>
            </a:lvl4pPr>
            <a:lvl5pPr>
              <a:defRPr sz="1875" b="0">
                <a:solidFill>
                  <a:srgbClr val="536273"/>
                </a:solidFill>
                <a:latin typeface="Arial"/>
                <a:ea typeface="Arial"/>
                <a:cs typeface="Arial"/>
              </a:defRPr>
            </a:lvl5pPr>
            <a:lvl6pPr>
              <a:defRPr sz="1875" b="0">
                <a:solidFill>
                  <a:srgbClr val="536273"/>
                </a:solidFill>
                <a:latin typeface="Arial"/>
                <a:ea typeface="Arial"/>
                <a:cs typeface="Arial"/>
              </a:defRPr>
            </a:lvl6pPr>
            <a:lvl7pPr>
              <a:defRPr sz="1875" b="0">
                <a:solidFill>
                  <a:srgbClr val="536273"/>
                </a:solidFill>
                <a:latin typeface="Arial"/>
                <a:ea typeface="Arial"/>
                <a:cs typeface="Arial"/>
              </a:defRPr>
            </a:lvl7pPr>
            <a:lvl8pPr>
              <a:defRPr sz="1875" b="0">
                <a:solidFill>
                  <a:srgbClr val="536273"/>
                </a:solidFill>
                <a:latin typeface="Arial"/>
                <a:ea typeface="Arial"/>
                <a:cs typeface="Arial"/>
              </a:defRPr>
            </a:lvl8pPr>
            <a:lvl9pPr>
              <a:defRPr sz="1875" b="0">
                <a:solidFill>
                  <a:srgbClr val="536273"/>
                </a:solidFill>
                <a:latin typeface="Arial"/>
                <a:ea typeface="Arial"/>
                <a:cs typeface="Arial"/>
              </a:defRPr>
            </a:lvl9pPr>
          </a:lstStyle>
          <a:p xmlns:a="http://schemas.openxmlformats.org/drawingml/2006/main">
            <a:pPr>
              <a:defRPr sz="1875" b="0">
                <a:solidFill>
                  <a:srgbClr val="536273"/>
                </a:solidFill>
                <a:latin typeface="Arial"/>
                <a:ea typeface="Arial"/>
                <a:cs typeface="Arial"/>
              </a:defRPr>
            </a:pPr>
            <a:r>
              <a:rPr sz="1875" b="0">
                <a:solidFill>
                  <a:srgbClr val="536273"/>
                </a:solidFill>
                <a:latin typeface="Arial"/>
                <a:ea typeface="Arial"/>
                <a:cs typeface="Arial"/>
              </a:rPr>
              <a:t>Sync call</a:t>
            </a:r>
          </a:p>
        </p:txBody>
      </p:sp>
      <p:sp>
        <p:nvSpPr>
          <p:cNvPr id="15" name="training">
            <a:extLst xmlns:a="http://schemas.openxmlformats.org/drawingml/2006/main">
              <a:ext uri="{FF2B5EF4-FFF2-40B4-BE49-F238E27FC236}">
                <a16:creationId xmlns:a16="http://schemas.microsoft.com/office/drawing/2014/main" id="{9437E4BB-EA93-4827-9F25-2CF2FEA54CEA}"/>
              </a:ext>
            </a:extLst>
          </p:cNvPr>
          <p:cNvSpPr>
            <a:spLocks xmlns:a="http://schemas.openxmlformats.org/drawingml/2006/main" noGrp="1"/>
          </p:cNvSpPr>
          <p:nvPr/>
        </p:nvSpPr>
        <p:spPr>
          <a:xfrm xmlns:a="http://schemas.openxmlformats.org/drawingml/2006/main">
            <a:off x="609600" y="39433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36273"/>
                </a:solidFill>
                <a:latin typeface="Arial"/>
                <a:ea typeface="Arial"/>
                <a:cs typeface="Arial"/>
              </a:defRPr>
            </a:defPPr>
            <a:lvl1pPr>
              <a:defRPr sz="1950" b="0">
                <a:solidFill>
                  <a:srgbClr val="536273"/>
                </a:solidFill>
                <a:latin typeface="Arial"/>
                <a:ea typeface="Arial"/>
                <a:cs typeface="Arial"/>
              </a:defRPr>
            </a:lvl1pPr>
            <a:lvl2pPr>
              <a:defRPr sz="1950" b="0">
                <a:solidFill>
                  <a:srgbClr val="536273"/>
                </a:solidFill>
                <a:latin typeface="Arial"/>
                <a:ea typeface="Arial"/>
                <a:cs typeface="Arial"/>
              </a:defRPr>
            </a:lvl2pPr>
            <a:lvl3pPr>
              <a:defRPr sz="1950" b="0">
                <a:solidFill>
                  <a:srgbClr val="536273"/>
                </a:solidFill>
                <a:latin typeface="Arial"/>
                <a:ea typeface="Arial"/>
                <a:cs typeface="Arial"/>
              </a:defRPr>
            </a:lvl3pPr>
            <a:lvl4pPr>
              <a:defRPr sz="1950" b="0">
                <a:solidFill>
                  <a:srgbClr val="536273"/>
                </a:solidFill>
                <a:latin typeface="Arial"/>
                <a:ea typeface="Arial"/>
                <a:cs typeface="Arial"/>
              </a:defRPr>
            </a:lvl4pPr>
            <a:lvl5pPr>
              <a:defRPr sz="1950" b="0">
                <a:solidFill>
                  <a:srgbClr val="536273"/>
                </a:solidFill>
                <a:latin typeface="Arial"/>
                <a:ea typeface="Arial"/>
                <a:cs typeface="Arial"/>
              </a:defRPr>
            </a:lvl5pPr>
            <a:lvl6pPr>
              <a:defRPr sz="1950" b="0">
                <a:solidFill>
                  <a:srgbClr val="536273"/>
                </a:solidFill>
                <a:latin typeface="Arial"/>
                <a:ea typeface="Arial"/>
                <a:cs typeface="Arial"/>
              </a:defRPr>
            </a:lvl6pPr>
            <a:lvl7pPr>
              <a:defRPr sz="1950" b="0">
                <a:solidFill>
                  <a:srgbClr val="536273"/>
                </a:solidFill>
                <a:latin typeface="Arial"/>
                <a:ea typeface="Arial"/>
                <a:cs typeface="Arial"/>
              </a:defRPr>
            </a:lvl7pPr>
            <a:lvl8pPr>
              <a:defRPr sz="1950" b="0">
                <a:solidFill>
                  <a:srgbClr val="536273"/>
                </a:solidFill>
                <a:latin typeface="Arial"/>
                <a:ea typeface="Arial"/>
                <a:cs typeface="Arial"/>
              </a:defRPr>
            </a:lvl8pPr>
            <a:lvl9pPr>
              <a:defRPr sz="1950" b="0">
                <a:solidFill>
                  <a:srgbClr val="536273"/>
                </a:solidFill>
                <a:latin typeface="Arial"/>
                <a:ea typeface="Arial"/>
                <a:cs typeface="Arial"/>
              </a:defRPr>
            </a:lvl9pPr>
          </a:lstStyle>
          <a:p xmlns:a="http://schemas.openxmlformats.org/drawingml/2006/main">
            <a:pPr>
              <a:defRPr sz="1950" b="0">
                <a:solidFill>
                  <a:srgbClr val="536273"/>
                </a:solidFill>
                <a:latin typeface="Arial"/>
                <a:ea typeface="Arial"/>
                <a:cs typeface="Arial"/>
              </a:defRPr>
            </a:pPr>
            <a:r>
              <a:rPr sz="1950" b="0">
                <a:solidFill>
                  <a:srgbClr val="536273"/>
                </a:solidFill>
                <a:latin typeface="Arial"/>
                <a:ea typeface="Arial"/>
                <a:cs typeface="Arial"/>
              </a:rPr>
              <a:t>Teacher initialization followed by approximately 50k A2C decisions</a:t>
            </a:r>
          </a:p>
        </p:txBody>
      </p:sp>
      <p:sp>
        <p:nvSpPr>
          <p:cNvPr id="16" name="call">
            <a:extLst xmlns:a="http://schemas.openxmlformats.org/drawingml/2006/main">
              <a:ext uri="{FF2B5EF4-FFF2-40B4-BE49-F238E27FC236}">
                <a16:creationId xmlns:a16="http://schemas.microsoft.com/office/drawing/2014/main" id="{501BF36D-354C-4C4F-94D8-990C3300C025}"/>
              </a:ext>
            </a:extLst>
          </p:cNvPr>
          <p:cNvSpPr>
            <a:spLocks xmlns:a="http://schemas.openxmlformats.org/drawingml/2006/main" noGrp="1"/>
          </p:cNvSpPr>
          <p:nvPr/>
        </p:nvSpPr>
        <p:spPr>
          <a:xfrm xmlns:a="http://schemas.openxmlformats.org/drawingml/2006/main">
            <a:off x="609600" y="45720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42D4E"/>
                </a:solidFill>
                <a:latin typeface="Arial"/>
                <a:ea typeface="Arial"/>
                <a:cs typeface="Arial"/>
              </a:defRPr>
            </a:defPPr>
            <a:lvl1pPr>
              <a:defRPr sz="2475" b="1">
                <a:solidFill>
                  <a:srgbClr val="142D4E"/>
                </a:solidFill>
                <a:latin typeface="Arial"/>
                <a:ea typeface="Arial"/>
                <a:cs typeface="Arial"/>
              </a:defRPr>
            </a:lvl1pPr>
            <a:lvl2pPr>
              <a:defRPr sz="2475" b="1">
                <a:solidFill>
                  <a:srgbClr val="142D4E"/>
                </a:solidFill>
                <a:latin typeface="Arial"/>
                <a:ea typeface="Arial"/>
                <a:cs typeface="Arial"/>
              </a:defRPr>
            </a:lvl2pPr>
            <a:lvl3pPr>
              <a:defRPr sz="2475" b="1">
                <a:solidFill>
                  <a:srgbClr val="142D4E"/>
                </a:solidFill>
                <a:latin typeface="Arial"/>
                <a:ea typeface="Arial"/>
                <a:cs typeface="Arial"/>
              </a:defRPr>
            </a:lvl3pPr>
            <a:lvl4pPr>
              <a:defRPr sz="2475" b="1">
                <a:solidFill>
                  <a:srgbClr val="142D4E"/>
                </a:solidFill>
                <a:latin typeface="Arial"/>
                <a:ea typeface="Arial"/>
                <a:cs typeface="Arial"/>
              </a:defRPr>
            </a:lvl4pPr>
            <a:lvl5pPr>
              <a:defRPr sz="2475" b="1">
                <a:solidFill>
                  <a:srgbClr val="142D4E"/>
                </a:solidFill>
                <a:latin typeface="Arial"/>
                <a:ea typeface="Arial"/>
                <a:cs typeface="Arial"/>
              </a:defRPr>
            </a:lvl5pPr>
            <a:lvl6pPr>
              <a:defRPr sz="2475" b="1">
                <a:solidFill>
                  <a:srgbClr val="142D4E"/>
                </a:solidFill>
                <a:latin typeface="Arial"/>
                <a:ea typeface="Arial"/>
                <a:cs typeface="Arial"/>
              </a:defRPr>
            </a:lvl6pPr>
            <a:lvl7pPr>
              <a:defRPr sz="2475" b="1">
                <a:solidFill>
                  <a:srgbClr val="142D4E"/>
                </a:solidFill>
                <a:latin typeface="Arial"/>
                <a:ea typeface="Arial"/>
                <a:cs typeface="Arial"/>
              </a:defRPr>
            </a:lvl7pPr>
            <a:lvl8pPr>
              <a:defRPr sz="2475" b="1">
                <a:solidFill>
                  <a:srgbClr val="142D4E"/>
                </a:solidFill>
                <a:latin typeface="Arial"/>
                <a:ea typeface="Arial"/>
                <a:cs typeface="Arial"/>
              </a:defRPr>
            </a:lvl8pPr>
            <a:lvl9pPr>
              <a:defRPr sz="2475" b="1">
                <a:solidFill>
                  <a:srgbClr val="142D4E"/>
                </a:solidFill>
                <a:latin typeface="Arial"/>
                <a:ea typeface="Arial"/>
                <a:cs typeface="Arial"/>
              </a:defRPr>
            </a:lvl9pPr>
          </a:lstStyle>
          <a:p xmlns:a="http://schemas.openxmlformats.org/drawingml/2006/main">
            <a:pPr>
              <a:defRPr sz="2475" b="1">
                <a:solidFill>
                  <a:srgbClr val="142D4E"/>
                </a:solidFill>
                <a:latin typeface="Arial"/>
                <a:ea typeface="Arial"/>
                <a:cs typeface="Arial"/>
              </a:defRPr>
            </a:pPr>
            <a:r>
              <a:rPr sz="2475" b="1">
                <a:solidFill>
                  <a:srgbClr val="142D4E"/>
                </a:solidFill>
                <a:latin typeface="Arial"/>
                <a:ea typeface="Arial"/>
                <a:cs typeface="Arial"/>
              </a:rPr>
              <a:t>predict(state).action</a:t>
            </a:r>
          </a:p>
        </p:txBody>
      </p:sp>
      <p:sp>
        <p:nvSpPr>
          <p:cNvPr id="17" name="why-js">
            <a:extLst xmlns:a="http://schemas.openxmlformats.org/drawingml/2006/main">
              <a:ext uri="{FF2B5EF4-FFF2-40B4-BE49-F238E27FC236}">
                <a16:creationId xmlns:a16="http://schemas.microsoft.com/office/drawing/2014/main" id="{84DB6563-B652-4BAA-9AE9-8B3F72A101F0}"/>
              </a:ext>
            </a:extLst>
          </p:cNvPr>
          <p:cNvSpPr>
            <a:spLocks xmlns:a="http://schemas.openxmlformats.org/drawingml/2006/main" noGrp="1"/>
          </p:cNvSpPr>
          <p:nvPr/>
        </p:nvSpPr>
        <p:spPr>
          <a:xfrm xmlns:a="http://schemas.openxmlformats.org/drawingml/2006/main">
            <a:off x="609600" y="5095875"/>
            <a:ext cx="671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B7A75"/>
                </a:solidFill>
                <a:latin typeface="Arial"/>
                <a:ea typeface="Arial"/>
                <a:cs typeface="Arial"/>
              </a:defRPr>
            </a:defPPr>
            <a:lvl1pPr>
              <a:defRPr sz="2025" b="1">
                <a:solidFill>
                  <a:srgbClr val="0B7A75"/>
                </a:solidFill>
                <a:latin typeface="Arial"/>
                <a:ea typeface="Arial"/>
                <a:cs typeface="Arial"/>
              </a:defRPr>
            </a:lvl1pPr>
            <a:lvl2pPr>
              <a:defRPr sz="2025" b="1">
                <a:solidFill>
                  <a:srgbClr val="0B7A75"/>
                </a:solidFill>
                <a:latin typeface="Arial"/>
                <a:ea typeface="Arial"/>
                <a:cs typeface="Arial"/>
              </a:defRPr>
            </a:lvl2pPr>
            <a:lvl3pPr>
              <a:defRPr sz="2025" b="1">
                <a:solidFill>
                  <a:srgbClr val="0B7A75"/>
                </a:solidFill>
                <a:latin typeface="Arial"/>
                <a:ea typeface="Arial"/>
                <a:cs typeface="Arial"/>
              </a:defRPr>
            </a:lvl3pPr>
            <a:lvl4pPr>
              <a:defRPr sz="2025" b="1">
                <a:solidFill>
                  <a:srgbClr val="0B7A75"/>
                </a:solidFill>
                <a:latin typeface="Arial"/>
                <a:ea typeface="Arial"/>
                <a:cs typeface="Arial"/>
              </a:defRPr>
            </a:lvl4pPr>
            <a:lvl5pPr>
              <a:defRPr sz="2025" b="1">
                <a:solidFill>
                  <a:srgbClr val="0B7A75"/>
                </a:solidFill>
                <a:latin typeface="Arial"/>
                <a:ea typeface="Arial"/>
                <a:cs typeface="Arial"/>
              </a:defRPr>
            </a:lvl5pPr>
            <a:lvl6pPr>
              <a:defRPr sz="2025" b="1">
                <a:solidFill>
                  <a:srgbClr val="0B7A75"/>
                </a:solidFill>
                <a:latin typeface="Arial"/>
                <a:ea typeface="Arial"/>
                <a:cs typeface="Arial"/>
              </a:defRPr>
            </a:lvl6pPr>
            <a:lvl7pPr>
              <a:defRPr sz="2025" b="1">
                <a:solidFill>
                  <a:srgbClr val="0B7A75"/>
                </a:solidFill>
                <a:latin typeface="Arial"/>
                <a:ea typeface="Arial"/>
                <a:cs typeface="Arial"/>
              </a:defRPr>
            </a:lvl7pPr>
            <a:lvl8pPr>
              <a:defRPr sz="2025" b="1">
                <a:solidFill>
                  <a:srgbClr val="0B7A75"/>
                </a:solidFill>
                <a:latin typeface="Arial"/>
                <a:ea typeface="Arial"/>
                <a:cs typeface="Arial"/>
              </a:defRPr>
            </a:lvl8pPr>
            <a:lvl9pPr>
              <a:defRPr sz="2025" b="1">
                <a:solidFill>
                  <a:srgbClr val="0B7A75"/>
                </a:solidFill>
                <a:latin typeface="Arial"/>
                <a:ea typeface="Arial"/>
                <a:cs typeface="Arial"/>
              </a:defRPr>
            </a:lvl9pPr>
          </a:lstStyle>
          <a:p xmlns:a="http://schemas.openxmlformats.org/drawingml/2006/main">
            <a:pPr>
              <a:defRPr sz="2025" b="1">
                <a:solidFill>
                  <a:srgbClr val="0B7A75"/>
                </a:solidFill>
                <a:latin typeface="Arial"/>
                <a:ea typeface="Arial"/>
                <a:cs typeface="Arial"/>
              </a:defRPr>
            </a:pPr>
            <a:r>
              <a:rPr sz="2025" b="1">
                <a:solidFill>
                  <a:srgbClr val="0B7A75"/>
                </a:solidFill>
                <a:latin typeface="Arial"/>
                <a:ea typeface="Arial"/>
                <a:cs typeface="Arial"/>
              </a:rPr>
              <a:t>Immediate local result with preloaded weights</a:t>
            </a:r>
          </a:p>
        </p:txBody>
      </p:sp>
      <p:sp>
        <p:nvSpPr>
          <p:cNvPr id="18" name="cost-js">
            <a:extLst xmlns:a="http://schemas.openxmlformats.org/drawingml/2006/main">
              <a:ext uri="{FF2B5EF4-FFF2-40B4-BE49-F238E27FC236}">
                <a16:creationId xmlns:a16="http://schemas.microsoft.com/office/drawing/2014/main" id="{85DCBEAE-F6FF-44DB-B4C1-D91BB1B666F1}"/>
              </a:ext>
            </a:extLst>
          </p:cNvPr>
          <p:cNvSpPr>
            <a:spLocks xmlns:a="http://schemas.openxmlformats.org/drawingml/2006/main" noGrp="1"/>
          </p:cNvSpPr>
          <p:nvPr/>
        </p:nvSpPr>
        <p:spPr>
          <a:xfrm xmlns:a="http://schemas.openxmlformats.org/drawingml/2006/main">
            <a:off x="609600" y="5543550"/>
            <a:ext cx="6715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36273"/>
                </a:solidFill>
                <a:latin typeface="Arial"/>
                <a:ea typeface="Arial"/>
                <a:cs typeface="Arial"/>
              </a:defRPr>
            </a:defPPr>
            <a:lvl1pPr>
              <a:defRPr sz="1950" b="0">
                <a:solidFill>
                  <a:srgbClr val="536273"/>
                </a:solidFill>
                <a:latin typeface="Arial"/>
                <a:ea typeface="Arial"/>
                <a:cs typeface="Arial"/>
              </a:defRPr>
            </a:lvl1pPr>
            <a:lvl2pPr>
              <a:defRPr sz="1950" b="0">
                <a:solidFill>
                  <a:srgbClr val="536273"/>
                </a:solidFill>
                <a:latin typeface="Arial"/>
                <a:ea typeface="Arial"/>
                <a:cs typeface="Arial"/>
              </a:defRPr>
            </a:lvl2pPr>
            <a:lvl3pPr>
              <a:defRPr sz="1950" b="0">
                <a:solidFill>
                  <a:srgbClr val="536273"/>
                </a:solidFill>
                <a:latin typeface="Arial"/>
                <a:ea typeface="Arial"/>
                <a:cs typeface="Arial"/>
              </a:defRPr>
            </a:lvl3pPr>
            <a:lvl4pPr>
              <a:defRPr sz="1950" b="0">
                <a:solidFill>
                  <a:srgbClr val="536273"/>
                </a:solidFill>
                <a:latin typeface="Arial"/>
                <a:ea typeface="Arial"/>
                <a:cs typeface="Arial"/>
              </a:defRPr>
            </a:lvl4pPr>
            <a:lvl5pPr>
              <a:defRPr sz="1950" b="0">
                <a:solidFill>
                  <a:srgbClr val="536273"/>
                </a:solidFill>
                <a:latin typeface="Arial"/>
                <a:ea typeface="Arial"/>
                <a:cs typeface="Arial"/>
              </a:defRPr>
            </a:lvl5pPr>
            <a:lvl6pPr>
              <a:defRPr sz="1950" b="0">
                <a:solidFill>
                  <a:srgbClr val="536273"/>
                </a:solidFill>
                <a:latin typeface="Arial"/>
                <a:ea typeface="Arial"/>
                <a:cs typeface="Arial"/>
              </a:defRPr>
            </a:lvl6pPr>
            <a:lvl7pPr>
              <a:defRPr sz="1950" b="0">
                <a:solidFill>
                  <a:srgbClr val="536273"/>
                </a:solidFill>
                <a:latin typeface="Arial"/>
                <a:ea typeface="Arial"/>
                <a:cs typeface="Arial"/>
              </a:defRPr>
            </a:lvl7pPr>
            <a:lvl8pPr>
              <a:defRPr sz="1950" b="0">
                <a:solidFill>
                  <a:srgbClr val="536273"/>
                </a:solidFill>
                <a:latin typeface="Arial"/>
                <a:ea typeface="Arial"/>
                <a:cs typeface="Arial"/>
              </a:defRPr>
            </a:lvl8pPr>
            <a:lvl9pPr>
              <a:defRPr sz="1950" b="0">
                <a:solidFill>
                  <a:srgbClr val="536273"/>
                </a:solidFill>
                <a:latin typeface="Arial"/>
                <a:ea typeface="Arial"/>
                <a:cs typeface="Arial"/>
              </a:defRPr>
            </a:lvl9pPr>
          </a:lstStyle>
          <a:p xmlns:a="http://schemas.openxmlformats.org/drawingml/2006/main">
            <a:pPr>
              <a:defRPr sz="1950" b="0">
                <a:solidFill>
                  <a:srgbClr val="536273"/>
                </a:solidFill>
                <a:latin typeface="Arial"/>
                <a:ea typeface="Arial"/>
                <a:cs typeface="Arial"/>
              </a:defRPr>
            </a:pPr>
            <a:r>
              <a:rPr sz="1950" b="0">
                <a:solidFill>
                  <a:srgbClr val="536273"/>
                </a:solidFill>
                <a:latin typeface="Arial"/>
                <a:ea typeface="Arial"/>
                <a:cs typeface="Arial"/>
              </a:rPr>
              <a:t>Tradeoff: main-thread blocking and export upkeep</a:t>
            </a:r>
          </a:p>
        </p:txBody>
      </p:sp>
      <p:sp>
        <p:nvSpPr>
          <p:cNvPr id="19" name="parity">
            <a:extLst xmlns:a="http://schemas.openxmlformats.org/drawingml/2006/main">
              <a:ext uri="{FF2B5EF4-FFF2-40B4-BE49-F238E27FC236}">
                <a16:creationId xmlns:a16="http://schemas.microsoft.com/office/drawing/2014/main" id="{31F885D1-4E7E-4B59-91FD-E7CD6745C192}"/>
              </a:ext>
            </a:extLst>
          </p:cNvPr>
          <p:cNvSpPr>
            <a:spLocks xmlns:a="http://schemas.openxmlformats.org/drawingml/2006/main" noGrp="1"/>
          </p:cNvSpPr>
          <p:nvPr/>
        </p:nvSpPr>
        <p:spPr>
          <a:xfrm xmlns:a="http://schemas.openxmlformats.org/drawingml/2006/main">
            <a:off x="7981950" y="4572000"/>
            <a:ext cx="3600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42D4E"/>
                </a:solidFill>
                <a:latin typeface="Arial"/>
                <a:ea typeface="Arial"/>
                <a:cs typeface="Arial"/>
              </a:defRPr>
            </a:defPPr>
            <a:lvl1pPr>
              <a:defRPr sz="1875" b="0">
                <a:solidFill>
                  <a:srgbClr val="142D4E"/>
                </a:solidFill>
                <a:latin typeface="Arial"/>
                <a:ea typeface="Arial"/>
                <a:cs typeface="Arial"/>
              </a:defRPr>
            </a:lvl1pPr>
            <a:lvl2pPr>
              <a:defRPr sz="1875" b="0">
                <a:solidFill>
                  <a:srgbClr val="142D4E"/>
                </a:solidFill>
                <a:latin typeface="Arial"/>
                <a:ea typeface="Arial"/>
                <a:cs typeface="Arial"/>
              </a:defRPr>
            </a:lvl2pPr>
            <a:lvl3pPr>
              <a:defRPr sz="1875" b="0">
                <a:solidFill>
                  <a:srgbClr val="142D4E"/>
                </a:solidFill>
                <a:latin typeface="Arial"/>
                <a:ea typeface="Arial"/>
                <a:cs typeface="Arial"/>
              </a:defRPr>
            </a:lvl3pPr>
            <a:lvl4pPr>
              <a:defRPr sz="1875" b="0">
                <a:solidFill>
                  <a:srgbClr val="142D4E"/>
                </a:solidFill>
                <a:latin typeface="Arial"/>
                <a:ea typeface="Arial"/>
                <a:cs typeface="Arial"/>
              </a:defRPr>
            </a:lvl4pPr>
            <a:lvl5pPr>
              <a:defRPr sz="1875" b="0">
                <a:solidFill>
                  <a:srgbClr val="142D4E"/>
                </a:solidFill>
                <a:latin typeface="Arial"/>
                <a:ea typeface="Arial"/>
                <a:cs typeface="Arial"/>
              </a:defRPr>
            </a:lvl5pPr>
            <a:lvl6pPr>
              <a:defRPr sz="1875" b="0">
                <a:solidFill>
                  <a:srgbClr val="142D4E"/>
                </a:solidFill>
                <a:latin typeface="Arial"/>
                <a:ea typeface="Arial"/>
                <a:cs typeface="Arial"/>
              </a:defRPr>
            </a:lvl6pPr>
            <a:lvl7pPr>
              <a:defRPr sz="1875" b="0">
                <a:solidFill>
                  <a:srgbClr val="142D4E"/>
                </a:solidFill>
                <a:latin typeface="Arial"/>
                <a:ea typeface="Arial"/>
                <a:cs typeface="Arial"/>
              </a:defRPr>
            </a:lvl7pPr>
            <a:lvl8pPr>
              <a:defRPr sz="1875" b="0">
                <a:solidFill>
                  <a:srgbClr val="142D4E"/>
                </a:solidFill>
                <a:latin typeface="Arial"/>
                <a:ea typeface="Arial"/>
                <a:cs typeface="Arial"/>
              </a:defRPr>
            </a:lvl8pPr>
            <a:lvl9pPr>
              <a:defRPr sz="1875" b="0">
                <a:solidFill>
                  <a:srgbClr val="142D4E"/>
                </a:solidFill>
                <a:latin typeface="Arial"/>
                <a:ea typeface="Arial"/>
                <a:cs typeface="Arial"/>
              </a:defRPr>
            </a:lvl9pPr>
          </a:lstStyle>
          <a:p xmlns:a="http://schemas.openxmlformats.org/drawingml/2006/main">
            <a:pPr>
              <a:defRPr sz="1875" b="0">
                <a:solidFill>
                  <a:srgbClr val="142D4E"/>
                </a:solidFill>
                <a:latin typeface="Arial"/>
                <a:ea typeface="Arial"/>
                <a:cs typeface="Arial"/>
              </a:defRPr>
            </a:pPr>
            <a:r>
              <a:rPr sz="1875" b="0">
                <a:solidFill>
                  <a:srgbClr val="142D4E"/>
                </a:solidFill>
                <a:latin typeface="Arial"/>
                <a:ea typeface="Arial"/>
                <a:cs typeface="Arial"/>
              </a:rPr>
              <a:t>44 fixtures + 39 Chrome decisions</a:t>
            </a:r>
          </a:p>
          <a:p xmlns:a="http://schemas.openxmlformats.org/drawingml/2006/main">
            <a:pPr>
              <a:defRPr sz="1875" b="0">
                <a:solidFill>
                  <a:srgbClr val="142D4E"/>
                </a:solidFill>
                <a:latin typeface="Arial"/>
                <a:ea typeface="Arial"/>
                <a:cs typeface="Arial"/>
              </a:defRPr>
            </a:pPr>
            <a:r>
              <a:rPr sz="1875" b="0">
                <a:solidFill>
                  <a:srgbClr val="142D4E"/>
                </a:solidFill>
                <a:latin typeface="Arial"/>
                <a:ea typeface="Arial"/>
                <a:cs typeface="Arial"/>
              </a:rPr>
              <a:t>Matching actions against Python</a:t>
            </a:r>
          </a:p>
        </p:txBody>
      </p:sp>
      <p:sp>
        <p:nvSpPr>
          <p:cNvPr id="20" name="timing">
            <a:extLst xmlns:a="http://schemas.openxmlformats.org/drawingml/2006/main">
              <a:ext uri="{FF2B5EF4-FFF2-40B4-BE49-F238E27FC236}">
                <a16:creationId xmlns:a16="http://schemas.microsoft.com/office/drawing/2014/main" id="{92008FB1-D1CF-4318-AE7A-CCD3E8924E90}"/>
              </a:ext>
            </a:extLst>
          </p:cNvPr>
          <p:cNvSpPr>
            <a:spLocks xmlns:a="http://schemas.openxmlformats.org/drawingml/2006/main" noGrp="1"/>
          </p:cNvSpPr>
          <p:nvPr/>
        </p:nvSpPr>
        <p:spPr>
          <a:xfrm xmlns:a="http://schemas.openxmlformats.org/drawingml/2006/main">
            <a:off x="7981950" y="5429250"/>
            <a:ext cx="3600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0B7A75"/>
                </a:solidFill>
                <a:latin typeface="Arial"/>
                <a:ea typeface="Arial"/>
                <a:cs typeface="Arial"/>
              </a:defRPr>
            </a:defPPr>
            <a:lvl1pPr>
              <a:defRPr sz="3075" b="1">
                <a:solidFill>
                  <a:srgbClr val="0B7A75"/>
                </a:solidFill>
                <a:latin typeface="Arial"/>
                <a:ea typeface="Arial"/>
                <a:cs typeface="Arial"/>
              </a:defRPr>
            </a:lvl1pPr>
            <a:lvl2pPr>
              <a:defRPr sz="3075" b="1">
                <a:solidFill>
                  <a:srgbClr val="0B7A75"/>
                </a:solidFill>
                <a:latin typeface="Arial"/>
                <a:ea typeface="Arial"/>
                <a:cs typeface="Arial"/>
              </a:defRPr>
            </a:lvl2pPr>
            <a:lvl3pPr>
              <a:defRPr sz="3075" b="1">
                <a:solidFill>
                  <a:srgbClr val="0B7A75"/>
                </a:solidFill>
                <a:latin typeface="Arial"/>
                <a:ea typeface="Arial"/>
                <a:cs typeface="Arial"/>
              </a:defRPr>
            </a:lvl3pPr>
            <a:lvl4pPr>
              <a:defRPr sz="3075" b="1">
                <a:solidFill>
                  <a:srgbClr val="0B7A75"/>
                </a:solidFill>
                <a:latin typeface="Arial"/>
                <a:ea typeface="Arial"/>
                <a:cs typeface="Arial"/>
              </a:defRPr>
            </a:lvl4pPr>
            <a:lvl5pPr>
              <a:defRPr sz="3075" b="1">
                <a:solidFill>
                  <a:srgbClr val="0B7A75"/>
                </a:solidFill>
                <a:latin typeface="Arial"/>
                <a:ea typeface="Arial"/>
                <a:cs typeface="Arial"/>
              </a:defRPr>
            </a:lvl5pPr>
            <a:lvl6pPr>
              <a:defRPr sz="3075" b="1">
                <a:solidFill>
                  <a:srgbClr val="0B7A75"/>
                </a:solidFill>
                <a:latin typeface="Arial"/>
                <a:ea typeface="Arial"/>
                <a:cs typeface="Arial"/>
              </a:defRPr>
            </a:lvl6pPr>
            <a:lvl7pPr>
              <a:defRPr sz="3075" b="1">
                <a:solidFill>
                  <a:srgbClr val="0B7A75"/>
                </a:solidFill>
                <a:latin typeface="Arial"/>
                <a:ea typeface="Arial"/>
                <a:cs typeface="Arial"/>
              </a:defRPr>
            </a:lvl7pPr>
            <a:lvl8pPr>
              <a:defRPr sz="3075" b="1">
                <a:solidFill>
                  <a:srgbClr val="0B7A75"/>
                </a:solidFill>
                <a:latin typeface="Arial"/>
                <a:ea typeface="Arial"/>
                <a:cs typeface="Arial"/>
              </a:defRPr>
            </a:lvl8pPr>
            <a:lvl9pPr>
              <a:defRPr sz="3075" b="1">
                <a:solidFill>
                  <a:srgbClr val="0B7A75"/>
                </a:solidFill>
                <a:latin typeface="Arial"/>
                <a:ea typeface="Arial"/>
                <a:cs typeface="Arial"/>
              </a:defRPr>
            </a:lvl9pPr>
          </a:lstStyle>
          <a:p xmlns:a="http://schemas.openxmlformats.org/drawingml/2006/main">
            <a:pPr>
              <a:defRPr sz="3075" b="1">
                <a:solidFill>
                  <a:srgbClr val="0B7A75"/>
                </a:solidFill>
                <a:latin typeface="Arial"/>
                <a:ea typeface="Arial"/>
                <a:cs typeface="Arial"/>
              </a:defRPr>
            </a:pPr>
            <a:r>
              <a:rPr sz="3075" b="1">
                <a:solidFill>
                  <a:srgbClr val="0B7A75"/>
                </a:solidFill>
                <a:latin typeface="Arial"/>
                <a:ea typeface="Arial"/>
                <a:cs typeface="Arial"/>
              </a:rPr>
              <a:t>0.4 ms p99</a:t>
            </a:r>
          </a:p>
        </p:txBody>
      </p:sp>
      <p:sp>
        <p:nvSpPr>
          <p:cNvPr id="21" name="scope">
            <a:extLst xmlns:a="http://schemas.openxmlformats.org/drawingml/2006/main">
              <a:ext uri="{FF2B5EF4-FFF2-40B4-BE49-F238E27FC236}">
                <a16:creationId xmlns:a16="http://schemas.microsoft.com/office/drawing/2014/main" id="{45E0CA3E-9BA0-44D1-863C-67912D7AC1B5}"/>
              </a:ext>
            </a:extLst>
          </p:cNvPr>
          <p:cNvSpPr>
            <a:spLocks xmlns:a="http://schemas.openxmlformats.org/drawingml/2006/main" noGrp="1"/>
          </p:cNvSpPr>
          <p:nvPr/>
        </p:nvSpPr>
        <p:spPr>
          <a:xfrm xmlns:a="http://schemas.openxmlformats.org/drawingml/2006/main">
            <a:off x="609600" y="6181725"/>
            <a:ext cx="10429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36273"/>
                </a:solidFill>
                <a:latin typeface="Arial"/>
                <a:ea typeface="Arial"/>
                <a:cs typeface="Arial"/>
              </a:defRPr>
            </a:defPPr>
            <a:lvl1pPr>
              <a:defRPr sz="1725" b="0">
                <a:solidFill>
                  <a:srgbClr val="536273"/>
                </a:solidFill>
                <a:latin typeface="Arial"/>
                <a:ea typeface="Arial"/>
                <a:cs typeface="Arial"/>
              </a:defRPr>
            </a:lvl1pPr>
            <a:lvl2pPr>
              <a:defRPr sz="1725" b="0">
                <a:solidFill>
                  <a:srgbClr val="536273"/>
                </a:solidFill>
                <a:latin typeface="Arial"/>
                <a:ea typeface="Arial"/>
                <a:cs typeface="Arial"/>
              </a:defRPr>
            </a:lvl2pPr>
            <a:lvl3pPr>
              <a:defRPr sz="1725" b="0">
                <a:solidFill>
                  <a:srgbClr val="536273"/>
                </a:solidFill>
                <a:latin typeface="Arial"/>
                <a:ea typeface="Arial"/>
                <a:cs typeface="Arial"/>
              </a:defRPr>
            </a:lvl3pPr>
            <a:lvl4pPr>
              <a:defRPr sz="1725" b="0">
                <a:solidFill>
                  <a:srgbClr val="536273"/>
                </a:solidFill>
                <a:latin typeface="Arial"/>
                <a:ea typeface="Arial"/>
                <a:cs typeface="Arial"/>
              </a:defRPr>
            </a:lvl4pPr>
            <a:lvl5pPr>
              <a:defRPr sz="1725" b="0">
                <a:solidFill>
                  <a:srgbClr val="536273"/>
                </a:solidFill>
                <a:latin typeface="Arial"/>
                <a:ea typeface="Arial"/>
                <a:cs typeface="Arial"/>
              </a:defRPr>
            </a:lvl5pPr>
            <a:lvl6pPr>
              <a:defRPr sz="1725" b="0">
                <a:solidFill>
                  <a:srgbClr val="536273"/>
                </a:solidFill>
                <a:latin typeface="Arial"/>
                <a:ea typeface="Arial"/>
                <a:cs typeface="Arial"/>
              </a:defRPr>
            </a:lvl6pPr>
            <a:lvl7pPr>
              <a:defRPr sz="1725" b="0">
                <a:solidFill>
                  <a:srgbClr val="536273"/>
                </a:solidFill>
                <a:latin typeface="Arial"/>
                <a:ea typeface="Arial"/>
                <a:cs typeface="Arial"/>
              </a:defRPr>
            </a:lvl7pPr>
            <a:lvl8pPr>
              <a:defRPr sz="1725" b="0">
                <a:solidFill>
                  <a:srgbClr val="536273"/>
                </a:solidFill>
                <a:latin typeface="Arial"/>
                <a:ea typeface="Arial"/>
                <a:cs typeface="Arial"/>
              </a:defRPr>
            </a:lvl8pPr>
            <a:lvl9pPr>
              <a:defRPr sz="1725" b="0">
                <a:solidFill>
                  <a:srgbClr val="536273"/>
                </a:solidFill>
                <a:latin typeface="Arial"/>
                <a:ea typeface="Arial"/>
                <a:cs typeface="Arial"/>
              </a:defRPr>
            </a:lvl9pPr>
          </a:lstStyle>
          <a:p xmlns:a="http://schemas.openxmlformats.org/drawingml/2006/main">
            <a:pPr>
              <a:defRPr sz="1725" b="0">
                <a:solidFill>
                  <a:srgbClr val="536273"/>
                </a:solidFill>
                <a:latin typeface="Arial"/>
                <a:ea typeface="Arial"/>
                <a:cs typeface="Arial"/>
              </a:defRPr>
            </a:pPr>
            <a:r>
              <a:rPr sz="1725" b="0">
                <a:solidFill>
                  <a:srgbClr val="536273"/>
                </a:solidFill>
                <a:latin typeface="Arial"/>
                <a:ea typeface="Arial"/>
                <a:cs typeface="Arial"/>
              </a:rPr>
              <a:t>Integration pilot. Final LEO-aware training and QoE improvement remain future work.</a:t>
            </a:r>
          </a:p>
        </p:txBody>
      </p:sp>
    </p:spTree>
    <p:extLst>
      <p:ext uri="{BB962C8B-B14F-4D97-AF65-F5344CB8AC3E}">
        <p14:creationId xmlns:p14="http://schemas.microsoft.com/office/powerpoint/2010/main" val="46924008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644A4BBC-D0F0-4704-9D48-8D2F27EC78D6}"/>
              </a:ext>
            </a:extLst>
          </p:cNvPr>
          <p:cNvSpPr>
            <a:spLocks xmlns:a="http://schemas.openxmlformats.org/drawingml/2006/main" noGrp="1"/>
          </p:cNvSpPr>
          <p:nvPr/>
        </p:nvSpPr>
        <p:spPr>
          <a:xfrm xmlns:a="http://schemas.openxmlformats.org/drawingml/2006/main">
            <a:off x="609600" y="4095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42D4E"/>
                </a:solidFill>
                <a:latin typeface="Arial"/>
                <a:ea typeface="Arial"/>
                <a:cs typeface="Arial"/>
              </a:defRPr>
            </a:defPPr>
            <a:lvl1pPr>
              <a:defRPr sz="3300" b="1">
                <a:solidFill>
                  <a:srgbClr val="142D4E"/>
                </a:solidFill>
                <a:latin typeface="Arial"/>
                <a:ea typeface="Arial"/>
                <a:cs typeface="Arial"/>
              </a:defRPr>
            </a:lvl1pPr>
            <a:lvl2pPr>
              <a:defRPr sz="3300" b="1">
                <a:solidFill>
                  <a:srgbClr val="142D4E"/>
                </a:solidFill>
                <a:latin typeface="Arial"/>
                <a:ea typeface="Arial"/>
                <a:cs typeface="Arial"/>
              </a:defRPr>
            </a:lvl2pPr>
            <a:lvl3pPr>
              <a:defRPr sz="3300" b="1">
                <a:solidFill>
                  <a:srgbClr val="142D4E"/>
                </a:solidFill>
                <a:latin typeface="Arial"/>
                <a:ea typeface="Arial"/>
                <a:cs typeface="Arial"/>
              </a:defRPr>
            </a:lvl3pPr>
            <a:lvl4pPr>
              <a:defRPr sz="3300" b="1">
                <a:solidFill>
                  <a:srgbClr val="142D4E"/>
                </a:solidFill>
                <a:latin typeface="Arial"/>
                <a:ea typeface="Arial"/>
                <a:cs typeface="Arial"/>
              </a:defRPr>
            </a:lvl4pPr>
            <a:lvl5pPr>
              <a:defRPr sz="3300" b="1">
                <a:solidFill>
                  <a:srgbClr val="142D4E"/>
                </a:solidFill>
                <a:latin typeface="Arial"/>
                <a:ea typeface="Arial"/>
                <a:cs typeface="Arial"/>
              </a:defRPr>
            </a:lvl5pPr>
            <a:lvl6pPr>
              <a:defRPr sz="3300" b="1">
                <a:solidFill>
                  <a:srgbClr val="142D4E"/>
                </a:solidFill>
                <a:latin typeface="Arial"/>
                <a:ea typeface="Arial"/>
                <a:cs typeface="Arial"/>
              </a:defRPr>
            </a:lvl6pPr>
            <a:lvl7pPr>
              <a:defRPr sz="3300" b="1">
                <a:solidFill>
                  <a:srgbClr val="142D4E"/>
                </a:solidFill>
                <a:latin typeface="Arial"/>
                <a:ea typeface="Arial"/>
                <a:cs typeface="Arial"/>
              </a:defRPr>
            </a:lvl7pPr>
            <a:lvl8pPr>
              <a:defRPr sz="3300" b="1">
                <a:solidFill>
                  <a:srgbClr val="142D4E"/>
                </a:solidFill>
                <a:latin typeface="Arial"/>
                <a:ea typeface="Arial"/>
                <a:cs typeface="Arial"/>
              </a:defRPr>
            </a:lvl8pPr>
            <a:lvl9pPr>
              <a:defRPr sz="3300" b="1">
                <a:solidFill>
                  <a:srgbClr val="142D4E"/>
                </a:solidFill>
                <a:latin typeface="Arial"/>
                <a:ea typeface="Arial"/>
                <a:cs typeface="Arial"/>
              </a:defRPr>
            </a:lvl9pPr>
          </a:lstStyle>
          <a:p xmlns:a="http://schemas.openxmlformats.org/drawingml/2006/main">
            <a:pPr>
              <a:defRPr sz="3300" b="1">
                <a:solidFill>
                  <a:srgbClr val="142D4E"/>
                </a:solidFill>
                <a:latin typeface="Arial"/>
                <a:ea typeface="Arial"/>
                <a:cs typeface="Arial"/>
              </a:defRPr>
            </a:pPr>
            <a:r>
              <a:rPr sz="3300" b="1">
                <a:solidFill>
                  <a:srgbClr val="142D4E"/>
                </a:solidFill>
                <a:latin typeface="Arial"/>
                <a:ea typeface="Arial"/>
                <a:cs typeface="Arial"/>
              </a:rPr>
              <a:t>Next phase: the LEO-aware RL controller</a:t>
            </a:r>
          </a:p>
        </p:txBody>
      </p:sp>
      <p:sp>
        <p:nvSpPr>
          <p:cNvPr id="3" name="slide-number">
            <a:extLst xmlns:a="http://schemas.openxmlformats.org/drawingml/2006/main">
              <a:ext uri="{FF2B5EF4-FFF2-40B4-BE49-F238E27FC236}">
                <a16:creationId xmlns:a16="http://schemas.microsoft.com/office/drawing/2014/main" id="{40265937-22E6-471D-B7E5-1104E2FDBE13}"/>
              </a:ext>
            </a:extLst>
          </p:cNvPr>
          <p:cNvSpPr>
            <a:spLocks xmlns:a="http://schemas.openxmlformats.org/drawingml/2006/main" noGrp="1"/>
          </p:cNvSpPr>
          <p:nvPr/>
        </p:nvSpPr>
        <p:spPr>
          <a:xfrm xmlns:a="http://schemas.openxmlformats.org/drawingml/2006/main">
            <a:off x="11163300" y="64198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36273"/>
                </a:solidFill>
                <a:latin typeface="Arial"/>
                <a:ea typeface="Arial"/>
                <a:cs typeface="Arial"/>
              </a:defRPr>
            </a:defPPr>
            <a:lvl1pPr>
              <a:defRPr sz="1650" b="0">
                <a:solidFill>
                  <a:srgbClr val="536273"/>
                </a:solidFill>
                <a:latin typeface="Arial"/>
                <a:ea typeface="Arial"/>
                <a:cs typeface="Arial"/>
              </a:defRPr>
            </a:lvl1pPr>
            <a:lvl2pPr>
              <a:defRPr sz="1650" b="0">
                <a:solidFill>
                  <a:srgbClr val="536273"/>
                </a:solidFill>
                <a:latin typeface="Arial"/>
                <a:ea typeface="Arial"/>
                <a:cs typeface="Arial"/>
              </a:defRPr>
            </a:lvl2pPr>
            <a:lvl3pPr>
              <a:defRPr sz="1650" b="0">
                <a:solidFill>
                  <a:srgbClr val="536273"/>
                </a:solidFill>
                <a:latin typeface="Arial"/>
                <a:ea typeface="Arial"/>
                <a:cs typeface="Arial"/>
              </a:defRPr>
            </a:lvl3pPr>
            <a:lvl4pPr>
              <a:defRPr sz="1650" b="0">
                <a:solidFill>
                  <a:srgbClr val="536273"/>
                </a:solidFill>
                <a:latin typeface="Arial"/>
                <a:ea typeface="Arial"/>
                <a:cs typeface="Arial"/>
              </a:defRPr>
            </a:lvl4pPr>
            <a:lvl5pPr>
              <a:defRPr sz="1650" b="0">
                <a:solidFill>
                  <a:srgbClr val="536273"/>
                </a:solidFill>
                <a:latin typeface="Arial"/>
                <a:ea typeface="Arial"/>
                <a:cs typeface="Arial"/>
              </a:defRPr>
            </a:lvl5pPr>
            <a:lvl6pPr>
              <a:defRPr sz="1650" b="0">
                <a:solidFill>
                  <a:srgbClr val="536273"/>
                </a:solidFill>
                <a:latin typeface="Arial"/>
                <a:ea typeface="Arial"/>
                <a:cs typeface="Arial"/>
              </a:defRPr>
            </a:lvl6pPr>
            <a:lvl7pPr>
              <a:defRPr sz="1650" b="0">
                <a:solidFill>
                  <a:srgbClr val="536273"/>
                </a:solidFill>
                <a:latin typeface="Arial"/>
                <a:ea typeface="Arial"/>
                <a:cs typeface="Arial"/>
              </a:defRPr>
            </a:lvl7pPr>
            <a:lvl8pPr>
              <a:defRPr sz="1650" b="0">
                <a:solidFill>
                  <a:srgbClr val="536273"/>
                </a:solidFill>
                <a:latin typeface="Arial"/>
                <a:ea typeface="Arial"/>
                <a:cs typeface="Arial"/>
              </a:defRPr>
            </a:lvl8pPr>
            <a:lvl9pPr>
              <a:defRPr sz="1650" b="0">
                <a:solidFill>
                  <a:srgbClr val="536273"/>
                </a:solidFill>
                <a:latin typeface="Arial"/>
                <a:ea typeface="Arial"/>
                <a:cs typeface="Arial"/>
              </a:defRPr>
            </a:lvl9pPr>
          </a:lstStyle>
          <a:p xmlns:a="http://schemas.openxmlformats.org/drawingml/2006/main">
            <a:pPr>
              <a:defRPr sz="1650" b="0">
                <a:solidFill>
                  <a:srgbClr val="536273"/>
                </a:solidFill>
                <a:latin typeface="Arial"/>
                <a:ea typeface="Arial"/>
                <a:cs typeface="Arial"/>
              </a:defRPr>
            </a:pPr>
            <a:r>
              <a:rPr sz="1650" b="0">
                <a:solidFill>
                  <a:srgbClr val="536273"/>
                </a:solidFill>
                <a:latin typeface="Arial"/>
                <a:ea typeface="Arial"/>
                <a:cs typeface="Arial"/>
              </a:rPr>
              <a:t>07</a:t>
            </a:r>
          </a:p>
        </p:txBody>
      </p:sp>
      <p:sp>
        <p:nvSpPr>
          <p:cNvPr id="4" name="calibrate-head">
            <a:extLst xmlns:a="http://schemas.openxmlformats.org/drawingml/2006/main">
              <a:ext uri="{FF2B5EF4-FFF2-40B4-BE49-F238E27FC236}">
                <a16:creationId xmlns:a16="http://schemas.microsoft.com/office/drawing/2014/main" id="{EE8583AA-E873-42C5-9622-ACC3FF61AC5E}"/>
              </a:ext>
            </a:extLst>
          </p:cNvPr>
          <p:cNvSpPr>
            <a:spLocks xmlns:a="http://schemas.openxmlformats.org/drawingml/2006/main" noGrp="1"/>
          </p:cNvSpPr>
          <p:nvPr/>
        </p:nvSpPr>
        <p:spPr>
          <a:xfrm xmlns:a="http://schemas.openxmlformats.org/drawingml/2006/main">
            <a:off x="609600" y="15049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B7A75"/>
                </a:solidFill>
                <a:latin typeface="Arial"/>
                <a:ea typeface="Arial"/>
                <a:cs typeface="Arial"/>
              </a:defRPr>
            </a:defPPr>
            <a:lvl1pPr>
              <a:defRPr sz="2550" b="1">
                <a:solidFill>
                  <a:srgbClr val="0B7A75"/>
                </a:solidFill>
                <a:latin typeface="Arial"/>
                <a:ea typeface="Arial"/>
                <a:cs typeface="Arial"/>
              </a:defRPr>
            </a:lvl1pPr>
            <a:lvl2pPr>
              <a:defRPr sz="2550" b="1">
                <a:solidFill>
                  <a:srgbClr val="0B7A75"/>
                </a:solidFill>
                <a:latin typeface="Arial"/>
                <a:ea typeface="Arial"/>
                <a:cs typeface="Arial"/>
              </a:defRPr>
            </a:lvl2pPr>
            <a:lvl3pPr>
              <a:defRPr sz="2550" b="1">
                <a:solidFill>
                  <a:srgbClr val="0B7A75"/>
                </a:solidFill>
                <a:latin typeface="Arial"/>
                <a:ea typeface="Arial"/>
                <a:cs typeface="Arial"/>
              </a:defRPr>
            </a:lvl3pPr>
            <a:lvl4pPr>
              <a:defRPr sz="2550" b="1">
                <a:solidFill>
                  <a:srgbClr val="0B7A75"/>
                </a:solidFill>
                <a:latin typeface="Arial"/>
                <a:ea typeface="Arial"/>
                <a:cs typeface="Arial"/>
              </a:defRPr>
            </a:lvl4pPr>
            <a:lvl5pPr>
              <a:defRPr sz="2550" b="1">
                <a:solidFill>
                  <a:srgbClr val="0B7A75"/>
                </a:solidFill>
                <a:latin typeface="Arial"/>
                <a:ea typeface="Arial"/>
                <a:cs typeface="Arial"/>
              </a:defRPr>
            </a:lvl5pPr>
            <a:lvl6pPr>
              <a:defRPr sz="2550" b="1">
                <a:solidFill>
                  <a:srgbClr val="0B7A75"/>
                </a:solidFill>
                <a:latin typeface="Arial"/>
                <a:ea typeface="Arial"/>
                <a:cs typeface="Arial"/>
              </a:defRPr>
            </a:lvl6pPr>
            <a:lvl7pPr>
              <a:defRPr sz="2550" b="1">
                <a:solidFill>
                  <a:srgbClr val="0B7A75"/>
                </a:solidFill>
                <a:latin typeface="Arial"/>
                <a:ea typeface="Arial"/>
                <a:cs typeface="Arial"/>
              </a:defRPr>
            </a:lvl7pPr>
            <a:lvl8pPr>
              <a:defRPr sz="2550" b="1">
                <a:solidFill>
                  <a:srgbClr val="0B7A75"/>
                </a:solidFill>
                <a:latin typeface="Arial"/>
                <a:ea typeface="Arial"/>
                <a:cs typeface="Arial"/>
              </a:defRPr>
            </a:lvl8pPr>
            <a:lvl9pPr>
              <a:defRPr sz="2550" b="1">
                <a:solidFill>
                  <a:srgbClr val="0B7A75"/>
                </a:solidFill>
                <a:latin typeface="Arial"/>
                <a:ea typeface="Arial"/>
                <a:cs typeface="Arial"/>
              </a:defRPr>
            </a:lvl9pPr>
          </a:lstStyle>
          <a:p xmlns:a="http://schemas.openxmlformats.org/drawingml/2006/main">
            <a:pPr>
              <a:defRPr sz="2550" b="1">
                <a:solidFill>
                  <a:srgbClr val="0B7A75"/>
                </a:solidFill>
                <a:latin typeface="Arial"/>
                <a:ea typeface="Arial"/>
                <a:cs typeface="Arial"/>
              </a:defRPr>
            </a:pPr>
            <a:r>
              <a:rPr sz="2550" b="1">
                <a:solidFill>
                  <a:srgbClr val="0B7A75"/>
                </a:solidFill>
                <a:latin typeface="Arial"/>
                <a:ea typeface="Arial"/>
                <a:cs typeface="Arial"/>
              </a:rPr>
              <a:t>1  Calibrate</a:t>
            </a:r>
          </a:p>
        </p:txBody>
      </p:sp>
      <p:sp>
        <p:nvSpPr>
          <p:cNvPr id="5" name="calibrate-body">
            <a:extLst xmlns:a="http://schemas.openxmlformats.org/drawingml/2006/main">
              <a:ext uri="{FF2B5EF4-FFF2-40B4-BE49-F238E27FC236}">
                <a16:creationId xmlns:a16="http://schemas.microsoft.com/office/drawing/2014/main" id="{7C2D3E4E-D966-4700-A5BB-6BF01F69CDA6}"/>
              </a:ext>
            </a:extLst>
          </p:cNvPr>
          <p:cNvSpPr>
            <a:spLocks xmlns:a="http://schemas.openxmlformats.org/drawingml/2006/main" noGrp="1"/>
          </p:cNvSpPr>
          <p:nvPr/>
        </p:nvSpPr>
        <p:spPr>
          <a:xfrm xmlns:a="http://schemas.openxmlformats.org/drawingml/2006/main">
            <a:off x="3429000" y="1533525"/>
            <a:ext cx="8153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42D4E"/>
                </a:solidFill>
                <a:latin typeface="Arial"/>
                <a:ea typeface="Arial"/>
                <a:cs typeface="Arial"/>
              </a:defRPr>
            </a:defPPr>
            <a:lvl1pPr>
              <a:defRPr sz="2100" b="0">
                <a:solidFill>
                  <a:srgbClr val="142D4E"/>
                </a:solidFill>
                <a:latin typeface="Arial"/>
                <a:ea typeface="Arial"/>
                <a:cs typeface="Arial"/>
              </a:defRPr>
            </a:lvl1pPr>
            <a:lvl2pPr>
              <a:defRPr sz="2100" b="0">
                <a:solidFill>
                  <a:srgbClr val="142D4E"/>
                </a:solidFill>
                <a:latin typeface="Arial"/>
                <a:ea typeface="Arial"/>
                <a:cs typeface="Arial"/>
              </a:defRPr>
            </a:lvl2pPr>
            <a:lvl3pPr>
              <a:defRPr sz="2100" b="0">
                <a:solidFill>
                  <a:srgbClr val="142D4E"/>
                </a:solidFill>
                <a:latin typeface="Arial"/>
                <a:ea typeface="Arial"/>
                <a:cs typeface="Arial"/>
              </a:defRPr>
            </a:lvl3pPr>
            <a:lvl4pPr>
              <a:defRPr sz="2100" b="0">
                <a:solidFill>
                  <a:srgbClr val="142D4E"/>
                </a:solidFill>
                <a:latin typeface="Arial"/>
                <a:ea typeface="Arial"/>
                <a:cs typeface="Arial"/>
              </a:defRPr>
            </a:lvl4pPr>
            <a:lvl5pPr>
              <a:defRPr sz="2100" b="0">
                <a:solidFill>
                  <a:srgbClr val="142D4E"/>
                </a:solidFill>
                <a:latin typeface="Arial"/>
                <a:ea typeface="Arial"/>
                <a:cs typeface="Arial"/>
              </a:defRPr>
            </a:lvl5pPr>
            <a:lvl6pPr>
              <a:defRPr sz="2100" b="0">
                <a:solidFill>
                  <a:srgbClr val="142D4E"/>
                </a:solidFill>
                <a:latin typeface="Arial"/>
                <a:ea typeface="Arial"/>
                <a:cs typeface="Arial"/>
              </a:defRPr>
            </a:lvl6pPr>
            <a:lvl7pPr>
              <a:defRPr sz="2100" b="0">
                <a:solidFill>
                  <a:srgbClr val="142D4E"/>
                </a:solidFill>
                <a:latin typeface="Arial"/>
                <a:ea typeface="Arial"/>
                <a:cs typeface="Arial"/>
              </a:defRPr>
            </a:lvl7pPr>
            <a:lvl8pPr>
              <a:defRPr sz="2100" b="0">
                <a:solidFill>
                  <a:srgbClr val="142D4E"/>
                </a:solidFill>
                <a:latin typeface="Arial"/>
                <a:ea typeface="Arial"/>
                <a:cs typeface="Arial"/>
              </a:defRPr>
            </a:lvl8pPr>
            <a:lvl9pPr>
              <a:defRPr sz="2100" b="0">
                <a:solidFill>
                  <a:srgbClr val="142D4E"/>
                </a:solidFill>
                <a:latin typeface="Arial"/>
                <a:ea typeface="Arial"/>
                <a:cs typeface="Arial"/>
              </a:defRPr>
            </a:lvl9pPr>
          </a:lstStyle>
          <a:p xmlns:a="http://schemas.openxmlformats.org/drawingml/2006/main">
            <a:pPr>
              <a:defRPr sz="2100" b="0">
                <a:solidFill>
                  <a:srgbClr val="142D4E"/>
                </a:solidFill>
                <a:latin typeface="Arial"/>
                <a:ea typeface="Arial"/>
                <a:cs typeface="Arial"/>
              </a:defRPr>
            </a:pPr>
            <a:r>
              <a:rPr sz="2100" b="0">
                <a:solidFill>
                  <a:srgbClr val="142D4E"/>
                </a:solidFill>
                <a:latin typeface="Arial"/>
                <a:ea typeface="Arial"/>
                <a:cs typeface="Arial"/>
              </a:rPr>
              <a:t>Match simulator downloads, buffer, stalls and seeks to Chrome.</a:t>
            </a:r>
          </a:p>
        </p:txBody>
      </p:sp>
      <p:sp>
        <p:nvSpPr>
          <p:cNvPr id="6" name="state-head">
            <a:extLst xmlns:a="http://schemas.openxmlformats.org/drawingml/2006/main">
              <a:ext uri="{FF2B5EF4-FFF2-40B4-BE49-F238E27FC236}">
                <a16:creationId xmlns:a16="http://schemas.microsoft.com/office/drawing/2014/main" id="{43A6D887-3263-4E5E-8D71-48740C7A8CD9}"/>
              </a:ext>
            </a:extLst>
          </p:cNvPr>
          <p:cNvSpPr>
            <a:spLocks xmlns:a="http://schemas.openxmlformats.org/drawingml/2006/main" noGrp="1"/>
          </p:cNvSpPr>
          <p:nvPr/>
        </p:nvSpPr>
        <p:spPr>
          <a:xfrm xmlns:a="http://schemas.openxmlformats.org/drawingml/2006/main">
            <a:off x="609600" y="2724150"/>
            <a:ext cx="266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B7A75"/>
                </a:solidFill>
                <a:latin typeface="Arial"/>
                <a:ea typeface="Arial"/>
                <a:cs typeface="Arial"/>
              </a:defRPr>
            </a:defPPr>
            <a:lvl1pPr>
              <a:defRPr sz="2550" b="1">
                <a:solidFill>
                  <a:srgbClr val="0B7A75"/>
                </a:solidFill>
                <a:latin typeface="Arial"/>
                <a:ea typeface="Arial"/>
                <a:cs typeface="Arial"/>
              </a:defRPr>
            </a:lvl1pPr>
            <a:lvl2pPr>
              <a:defRPr sz="2550" b="1">
                <a:solidFill>
                  <a:srgbClr val="0B7A75"/>
                </a:solidFill>
                <a:latin typeface="Arial"/>
                <a:ea typeface="Arial"/>
                <a:cs typeface="Arial"/>
              </a:defRPr>
            </a:lvl2pPr>
            <a:lvl3pPr>
              <a:defRPr sz="2550" b="1">
                <a:solidFill>
                  <a:srgbClr val="0B7A75"/>
                </a:solidFill>
                <a:latin typeface="Arial"/>
                <a:ea typeface="Arial"/>
                <a:cs typeface="Arial"/>
              </a:defRPr>
            </a:lvl3pPr>
            <a:lvl4pPr>
              <a:defRPr sz="2550" b="1">
                <a:solidFill>
                  <a:srgbClr val="0B7A75"/>
                </a:solidFill>
                <a:latin typeface="Arial"/>
                <a:ea typeface="Arial"/>
                <a:cs typeface="Arial"/>
              </a:defRPr>
            </a:lvl4pPr>
            <a:lvl5pPr>
              <a:defRPr sz="2550" b="1">
                <a:solidFill>
                  <a:srgbClr val="0B7A75"/>
                </a:solidFill>
                <a:latin typeface="Arial"/>
                <a:ea typeface="Arial"/>
                <a:cs typeface="Arial"/>
              </a:defRPr>
            </a:lvl5pPr>
            <a:lvl6pPr>
              <a:defRPr sz="2550" b="1">
                <a:solidFill>
                  <a:srgbClr val="0B7A75"/>
                </a:solidFill>
                <a:latin typeface="Arial"/>
                <a:ea typeface="Arial"/>
                <a:cs typeface="Arial"/>
              </a:defRPr>
            </a:lvl6pPr>
            <a:lvl7pPr>
              <a:defRPr sz="2550" b="1">
                <a:solidFill>
                  <a:srgbClr val="0B7A75"/>
                </a:solidFill>
                <a:latin typeface="Arial"/>
                <a:ea typeface="Arial"/>
                <a:cs typeface="Arial"/>
              </a:defRPr>
            </a:lvl7pPr>
            <a:lvl8pPr>
              <a:defRPr sz="2550" b="1">
                <a:solidFill>
                  <a:srgbClr val="0B7A75"/>
                </a:solidFill>
                <a:latin typeface="Arial"/>
                <a:ea typeface="Arial"/>
                <a:cs typeface="Arial"/>
              </a:defRPr>
            </a:lvl8pPr>
            <a:lvl9pPr>
              <a:defRPr sz="2550" b="1">
                <a:solidFill>
                  <a:srgbClr val="0B7A75"/>
                </a:solidFill>
                <a:latin typeface="Arial"/>
                <a:ea typeface="Arial"/>
                <a:cs typeface="Arial"/>
              </a:defRPr>
            </a:lvl9pPr>
          </a:lstStyle>
          <a:p xmlns:a="http://schemas.openxmlformats.org/drawingml/2006/main">
            <a:pPr>
              <a:defRPr sz="2550" b="1">
                <a:solidFill>
                  <a:srgbClr val="0B7A75"/>
                </a:solidFill>
                <a:latin typeface="Arial"/>
                <a:ea typeface="Arial"/>
                <a:cs typeface="Arial"/>
              </a:defRPr>
            </a:pPr>
            <a:r>
              <a:rPr sz="2550" b="1">
                <a:solidFill>
                  <a:srgbClr val="0B7A75"/>
                </a:solidFill>
                <a:latin typeface="Arial"/>
                <a:ea typeface="Arial"/>
                <a:cs typeface="Arial"/>
              </a:rPr>
              <a:t>2  Add LEO state</a:t>
            </a:r>
          </a:p>
        </p:txBody>
      </p:sp>
      <p:sp>
        <p:nvSpPr>
          <p:cNvPr id="7" name="state-body">
            <a:extLst xmlns:a="http://schemas.openxmlformats.org/drawingml/2006/main">
              <a:ext uri="{FF2B5EF4-FFF2-40B4-BE49-F238E27FC236}">
                <a16:creationId xmlns:a16="http://schemas.microsoft.com/office/drawing/2014/main" id="{C5468846-E3CB-4CDD-B718-A042D70F76B1}"/>
              </a:ext>
            </a:extLst>
          </p:cNvPr>
          <p:cNvSpPr>
            <a:spLocks xmlns:a="http://schemas.openxmlformats.org/drawingml/2006/main" noGrp="1"/>
          </p:cNvSpPr>
          <p:nvPr/>
        </p:nvSpPr>
        <p:spPr>
          <a:xfrm xmlns:a="http://schemas.openxmlformats.org/drawingml/2006/main">
            <a:off x="3429000" y="2733675"/>
            <a:ext cx="8153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42D4E"/>
                </a:solidFill>
                <a:latin typeface="Arial"/>
                <a:ea typeface="Arial"/>
                <a:cs typeface="Arial"/>
              </a:defRPr>
            </a:defPPr>
            <a:lvl1pPr>
              <a:defRPr sz="2025" b="0">
                <a:solidFill>
                  <a:srgbClr val="142D4E"/>
                </a:solidFill>
                <a:latin typeface="Arial"/>
                <a:ea typeface="Arial"/>
                <a:cs typeface="Arial"/>
              </a:defRPr>
            </a:lvl1pPr>
            <a:lvl2pPr>
              <a:defRPr sz="2025" b="0">
                <a:solidFill>
                  <a:srgbClr val="142D4E"/>
                </a:solidFill>
                <a:latin typeface="Arial"/>
                <a:ea typeface="Arial"/>
                <a:cs typeface="Arial"/>
              </a:defRPr>
            </a:lvl2pPr>
            <a:lvl3pPr>
              <a:defRPr sz="2025" b="0">
                <a:solidFill>
                  <a:srgbClr val="142D4E"/>
                </a:solidFill>
                <a:latin typeface="Arial"/>
                <a:ea typeface="Arial"/>
                <a:cs typeface="Arial"/>
              </a:defRPr>
            </a:lvl3pPr>
            <a:lvl4pPr>
              <a:defRPr sz="2025" b="0">
                <a:solidFill>
                  <a:srgbClr val="142D4E"/>
                </a:solidFill>
                <a:latin typeface="Arial"/>
                <a:ea typeface="Arial"/>
                <a:cs typeface="Arial"/>
              </a:defRPr>
            </a:lvl4pPr>
            <a:lvl5pPr>
              <a:defRPr sz="2025" b="0">
                <a:solidFill>
                  <a:srgbClr val="142D4E"/>
                </a:solidFill>
                <a:latin typeface="Arial"/>
                <a:ea typeface="Arial"/>
                <a:cs typeface="Arial"/>
              </a:defRPr>
            </a:lvl5pPr>
            <a:lvl6pPr>
              <a:defRPr sz="2025" b="0">
                <a:solidFill>
                  <a:srgbClr val="142D4E"/>
                </a:solidFill>
                <a:latin typeface="Arial"/>
                <a:ea typeface="Arial"/>
                <a:cs typeface="Arial"/>
              </a:defRPr>
            </a:lvl6pPr>
            <a:lvl7pPr>
              <a:defRPr sz="2025" b="0">
                <a:solidFill>
                  <a:srgbClr val="142D4E"/>
                </a:solidFill>
                <a:latin typeface="Arial"/>
                <a:ea typeface="Arial"/>
                <a:cs typeface="Arial"/>
              </a:defRPr>
            </a:lvl7pPr>
            <a:lvl8pPr>
              <a:defRPr sz="2025" b="0">
                <a:solidFill>
                  <a:srgbClr val="142D4E"/>
                </a:solidFill>
                <a:latin typeface="Arial"/>
                <a:ea typeface="Arial"/>
                <a:cs typeface="Arial"/>
              </a:defRPr>
            </a:lvl8pPr>
            <a:lvl9pPr>
              <a:defRPr sz="2025" b="0">
                <a:solidFill>
                  <a:srgbClr val="142D4E"/>
                </a:solidFill>
                <a:latin typeface="Arial"/>
                <a:ea typeface="Arial"/>
                <a:cs typeface="Arial"/>
              </a:defRPr>
            </a:lvl9pPr>
          </a:lstStyle>
          <a:p xmlns:a="http://schemas.openxmlformats.org/drawingml/2006/main">
            <a:pPr>
              <a:defRPr sz="2025" b="0">
                <a:solidFill>
                  <a:srgbClr val="142D4E"/>
                </a:solidFill>
                <a:latin typeface="Arial"/>
                <a:ea typeface="Arial"/>
                <a:cs typeface="Arial"/>
              </a:defRPr>
            </a:pPr>
            <a:r>
              <a:rPr sz="2025" b="0">
                <a:solidFill>
                  <a:srgbClr val="142D4E"/>
                </a:solidFill>
                <a:latin typeface="Arial"/>
                <a:ea typeface="Arial"/>
                <a:cs typeface="Arial"/>
              </a:rPr>
              <a:t>RTT history, live latency and causal disruption estimates</a:t>
            </a:r>
          </a:p>
          <a:p xmlns:a="http://schemas.openxmlformats.org/drawingml/2006/main">
            <a:pPr>
              <a:defRPr sz="2025" b="0">
                <a:solidFill>
                  <a:srgbClr val="142D4E"/>
                </a:solidFill>
                <a:latin typeface="Arial"/>
                <a:ea typeface="Arial"/>
                <a:cs typeface="Arial"/>
              </a:defRPr>
            </a:pPr>
            <a:r>
              <a:rPr sz="2025" b="0">
                <a:solidFill>
                  <a:srgbClr val="142D4E"/>
                </a:solidFill>
                <a:latin typeface="Arial"/>
                <a:ea typeface="Arial"/>
                <a:cs typeface="Arial"/>
              </a:rPr>
              <a:t>Balanced scenarios and independent measured sessions</a:t>
            </a:r>
          </a:p>
        </p:txBody>
      </p:sp>
      <p:sp>
        <p:nvSpPr>
          <p:cNvPr id="8" name="evaluate-head">
            <a:extLst xmlns:a="http://schemas.openxmlformats.org/drawingml/2006/main">
              <a:ext uri="{FF2B5EF4-FFF2-40B4-BE49-F238E27FC236}">
                <a16:creationId xmlns:a16="http://schemas.microsoft.com/office/drawing/2014/main" id="{1A8D78CD-7F6D-4F65-AD94-05B9C5C04F47}"/>
              </a:ext>
            </a:extLst>
          </p:cNvPr>
          <p:cNvSpPr>
            <a:spLocks xmlns:a="http://schemas.openxmlformats.org/drawingml/2006/main" noGrp="1"/>
          </p:cNvSpPr>
          <p:nvPr/>
        </p:nvSpPr>
        <p:spPr>
          <a:xfrm xmlns:a="http://schemas.openxmlformats.org/drawingml/2006/main">
            <a:off x="609600" y="3990975"/>
            <a:ext cx="266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B7A75"/>
                </a:solidFill>
                <a:latin typeface="Arial"/>
                <a:ea typeface="Arial"/>
                <a:cs typeface="Arial"/>
              </a:defRPr>
            </a:defPPr>
            <a:lvl1pPr>
              <a:defRPr sz="2550" b="1">
                <a:solidFill>
                  <a:srgbClr val="0B7A75"/>
                </a:solidFill>
                <a:latin typeface="Arial"/>
                <a:ea typeface="Arial"/>
                <a:cs typeface="Arial"/>
              </a:defRPr>
            </a:lvl1pPr>
            <a:lvl2pPr>
              <a:defRPr sz="2550" b="1">
                <a:solidFill>
                  <a:srgbClr val="0B7A75"/>
                </a:solidFill>
                <a:latin typeface="Arial"/>
                <a:ea typeface="Arial"/>
                <a:cs typeface="Arial"/>
              </a:defRPr>
            </a:lvl2pPr>
            <a:lvl3pPr>
              <a:defRPr sz="2550" b="1">
                <a:solidFill>
                  <a:srgbClr val="0B7A75"/>
                </a:solidFill>
                <a:latin typeface="Arial"/>
                <a:ea typeface="Arial"/>
                <a:cs typeface="Arial"/>
              </a:defRPr>
            </a:lvl3pPr>
            <a:lvl4pPr>
              <a:defRPr sz="2550" b="1">
                <a:solidFill>
                  <a:srgbClr val="0B7A75"/>
                </a:solidFill>
                <a:latin typeface="Arial"/>
                <a:ea typeface="Arial"/>
                <a:cs typeface="Arial"/>
              </a:defRPr>
            </a:lvl4pPr>
            <a:lvl5pPr>
              <a:defRPr sz="2550" b="1">
                <a:solidFill>
                  <a:srgbClr val="0B7A75"/>
                </a:solidFill>
                <a:latin typeface="Arial"/>
                <a:ea typeface="Arial"/>
                <a:cs typeface="Arial"/>
              </a:defRPr>
            </a:lvl5pPr>
            <a:lvl6pPr>
              <a:defRPr sz="2550" b="1">
                <a:solidFill>
                  <a:srgbClr val="0B7A75"/>
                </a:solidFill>
                <a:latin typeface="Arial"/>
                <a:ea typeface="Arial"/>
                <a:cs typeface="Arial"/>
              </a:defRPr>
            </a:lvl6pPr>
            <a:lvl7pPr>
              <a:defRPr sz="2550" b="1">
                <a:solidFill>
                  <a:srgbClr val="0B7A75"/>
                </a:solidFill>
                <a:latin typeface="Arial"/>
                <a:ea typeface="Arial"/>
                <a:cs typeface="Arial"/>
              </a:defRPr>
            </a:lvl7pPr>
            <a:lvl8pPr>
              <a:defRPr sz="2550" b="1">
                <a:solidFill>
                  <a:srgbClr val="0B7A75"/>
                </a:solidFill>
                <a:latin typeface="Arial"/>
                <a:ea typeface="Arial"/>
                <a:cs typeface="Arial"/>
              </a:defRPr>
            </a:lvl8pPr>
            <a:lvl9pPr>
              <a:defRPr sz="2550" b="1">
                <a:solidFill>
                  <a:srgbClr val="0B7A75"/>
                </a:solidFill>
                <a:latin typeface="Arial"/>
                <a:ea typeface="Arial"/>
                <a:cs typeface="Arial"/>
              </a:defRPr>
            </a:lvl9pPr>
          </a:lstStyle>
          <a:p xmlns:a="http://schemas.openxmlformats.org/drawingml/2006/main">
            <a:pPr>
              <a:defRPr sz="2550" b="1">
                <a:solidFill>
                  <a:srgbClr val="0B7A75"/>
                </a:solidFill>
                <a:latin typeface="Arial"/>
                <a:ea typeface="Arial"/>
                <a:cs typeface="Arial"/>
              </a:defRPr>
            </a:pPr>
            <a:r>
              <a:rPr sz="2550" b="1">
                <a:solidFill>
                  <a:srgbClr val="0B7A75"/>
                </a:solidFill>
                <a:latin typeface="Arial"/>
                <a:ea typeface="Arial"/>
                <a:cs typeface="Arial"/>
              </a:rPr>
              <a:t>3  Train and</a:t>
            </a:r>
          </a:p>
          <a:p xmlns:a="http://schemas.openxmlformats.org/drawingml/2006/main">
            <a:pPr>
              <a:defRPr sz="2550" b="1">
                <a:solidFill>
                  <a:srgbClr val="0B7A75"/>
                </a:solidFill>
                <a:latin typeface="Arial"/>
                <a:ea typeface="Arial"/>
                <a:cs typeface="Arial"/>
              </a:defRPr>
            </a:pPr>
            <a:r>
              <a:rPr sz="2550" b="1">
                <a:solidFill>
                  <a:srgbClr val="0B7A75"/>
                </a:solidFill>
                <a:latin typeface="Arial"/>
                <a:ea typeface="Arial"/>
                <a:cs typeface="Arial"/>
              </a:rPr>
              <a:t>    compare</a:t>
            </a:r>
          </a:p>
        </p:txBody>
      </p:sp>
      <p:sp>
        <p:nvSpPr>
          <p:cNvPr id="9" name="evaluate-body">
            <a:extLst xmlns:a="http://schemas.openxmlformats.org/drawingml/2006/main">
              <a:ext uri="{FF2B5EF4-FFF2-40B4-BE49-F238E27FC236}">
                <a16:creationId xmlns:a16="http://schemas.microsoft.com/office/drawing/2014/main" id="{2C6A31D3-9F35-4EA1-A7B1-634B6C57CEDF}"/>
              </a:ext>
            </a:extLst>
          </p:cNvPr>
          <p:cNvSpPr>
            <a:spLocks xmlns:a="http://schemas.openxmlformats.org/drawingml/2006/main" noGrp="1"/>
          </p:cNvSpPr>
          <p:nvPr/>
        </p:nvSpPr>
        <p:spPr>
          <a:xfrm xmlns:a="http://schemas.openxmlformats.org/drawingml/2006/main">
            <a:off x="3429000" y="4000500"/>
            <a:ext cx="8153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42D4E"/>
                </a:solidFill>
                <a:latin typeface="Arial"/>
                <a:ea typeface="Arial"/>
                <a:cs typeface="Arial"/>
              </a:defRPr>
            </a:defPPr>
            <a:lvl1pPr>
              <a:defRPr sz="2025" b="0">
                <a:solidFill>
                  <a:srgbClr val="142D4E"/>
                </a:solidFill>
                <a:latin typeface="Arial"/>
                <a:ea typeface="Arial"/>
                <a:cs typeface="Arial"/>
              </a:defRPr>
            </a:lvl1pPr>
            <a:lvl2pPr>
              <a:defRPr sz="2025" b="0">
                <a:solidFill>
                  <a:srgbClr val="142D4E"/>
                </a:solidFill>
                <a:latin typeface="Arial"/>
                <a:ea typeface="Arial"/>
                <a:cs typeface="Arial"/>
              </a:defRPr>
            </a:lvl2pPr>
            <a:lvl3pPr>
              <a:defRPr sz="2025" b="0">
                <a:solidFill>
                  <a:srgbClr val="142D4E"/>
                </a:solidFill>
                <a:latin typeface="Arial"/>
                <a:ea typeface="Arial"/>
                <a:cs typeface="Arial"/>
              </a:defRPr>
            </a:lvl3pPr>
            <a:lvl4pPr>
              <a:defRPr sz="2025" b="0">
                <a:solidFill>
                  <a:srgbClr val="142D4E"/>
                </a:solidFill>
                <a:latin typeface="Arial"/>
                <a:ea typeface="Arial"/>
                <a:cs typeface="Arial"/>
              </a:defRPr>
            </a:lvl4pPr>
            <a:lvl5pPr>
              <a:defRPr sz="2025" b="0">
                <a:solidFill>
                  <a:srgbClr val="142D4E"/>
                </a:solidFill>
                <a:latin typeface="Arial"/>
                <a:ea typeface="Arial"/>
                <a:cs typeface="Arial"/>
              </a:defRPr>
            </a:lvl5pPr>
            <a:lvl6pPr>
              <a:defRPr sz="2025" b="0">
                <a:solidFill>
                  <a:srgbClr val="142D4E"/>
                </a:solidFill>
                <a:latin typeface="Arial"/>
                <a:ea typeface="Arial"/>
                <a:cs typeface="Arial"/>
              </a:defRPr>
            </a:lvl6pPr>
            <a:lvl7pPr>
              <a:defRPr sz="2025" b="0">
                <a:solidFill>
                  <a:srgbClr val="142D4E"/>
                </a:solidFill>
                <a:latin typeface="Arial"/>
                <a:ea typeface="Arial"/>
                <a:cs typeface="Arial"/>
              </a:defRPr>
            </a:lvl7pPr>
            <a:lvl8pPr>
              <a:defRPr sz="2025" b="0">
                <a:solidFill>
                  <a:srgbClr val="142D4E"/>
                </a:solidFill>
                <a:latin typeface="Arial"/>
                <a:ea typeface="Arial"/>
                <a:cs typeface="Arial"/>
              </a:defRPr>
            </a:lvl8pPr>
            <a:lvl9pPr>
              <a:defRPr sz="2025" b="0">
                <a:solidFill>
                  <a:srgbClr val="142D4E"/>
                </a:solidFill>
                <a:latin typeface="Arial"/>
                <a:ea typeface="Arial"/>
                <a:cs typeface="Arial"/>
              </a:defRPr>
            </a:lvl9pPr>
          </a:lstStyle>
          <a:p xmlns:a="http://schemas.openxmlformats.org/drawingml/2006/main">
            <a:pPr>
              <a:defRPr sz="2025" b="0">
                <a:solidFill>
                  <a:srgbClr val="142D4E"/>
                </a:solidFill>
                <a:latin typeface="Arial"/>
                <a:ea typeface="Arial"/>
                <a:cs typeface="Arial"/>
              </a:defRPr>
            </a:pPr>
            <a:r>
              <a:rPr sz="2025" b="0">
                <a:solidFill>
                  <a:srgbClr val="142D4E"/>
                </a:solidFill>
                <a:latin typeface="Arial"/>
                <a:ea typeface="Arial"/>
                <a:cs typeface="Arial"/>
              </a:rPr>
              <a:t>Repeated seeds and validation selection, then sealed testing</a:t>
            </a:r>
          </a:p>
          <a:p xmlns:a="http://schemas.openxmlformats.org/drawingml/2006/main">
            <a:pPr>
              <a:defRPr sz="2025" b="0">
                <a:solidFill>
                  <a:srgbClr val="142D4E"/>
                </a:solidFill>
                <a:latin typeface="Arial"/>
                <a:ea typeface="Arial"/>
                <a:cs typeface="Arial"/>
              </a:defRPr>
            </a:pPr>
            <a:r>
              <a:rPr sz="2025" b="0">
                <a:solidFill>
                  <a:srgbClr val="142D4E"/>
                </a:solidFill>
                <a:latin typeface="Arial"/>
                <a:ea typeface="Arial"/>
                <a:cs typeface="Arial"/>
              </a:rPr>
              <a:t>CMAB versus LEO-RL with matched video, network and catch-up settings</a:t>
            </a:r>
          </a:p>
        </p:txBody>
      </p:sp>
      <p:sp>
        <p:nvSpPr>
          <p:cNvPr id="10" name="reward">
            <a:extLst xmlns:a="http://schemas.openxmlformats.org/drawingml/2006/main">
              <a:ext uri="{FF2B5EF4-FFF2-40B4-BE49-F238E27FC236}">
                <a16:creationId xmlns:a16="http://schemas.microsoft.com/office/drawing/2014/main" id="{C4A1C56E-3684-4D86-8DD6-612F4887ADD2}"/>
              </a:ext>
            </a:extLst>
          </p:cNvPr>
          <p:cNvSpPr>
            <a:spLocks xmlns:a="http://schemas.openxmlformats.org/drawingml/2006/main" noGrp="1"/>
          </p:cNvSpPr>
          <p:nvPr/>
        </p:nvSpPr>
        <p:spPr>
          <a:xfrm xmlns:a="http://schemas.openxmlformats.org/drawingml/2006/main">
            <a:off x="609600" y="53530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0B7A75"/>
                </a:solidFill>
                <a:latin typeface="Arial"/>
                <a:ea typeface="Arial"/>
                <a:cs typeface="Arial"/>
              </a:defRPr>
            </a:defPPr>
            <a:lvl1pPr>
              <a:defRPr sz="3300" b="1">
                <a:solidFill>
                  <a:srgbClr val="0B7A75"/>
                </a:solidFill>
                <a:latin typeface="Arial"/>
                <a:ea typeface="Arial"/>
                <a:cs typeface="Arial"/>
              </a:defRPr>
            </a:lvl1pPr>
            <a:lvl2pPr>
              <a:defRPr sz="3300" b="1">
                <a:solidFill>
                  <a:srgbClr val="0B7A75"/>
                </a:solidFill>
                <a:latin typeface="Arial"/>
                <a:ea typeface="Arial"/>
                <a:cs typeface="Arial"/>
              </a:defRPr>
            </a:lvl2pPr>
            <a:lvl3pPr>
              <a:defRPr sz="3300" b="1">
                <a:solidFill>
                  <a:srgbClr val="0B7A75"/>
                </a:solidFill>
                <a:latin typeface="Arial"/>
                <a:ea typeface="Arial"/>
                <a:cs typeface="Arial"/>
              </a:defRPr>
            </a:lvl3pPr>
            <a:lvl4pPr>
              <a:defRPr sz="3300" b="1">
                <a:solidFill>
                  <a:srgbClr val="0B7A75"/>
                </a:solidFill>
                <a:latin typeface="Arial"/>
                <a:ea typeface="Arial"/>
                <a:cs typeface="Arial"/>
              </a:defRPr>
            </a:lvl4pPr>
            <a:lvl5pPr>
              <a:defRPr sz="3300" b="1">
                <a:solidFill>
                  <a:srgbClr val="0B7A75"/>
                </a:solidFill>
                <a:latin typeface="Arial"/>
                <a:ea typeface="Arial"/>
                <a:cs typeface="Arial"/>
              </a:defRPr>
            </a:lvl5pPr>
            <a:lvl6pPr>
              <a:defRPr sz="3300" b="1">
                <a:solidFill>
                  <a:srgbClr val="0B7A75"/>
                </a:solidFill>
                <a:latin typeface="Arial"/>
                <a:ea typeface="Arial"/>
                <a:cs typeface="Arial"/>
              </a:defRPr>
            </a:lvl6pPr>
            <a:lvl7pPr>
              <a:defRPr sz="3300" b="1">
                <a:solidFill>
                  <a:srgbClr val="0B7A75"/>
                </a:solidFill>
                <a:latin typeface="Arial"/>
                <a:ea typeface="Arial"/>
                <a:cs typeface="Arial"/>
              </a:defRPr>
            </a:lvl7pPr>
            <a:lvl8pPr>
              <a:defRPr sz="3300" b="1">
                <a:solidFill>
                  <a:srgbClr val="0B7A75"/>
                </a:solidFill>
                <a:latin typeface="Arial"/>
                <a:ea typeface="Arial"/>
                <a:cs typeface="Arial"/>
              </a:defRPr>
            </a:lvl8pPr>
            <a:lvl9pPr>
              <a:defRPr sz="3300" b="1">
                <a:solidFill>
                  <a:srgbClr val="0B7A75"/>
                </a:solidFill>
                <a:latin typeface="Arial"/>
                <a:ea typeface="Arial"/>
                <a:cs typeface="Arial"/>
              </a:defRPr>
            </a:lvl9pPr>
          </a:lstStyle>
          <a:p xmlns:a="http://schemas.openxmlformats.org/drawingml/2006/main">
            <a:pPr>
              <a:defRPr sz="3300" b="1">
                <a:solidFill>
                  <a:srgbClr val="0B7A75"/>
                </a:solidFill>
                <a:latin typeface="Arial"/>
                <a:ea typeface="Arial"/>
                <a:cs typeface="Arial"/>
              </a:defRPr>
            </a:pPr>
            <a:r>
              <a:rPr sz="3300" b="1">
                <a:solidFill>
                  <a:srgbClr val="0B7A75"/>
                </a:solidFill>
                <a:latin typeface="Arial"/>
                <a:ea typeface="Arial"/>
                <a:cs typeface="Arial"/>
              </a:rPr>
              <a:t>R = Q − λB − μV − ηL</a:t>
            </a:r>
          </a:p>
        </p:txBody>
      </p:sp>
      <p:sp>
        <p:nvSpPr>
          <p:cNvPr id="11" name="reward-meaning">
            <a:extLst xmlns:a="http://schemas.openxmlformats.org/drawingml/2006/main">
              <a:ext uri="{FF2B5EF4-FFF2-40B4-BE49-F238E27FC236}">
                <a16:creationId xmlns:a16="http://schemas.microsoft.com/office/drawing/2014/main" id="{0BCC82B4-713B-436C-884F-61BC13C24A5F}"/>
              </a:ext>
            </a:extLst>
          </p:cNvPr>
          <p:cNvSpPr>
            <a:spLocks xmlns:a="http://schemas.openxmlformats.org/drawingml/2006/main" noGrp="1"/>
          </p:cNvSpPr>
          <p:nvPr/>
        </p:nvSpPr>
        <p:spPr>
          <a:xfrm xmlns:a="http://schemas.openxmlformats.org/drawingml/2006/main">
            <a:off x="609600" y="59150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36273"/>
                </a:solidFill>
                <a:latin typeface="Arial"/>
                <a:ea typeface="Arial"/>
                <a:cs typeface="Arial"/>
              </a:defRPr>
            </a:defPPr>
            <a:lvl1pPr>
              <a:defRPr sz="1950" b="0">
                <a:solidFill>
                  <a:srgbClr val="536273"/>
                </a:solidFill>
                <a:latin typeface="Arial"/>
                <a:ea typeface="Arial"/>
                <a:cs typeface="Arial"/>
              </a:defRPr>
            </a:lvl1pPr>
            <a:lvl2pPr>
              <a:defRPr sz="1950" b="0">
                <a:solidFill>
                  <a:srgbClr val="536273"/>
                </a:solidFill>
                <a:latin typeface="Arial"/>
                <a:ea typeface="Arial"/>
                <a:cs typeface="Arial"/>
              </a:defRPr>
            </a:lvl2pPr>
            <a:lvl3pPr>
              <a:defRPr sz="1950" b="0">
                <a:solidFill>
                  <a:srgbClr val="536273"/>
                </a:solidFill>
                <a:latin typeface="Arial"/>
                <a:ea typeface="Arial"/>
                <a:cs typeface="Arial"/>
              </a:defRPr>
            </a:lvl3pPr>
            <a:lvl4pPr>
              <a:defRPr sz="1950" b="0">
                <a:solidFill>
                  <a:srgbClr val="536273"/>
                </a:solidFill>
                <a:latin typeface="Arial"/>
                <a:ea typeface="Arial"/>
                <a:cs typeface="Arial"/>
              </a:defRPr>
            </a:lvl4pPr>
            <a:lvl5pPr>
              <a:defRPr sz="1950" b="0">
                <a:solidFill>
                  <a:srgbClr val="536273"/>
                </a:solidFill>
                <a:latin typeface="Arial"/>
                <a:ea typeface="Arial"/>
                <a:cs typeface="Arial"/>
              </a:defRPr>
            </a:lvl5pPr>
            <a:lvl6pPr>
              <a:defRPr sz="1950" b="0">
                <a:solidFill>
                  <a:srgbClr val="536273"/>
                </a:solidFill>
                <a:latin typeface="Arial"/>
                <a:ea typeface="Arial"/>
                <a:cs typeface="Arial"/>
              </a:defRPr>
            </a:lvl6pPr>
            <a:lvl7pPr>
              <a:defRPr sz="1950" b="0">
                <a:solidFill>
                  <a:srgbClr val="536273"/>
                </a:solidFill>
                <a:latin typeface="Arial"/>
                <a:ea typeface="Arial"/>
                <a:cs typeface="Arial"/>
              </a:defRPr>
            </a:lvl7pPr>
            <a:lvl8pPr>
              <a:defRPr sz="1950" b="0">
                <a:solidFill>
                  <a:srgbClr val="536273"/>
                </a:solidFill>
                <a:latin typeface="Arial"/>
                <a:ea typeface="Arial"/>
                <a:cs typeface="Arial"/>
              </a:defRPr>
            </a:lvl8pPr>
            <a:lvl9pPr>
              <a:defRPr sz="1950" b="0">
                <a:solidFill>
                  <a:srgbClr val="536273"/>
                </a:solidFill>
                <a:latin typeface="Arial"/>
                <a:ea typeface="Arial"/>
                <a:cs typeface="Arial"/>
              </a:defRPr>
            </a:lvl9pPr>
          </a:lstStyle>
          <a:p xmlns:a="http://schemas.openxmlformats.org/drawingml/2006/main">
            <a:pPr>
              <a:defRPr sz="1950" b="0">
                <a:solidFill>
                  <a:srgbClr val="536273"/>
                </a:solidFill>
                <a:latin typeface="Arial"/>
                <a:ea typeface="Arial"/>
                <a:cs typeface="Arial"/>
              </a:defRPr>
            </a:pPr>
            <a:r>
              <a:rPr sz="1950" b="0">
                <a:solidFill>
                  <a:srgbClr val="536273"/>
                </a:solidFill>
                <a:latin typeface="Arial"/>
                <a:ea typeface="Arial"/>
                <a:cs typeface="Arial"/>
              </a:rPr>
              <a:t>Quality utility with penalties for stalls, switching and excess live delay</a:t>
            </a:r>
          </a:p>
        </p:txBody>
      </p:sp>
      <p:sp>
        <p:nvSpPr>
          <p:cNvPr id="12" name="supporting">
            <a:extLst xmlns:a="http://schemas.openxmlformats.org/drawingml/2006/main">
              <a:ext uri="{FF2B5EF4-FFF2-40B4-BE49-F238E27FC236}">
                <a16:creationId xmlns:a16="http://schemas.microsoft.com/office/drawing/2014/main" id="{FD8A08BA-C929-442A-9339-34F629852C7C}"/>
              </a:ext>
            </a:extLst>
          </p:cNvPr>
          <p:cNvSpPr>
            <a:spLocks xmlns:a="http://schemas.openxmlformats.org/drawingml/2006/main" noGrp="1"/>
          </p:cNvSpPr>
          <p:nvPr/>
        </p:nvSpPr>
        <p:spPr>
          <a:xfrm xmlns:a="http://schemas.openxmlformats.org/drawingml/2006/main">
            <a:off x="609600" y="62960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36273"/>
                </a:solidFill>
                <a:latin typeface="Arial"/>
                <a:ea typeface="Arial"/>
                <a:cs typeface="Arial"/>
              </a:defRPr>
            </a:defPPr>
            <a:lvl1pPr>
              <a:defRPr sz="1725" b="0">
                <a:solidFill>
                  <a:srgbClr val="536273"/>
                </a:solidFill>
                <a:latin typeface="Arial"/>
                <a:ea typeface="Arial"/>
                <a:cs typeface="Arial"/>
              </a:defRPr>
            </a:lvl1pPr>
            <a:lvl2pPr>
              <a:defRPr sz="1725" b="0">
                <a:solidFill>
                  <a:srgbClr val="536273"/>
                </a:solidFill>
                <a:latin typeface="Arial"/>
                <a:ea typeface="Arial"/>
                <a:cs typeface="Arial"/>
              </a:defRPr>
            </a:lvl2pPr>
            <a:lvl3pPr>
              <a:defRPr sz="1725" b="0">
                <a:solidFill>
                  <a:srgbClr val="536273"/>
                </a:solidFill>
                <a:latin typeface="Arial"/>
                <a:ea typeface="Arial"/>
                <a:cs typeface="Arial"/>
              </a:defRPr>
            </a:lvl3pPr>
            <a:lvl4pPr>
              <a:defRPr sz="1725" b="0">
                <a:solidFill>
                  <a:srgbClr val="536273"/>
                </a:solidFill>
                <a:latin typeface="Arial"/>
                <a:ea typeface="Arial"/>
                <a:cs typeface="Arial"/>
              </a:defRPr>
            </a:lvl4pPr>
            <a:lvl5pPr>
              <a:defRPr sz="1725" b="0">
                <a:solidFill>
                  <a:srgbClr val="536273"/>
                </a:solidFill>
                <a:latin typeface="Arial"/>
                <a:ea typeface="Arial"/>
                <a:cs typeface="Arial"/>
              </a:defRPr>
            </a:lvl5pPr>
            <a:lvl6pPr>
              <a:defRPr sz="1725" b="0">
                <a:solidFill>
                  <a:srgbClr val="536273"/>
                </a:solidFill>
                <a:latin typeface="Arial"/>
                <a:ea typeface="Arial"/>
                <a:cs typeface="Arial"/>
              </a:defRPr>
            </a:lvl6pPr>
            <a:lvl7pPr>
              <a:defRPr sz="1725" b="0">
                <a:solidFill>
                  <a:srgbClr val="536273"/>
                </a:solidFill>
                <a:latin typeface="Arial"/>
                <a:ea typeface="Arial"/>
                <a:cs typeface="Arial"/>
              </a:defRPr>
            </a:lvl7pPr>
            <a:lvl8pPr>
              <a:defRPr sz="1725" b="0">
                <a:solidFill>
                  <a:srgbClr val="536273"/>
                </a:solidFill>
                <a:latin typeface="Arial"/>
                <a:ea typeface="Arial"/>
                <a:cs typeface="Arial"/>
              </a:defRPr>
            </a:lvl8pPr>
            <a:lvl9pPr>
              <a:defRPr sz="1725" b="0">
                <a:solidFill>
                  <a:srgbClr val="536273"/>
                </a:solidFill>
                <a:latin typeface="Arial"/>
                <a:ea typeface="Arial"/>
                <a:cs typeface="Arial"/>
              </a:defRPr>
            </a:lvl9pPr>
          </a:lstStyle>
          <a:p xmlns:a="http://schemas.openxmlformats.org/drawingml/2006/main">
            <a:pPr>
              <a:defRPr sz="1725" b="0">
                <a:solidFill>
                  <a:srgbClr val="536273"/>
                </a:solidFill>
                <a:latin typeface="Arial"/>
                <a:ea typeface="Arial"/>
                <a:cs typeface="Arial"/>
              </a:defRPr>
            </a:pPr>
            <a:r>
              <a:rPr sz="1725" b="0">
                <a:solidFill>
                  <a:srgbClr val="536273"/>
                </a:solidFill>
                <a:latin typeface="Arial"/>
                <a:ea typeface="Arial"/>
                <a:cs typeface="Arial"/>
              </a:rPr>
              <a:t>Supporting baselines: throughput, BOLA and conventional RL</a:t>
            </a:r>
          </a:p>
        </p:txBody>
      </p:sp>
    </p:spTree>
    <p:extLst>
      <p:ext uri="{BB962C8B-B14F-4D97-AF65-F5344CB8AC3E}">
        <p14:creationId xmlns:p14="http://schemas.microsoft.com/office/powerpoint/2010/main" val="19156776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08159E06-419C-4780-A13D-5DBFF62EB778}"/>
              </a:ext>
            </a:extLst>
          </p:cNvPr>
          <p:cNvSpPr>
            <a:spLocks xmlns:a="http://schemas.openxmlformats.org/drawingml/2006/main" noGrp="1"/>
          </p:cNvSpPr>
          <p:nvPr/>
        </p:nvSpPr>
        <p:spPr>
          <a:xfrm xmlns:a="http://schemas.openxmlformats.org/drawingml/2006/main">
            <a:off x="609600" y="4095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42D4E"/>
                </a:solidFill>
                <a:latin typeface="Arial"/>
                <a:ea typeface="Arial"/>
                <a:cs typeface="Arial"/>
              </a:defRPr>
            </a:defPPr>
            <a:lvl1pPr>
              <a:defRPr sz="3300" b="1">
                <a:solidFill>
                  <a:srgbClr val="142D4E"/>
                </a:solidFill>
                <a:latin typeface="Arial"/>
                <a:ea typeface="Arial"/>
                <a:cs typeface="Arial"/>
              </a:defRPr>
            </a:lvl1pPr>
            <a:lvl2pPr>
              <a:defRPr sz="3300" b="1">
                <a:solidFill>
                  <a:srgbClr val="142D4E"/>
                </a:solidFill>
                <a:latin typeface="Arial"/>
                <a:ea typeface="Arial"/>
                <a:cs typeface="Arial"/>
              </a:defRPr>
            </a:lvl2pPr>
            <a:lvl3pPr>
              <a:defRPr sz="3300" b="1">
                <a:solidFill>
                  <a:srgbClr val="142D4E"/>
                </a:solidFill>
                <a:latin typeface="Arial"/>
                <a:ea typeface="Arial"/>
                <a:cs typeface="Arial"/>
              </a:defRPr>
            </a:lvl3pPr>
            <a:lvl4pPr>
              <a:defRPr sz="3300" b="1">
                <a:solidFill>
                  <a:srgbClr val="142D4E"/>
                </a:solidFill>
                <a:latin typeface="Arial"/>
                <a:ea typeface="Arial"/>
                <a:cs typeface="Arial"/>
              </a:defRPr>
            </a:lvl4pPr>
            <a:lvl5pPr>
              <a:defRPr sz="3300" b="1">
                <a:solidFill>
                  <a:srgbClr val="142D4E"/>
                </a:solidFill>
                <a:latin typeface="Arial"/>
                <a:ea typeface="Arial"/>
                <a:cs typeface="Arial"/>
              </a:defRPr>
            </a:lvl5pPr>
            <a:lvl6pPr>
              <a:defRPr sz="3300" b="1">
                <a:solidFill>
                  <a:srgbClr val="142D4E"/>
                </a:solidFill>
                <a:latin typeface="Arial"/>
                <a:ea typeface="Arial"/>
                <a:cs typeface="Arial"/>
              </a:defRPr>
            </a:lvl6pPr>
            <a:lvl7pPr>
              <a:defRPr sz="3300" b="1">
                <a:solidFill>
                  <a:srgbClr val="142D4E"/>
                </a:solidFill>
                <a:latin typeface="Arial"/>
                <a:ea typeface="Arial"/>
                <a:cs typeface="Arial"/>
              </a:defRPr>
            </a:lvl7pPr>
            <a:lvl8pPr>
              <a:defRPr sz="3300" b="1">
                <a:solidFill>
                  <a:srgbClr val="142D4E"/>
                </a:solidFill>
                <a:latin typeface="Arial"/>
                <a:ea typeface="Arial"/>
                <a:cs typeface="Arial"/>
              </a:defRPr>
            </a:lvl8pPr>
            <a:lvl9pPr>
              <a:defRPr sz="3300" b="1">
                <a:solidFill>
                  <a:srgbClr val="142D4E"/>
                </a:solidFill>
                <a:latin typeface="Arial"/>
                <a:ea typeface="Arial"/>
                <a:cs typeface="Arial"/>
              </a:defRPr>
            </a:lvl9pPr>
          </a:lstStyle>
          <a:p xmlns:a="http://schemas.openxmlformats.org/drawingml/2006/main">
            <a:pPr>
              <a:defRPr sz="3300" b="1">
                <a:solidFill>
                  <a:srgbClr val="142D4E"/>
                </a:solidFill>
                <a:latin typeface="Arial"/>
                <a:ea typeface="Arial"/>
                <a:cs typeface="Arial"/>
              </a:defRPr>
            </a:pPr>
            <a:r>
              <a:rPr sz="3300" b="1">
                <a:solidFill>
                  <a:srgbClr val="142D4E"/>
                </a:solidFill>
                <a:latin typeface="Arial"/>
                <a:ea typeface="Arial"/>
                <a:cs typeface="Arial"/>
              </a:rPr>
              <a:t>Runtime study and division of work</a:t>
            </a:r>
          </a:p>
        </p:txBody>
      </p:sp>
      <p:sp>
        <p:nvSpPr>
          <p:cNvPr id="3" name="slide-number">
            <a:extLst xmlns:a="http://schemas.openxmlformats.org/drawingml/2006/main">
              <a:ext uri="{FF2B5EF4-FFF2-40B4-BE49-F238E27FC236}">
                <a16:creationId xmlns:a16="http://schemas.microsoft.com/office/drawing/2014/main" id="{B0D8C8A3-E0A6-4454-A291-73D440FD2991}"/>
              </a:ext>
            </a:extLst>
          </p:cNvPr>
          <p:cNvSpPr>
            <a:spLocks xmlns:a="http://schemas.openxmlformats.org/drawingml/2006/main" noGrp="1"/>
          </p:cNvSpPr>
          <p:nvPr/>
        </p:nvSpPr>
        <p:spPr>
          <a:xfrm xmlns:a="http://schemas.openxmlformats.org/drawingml/2006/main">
            <a:off x="11163300" y="64198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36273"/>
                </a:solidFill>
                <a:latin typeface="Arial"/>
                <a:ea typeface="Arial"/>
                <a:cs typeface="Arial"/>
              </a:defRPr>
            </a:defPPr>
            <a:lvl1pPr>
              <a:defRPr sz="1650" b="0">
                <a:solidFill>
                  <a:srgbClr val="536273"/>
                </a:solidFill>
                <a:latin typeface="Arial"/>
                <a:ea typeface="Arial"/>
                <a:cs typeface="Arial"/>
              </a:defRPr>
            </a:lvl1pPr>
            <a:lvl2pPr>
              <a:defRPr sz="1650" b="0">
                <a:solidFill>
                  <a:srgbClr val="536273"/>
                </a:solidFill>
                <a:latin typeface="Arial"/>
                <a:ea typeface="Arial"/>
                <a:cs typeface="Arial"/>
              </a:defRPr>
            </a:lvl2pPr>
            <a:lvl3pPr>
              <a:defRPr sz="1650" b="0">
                <a:solidFill>
                  <a:srgbClr val="536273"/>
                </a:solidFill>
                <a:latin typeface="Arial"/>
                <a:ea typeface="Arial"/>
                <a:cs typeface="Arial"/>
              </a:defRPr>
            </a:lvl3pPr>
            <a:lvl4pPr>
              <a:defRPr sz="1650" b="0">
                <a:solidFill>
                  <a:srgbClr val="536273"/>
                </a:solidFill>
                <a:latin typeface="Arial"/>
                <a:ea typeface="Arial"/>
                <a:cs typeface="Arial"/>
              </a:defRPr>
            </a:lvl4pPr>
            <a:lvl5pPr>
              <a:defRPr sz="1650" b="0">
                <a:solidFill>
                  <a:srgbClr val="536273"/>
                </a:solidFill>
                <a:latin typeface="Arial"/>
                <a:ea typeface="Arial"/>
                <a:cs typeface="Arial"/>
              </a:defRPr>
            </a:lvl5pPr>
            <a:lvl6pPr>
              <a:defRPr sz="1650" b="0">
                <a:solidFill>
                  <a:srgbClr val="536273"/>
                </a:solidFill>
                <a:latin typeface="Arial"/>
                <a:ea typeface="Arial"/>
                <a:cs typeface="Arial"/>
              </a:defRPr>
            </a:lvl6pPr>
            <a:lvl7pPr>
              <a:defRPr sz="1650" b="0">
                <a:solidFill>
                  <a:srgbClr val="536273"/>
                </a:solidFill>
                <a:latin typeface="Arial"/>
                <a:ea typeface="Arial"/>
                <a:cs typeface="Arial"/>
              </a:defRPr>
            </a:lvl7pPr>
            <a:lvl8pPr>
              <a:defRPr sz="1650" b="0">
                <a:solidFill>
                  <a:srgbClr val="536273"/>
                </a:solidFill>
                <a:latin typeface="Arial"/>
                <a:ea typeface="Arial"/>
                <a:cs typeface="Arial"/>
              </a:defRPr>
            </a:lvl8pPr>
            <a:lvl9pPr>
              <a:defRPr sz="1650" b="0">
                <a:solidFill>
                  <a:srgbClr val="536273"/>
                </a:solidFill>
                <a:latin typeface="Arial"/>
                <a:ea typeface="Arial"/>
                <a:cs typeface="Arial"/>
              </a:defRPr>
            </a:lvl9pPr>
          </a:lstStyle>
          <a:p xmlns:a="http://schemas.openxmlformats.org/drawingml/2006/main">
            <a:pPr>
              <a:defRPr sz="1650" b="0">
                <a:solidFill>
                  <a:srgbClr val="536273"/>
                </a:solidFill>
                <a:latin typeface="Arial"/>
                <a:ea typeface="Arial"/>
                <a:cs typeface="Arial"/>
              </a:defRPr>
            </a:pPr>
            <a:r>
              <a:rPr sz="1650" b="0">
                <a:solidFill>
                  <a:srgbClr val="536273"/>
                </a:solidFill>
                <a:latin typeface="Arial"/>
                <a:ea typeface="Arial"/>
                <a:cs typeface="Arial"/>
              </a:rPr>
              <a:t>08</a:t>
            </a:r>
          </a:p>
        </p:txBody>
      </p:sp>
      <p:sp>
        <p:nvSpPr>
          <p:cNvPr id="4" name="fair-runtime">
            <a:extLst xmlns:a="http://schemas.openxmlformats.org/drawingml/2006/main">
              <a:ext uri="{FF2B5EF4-FFF2-40B4-BE49-F238E27FC236}">
                <a16:creationId xmlns:a16="http://schemas.microsoft.com/office/drawing/2014/main" id="{5E584E93-5680-4C6C-A05C-97A584CACEC7}"/>
              </a:ext>
            </a:extLst>
          </p:cNvPr>
          <p:cNvSpPr>
            <a:spLocks xmlns:a="http://schemas.openxmlformats.org/drawingml/2006/main" noGrp="1"/>
          </p:cNvSpPr>
          <p:nvPr/>
        </p:nvSpPr>
        <p:spPr>
          <a:xfrm xmlns:a="http://schemas.openxmlformats.org/drawingml/2006/main">
            <a:off x="609600" y="1219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B7A75"/>
                </a:solidFill>
                <a:latin typeface="Arial"/>
                <a:ea typeface="Arial"/>
                <a:cs typeface="Arial"/>
              </a:defRPr>
            </a:defPPr>
            <a:lvl1pPr>
              <a:defRPr sz="2100" b="1">
                <a:solidFill>
                  <a:srgbClr val="0B7A75"/>
                </a:solidFill>
                <a:latin typeface="Arial"/>
                <a:ea typeface="Arial"/>
                <a:cs typeface="Arial"/>
              </a:defRPr>
            </a:lvl1pPr>
            <a:lvl2pPr>
              <a:defRPr sz="2100" b="1">
                <a:solidFill>
                  <a:srgbClr val="0B7A75"/>
                </a:solidFill>
                <a:latin typeface="Arial"/>
                <a:ea typeface="Arial"/>
                <a:cs typeface="Arial"/>
              </a:defRPr>
            </a:lvl2pPr>
            <a:lvl3pPr>
              <a:defRPr sz="2100" b="1">
                <a:solidFill>
                  <a:srgbClr val="0B7A75"/>
                </a:solidFill>
                <a:latin typeface="Arial"/>
                <a:ea typeface="Arial"/>
                <a:cs typeface="Arial"/>
              </a:defRPr>
            </a:lvl3pPr>
            <a:lvl4pPr>
              <a:defRPr sz="2100" b="1">
                <a:solidFill>
                  <a:srgbClr val="0B7A75"/>
                </a:solidFill>
                <a:latin typeface="Arial"/>
                <a:ea typeface="Arial"/>
                <a:cs typeface="Arial"/>
              </a:defRPr>
            </a:lvl4pPr>
            <a:lvl5pPr>
              <a:defRPr sz="2100" b="1">
                <a:solidFill>
                  <a:srgbClr val="0B7A75"/>
                </a:solidFill>
                <a:latin typeface="Arial"/>
                <a:ea typeface="Arial"/>
                <a:cs typeface="Arial"/>
              </a:defRPr>
            </a:lvl5pPr>
            <a:lvl6pPr>
              <a:defRPr sz="2100" b="1">
                <a:solidFill>
                  <a:srgbClr val="0B7A75"/>
                </a:solidFill>
                <a:latin typeface="Arial"/>
                <a:ea typeface="Arial"/>
                <a:cs typeface="Arial"/>
              </a:defRPr>
            </a:lvl6pPr>
            <a:lvl7pPr>
              <a:defRPr sz="2100" b="1">
                <a:solidFill>
                  <a:srgbClr val="0B7A75"/>
                </a:solidFill>
                <a:latin typeface="Arial"/>
                <a:ea typeface="Arial"/>
                <a:cs typeface="Arial"/>
              </a:defRPr>
            </a:lvl7pPr>
            <a:lvl8pPr>
              <a:defRPr sz="2100" b="1">
                <a:solidFill>
                  <a:srgbClr val="0B7A75"/>
                </a:solidFill>
                <a:latin typeface="Arial"/>
                <a:ea typeface="Arial"/>
                <a:cs typeface="Arial"/>
              </a:defRPr>
            </a:lvl8pPr>
            <a:lvl9pPr>
              <a:defRPr sz="2100" b="1">
                <a:solidFill>
                  <a:srgbClr val="0B7A75"/>
                </a:solidFill>
                <a:latin typeface="Arial"/>
                <a:ea typeface="Arial"/>
                <a:cs typeface="Arial"/>
              </a:defRPr>
            </a:lvl9pPr>
          </a:lstStyle>
          <a:p xmlns:a="http://schemas.openxmlformats.org/drawingml/2006/main">
            <a:pPr>
              <a:defRPr sz="2100" b="1">
                <a:solidFill>
                  <a:srgbClr val="0B7A75"/>
                </a:solidFill>
                <a:latin typeface="Arial"/>
                <a:ea typeface="Arial"/>
                <a:cs typeface="Arial"/>
              </a:defRPr>
            </a:pPr>
            <a:r>
              <a:rPr sz="2100" b="1">
                <a:solidFill>
                  <a:srgbClr val="0B7A75"/>
                </a:solidFill>
                <a:latin typeface="Arial"/>
                <a:ea typeface="Arial"/>
                <a:cs typeface="Arial"/>
              </a:rPr>
              <a:t>Same checkpoint and inputs. Measure decision time, responsiveness and QoE.</a:t>
            </a:r>
          </a:p>
        </p:txBody>
      </p:sp>
      <p:graphicFrame>
        <p:nvGraphicFramePr>
          <p:cNvPr id="5" name="">
            <a:extLst xmlns:a="http://schemas.openxmlformats.org/drawingml/2006/main">
              <a:ext uri="{FF2B5EF4-FFF2-40B4-BE49-F238E27FC236}">
                <a16:creationId xmlns:a16="http://schemas.microsoft.com/office/drawing/2014/main" id="{9C1D680F-213D-4F28-99FB-A1A9380BE6F3}"/>
              </a:ext>
            </a:extLst>
          </p:cNvPr>
          <p:cNvGraphicFramePr/>
          <p:nvPr/>
        </p:nvGraphicFramePr>
        <p:xfrm>
          <a:off xmlns:a="http://schemas.openxmlformats.org/drawingml/2006/main" x="609600" y="1952625"/>
          <a:ext xmlns:a="http://schemas.openxmlformats.org/drawingml/2006/main" cx="10972800" cy="2295525"/>
        </p:xfrm>
        <a:graphic xmlns:a="http://schemas.openxmlformats.org/drawingml/2006/main">
          <a:graphicData uri="http://schemas.openxmlformats.org/drawingml/2006/table">
            <a:tbl>
              <a:tblPr firstRow="0" bandRow="0" bandCol="0"/>
              <a:tblGrid>
                <a:gridCol w="3181350"/>
                <a:gridCol w="3619500"/>
                <a:gridCol w="4171950"/>
              </a:tblGrid>
              <a:tr h="573881">
                <a:tc>
                  <a:txBody>
                    <a:bodyPr lIns="95250" tIns="95250" rIns="95250" bIns="95250"/>
                    <a:lstStyle/>
                    <a:p>
                      <a:r>
                        <a:rPr sz="1875" b="1">
                          <a:solidFill>
                            <a:srgbClr val="FFFFFF"/>
                          </a:solidFill>
                          <a:latin typeface="Arial"/>
                          <a:ea typeface="Arial"/>
                          <a:cs typeface="Arial"/>
                        </a:rPr>
                        <a:t>Runtime</a:t>
                      </a:r>
                    </a:p>
                  </a:txBody>
                  <a:tcPr marL="91440" marR="91440" marT="45720" marB="45720">
                    <a:solidFill>
                      <a:srgbClr val="142D4E"/>
                    </a:solidFill>
                  </a:tcPr>
                </a:tc>
                <a:tc>
                  <a:txBody>
                    <a:bodyPr lIns="95250" tIns="95250" rIns="95250" bIns="95250"/>
                    <a:lstStyle/>
                    <a:p>
                      <a:r>
                        <a:rPr sz="1875" b="1">
                          <a:solidFill>
                            <a:srgbClr val="FFFFFF"/>
                          </a:solidFill>
                          <a:latin typeface="Arial"/>
                          <a:ea typeface="Arial"/>
                          <a:cs typeface="Arial"/>
                        </a:rPr>
                        <a:t>Benefit</a:t>
                      </a:r>
                    </a:p>
                  </a:txBody>
                  <a:tcPr marL="91440" marR="91440" marT="45720" marB="45720">
                    <a:solidFill>
                      <a:srgbClr val="142D4E"/>
                    </a:solidFill>
                  </a:tcPr>
                </a:tc>
                <a:tc>
                  <a:txBody>
                    <a:bodyPr lIns="95250" tIns="95250" rIns="95250" bIns="95250"/>
                    <a:lstStyle/>
                    <a:p>
                      <a:r>
                        <a:rPr sz="1875" b="1">
                          <a:solidFill>
                            <a:srgbClr val="FFFFFF"/>
                          </a:solidFill>
                          <a:latin typeface="Arial"/>
                          <a:ea typeface="Arial"/>
                          <a:cs typeface="Arial"/>
                        </a:rPr>
                        <a:t>Main tradeoff</a:t>
                      </a:r>
                    </a:p>
                  </a:txBody>
                  <a:tcPr marL="91440" marR="91440" marT="45720" marB="45720">
                    <a:solidFill>
                      <a:srgbClr val="142D4E"/>
                    </a:solidFill>
                  </a:tcPr>
                </a:tc>
              </a:tr>
              <a:tr h="573881">
                <a:tc>
                  <a:txBody>
                    <a:bodyPr lIns="95250" tIns="95250" rIns="95250" bIns="95250"/>
                    <a:lstStyle/>
                    <a:p>
                      <a:r>
                        <a:rPr sz="1875" b="0">
                          <a:solidFill>
                            <a:srgbClr val="142D4E"/>
                          </a:solidFill>
                          <a:latin typeface="Arial"/>
                          <a:ea typeface="Arial"/>
                          <a:cs typeface="Arial"/>
                        </a:rPr>
                        <a:t>Synchronous JavaScript</a:t>
                      </a:r>
                    </a:p>
                  </a:txBody>
                  <a:tcPr marL="91440" marR="91440" marT="45720" marB="45720">
                    <a:solidFill>
                      <a:srgbClr val="FFFFFF"/>
                    </a:solidFill>
                  </a:tcPr>
                </a:tc>
                <a:tc>
                  <a:txBody>
                    <a:bodyPr lIns="95250" tIns="95250" rIns="95250" bIns="95250"/>
                    <a:lstStyle/>
                    <a:p>
                      <a:r>
                        <a:rPr sz="1875" b="0">
                          <a:solidFill>
                            <a:srgbClr val="142D4E"/>
                          </a:solidFill>
                          <a:latin typeface="Arial"/>
                          <a:ea typeface="Arial"/>
                          <a:cs typeface="Arial"/>
                        </a:rPr>
                        <a:t>Direct call, small runtime</a:t>
                      </a:r>
                    </a:p>
                  </a:txBody>
                  <a:tcPr marL="91440" marR="91440" marT="45720" marB="45720">
                    <a:solidFill>
                      <a:srgbClr val="FFFFFF"/>
                    </a:solidFill>
                  </a:tcPr>
                </a:tc>
                <a:tc>
                  <a:txBody>
                    <a:bodyPr lIns="95250" tIns="95250" rIns="95250" bIns="95250"/>
                    <a:lstStyle/>
                    <a:p>
                      <a:r>
                        <a:rPr sz="1875" b="0">
                          <a:solidFill>
                            <a:srgbClr val="142D4E"/>
                          </a:solidFill>
                          <a:latin typeface="Arial"/>
                          <a:ea typeface="Arial"/>
                          <a:cs typeface="Arial"/>
                        </a:rPr>
                        <a:t>Main-thread blocking</a:t>
                      </a:r>
                    </a:p>
                  </a:txBody>
                  <a:tcPr marL="91440" marR="91440" marT="45720" marB="45720">
                    <a:solidFill>
                      <a:srgbClr val="FFFFFF"/>
                    </a:solidFill>
                  </a:tcPr>
                </a:tc>
              </a:tr>
              <a:tr h="573881">
                <a:tc>
                  <a:txBody>
                    <a:bodyPr lIns="95250" tIns="95250" rIns="95250" bIns="95250"/>
                    <a:lstStyle/>
                    <a:p>
                      <a:r>
                        <a:rPr sz="1875" b="0">
                          <a:solidFill>
                            <a:srgbClr val="142D4E"/>
                          </a:solidFill>
                          <a:latin typeface="Arial"/>
                          <a:ea typeface="Arial"/>
                          <a:cs typeface="Arial"/>
                        </a:rPr>
                        <a:t>Python/NumPy (WASM)</a:t>
                      </a:r>
                    </a:p>
                  </a:txBody>
                  <a:tcPr marL="91440" marR="91440" marT="45720" marB="45720">
                    <a:solidFill>
                      <a:srgbClr val="FFFFFF"/>
                    </a:solidFill>
                  </a:tcPr>
                </a:tc>
                <a:tc>
                  <a:txBody>
                    <a:bodyPr lIns="95250" tIns="95250" rIns="95250" bIns="95250"/>
                    <a:lstStyle/>
                    <a:p>
                      <a:r>
                        <a:rPr sz="1875" b="0">
                          <a:solidFill>
                            <a:srgbClr val="142D4E"/>
                          </a:solidFill>
                          <a:latin typeface="Arial"/>
                          <a:ea typeface="Arial"/>
                          <a:cs typeface="Arial"/>
                        </a:rPr>
                        <a:t>Reuse Python forward code</a:t>
                      </a:r>
                    </a:p>
                  </a:txBody>
                  <a:tcPr marL="91440" marR="91440" marT="45720" marB="45720">
                    <a:solidFill>
                      <a:srgbClr val="FFFFFF"/>
                    </a:solidFill>
                  </a:tcPr>
                </a:tc>
                <a:tc>
                  <a:txBody>
                    <a:bodyPr lIns="95250" tIns="95250" rIns="95250" bIns="95250"/>
                    <a:lstStyle/>
                    <a:p>
                      <a:r>
                        <a:rPr sz="1875" b="0">
                          <a:solidFill>
                            <a:srgbClr val="142D4E"/>
                          </a:solidFill>
                          <a:latin typeface="Arial"/>
                          <a:ea typeface="Arial"/>
                          <a:cs typeface="Arial"/>
                        </a:rPr>
                        <a:t>Startup and main-thread work</a:t>
                      </a:r>
                    </a:p>
                  </a:txBody>
                  <a:tcPr marL="91440" marR="91440" marT="45720" marB="45720">
                    <a:solidFill>
                      <a:srgbClr val="FFFFFF"/>
                    </a:solidFill>
                  </a:tcPr>
                </a:tc>
              </a:tr>
              <a:tr h="573881">
                <a:tc>
                  <a:txBody>
                    <a:bodyPr lIns="95250" tIns="95250" rIns="95250" bIns="95250"/>
                    <a:lstStyle/>
                    <a:p>
                      <a:r>
                        <a:rPr sz="1875" b="0">
                          <a:solidFill>
                            <a:srgbClr val="142D4E"/>
                          </a:solidFill>
                          <a:latin typeface="Arial"/>
                          <a:ea typeface="Arial"/>
                          <a:cs typeface="Arial"/>
                        </a:rPr>
                        <a:t>ONNX in a worker</a:t>
                      </a:r>
                    </a:p>
                  </a:txBody>
                  <a:tcPr marL="91440" marR="91440" marT="45720" marB="45720">
                    <a:solidFill>
                      <a:srgbClr val="FFFFFF"/>
                    </a:solidFill>
                  </a:tcPr>
                </a:tc>
                <a:tc>
                  <a:txBody>
                    <a:bodyPr lIns="95250" tIns="95250" rIns="95250" bIns="95250"/>
                    <a:lstStyle/>
                    <a:p>
                      <a:r>
                        <a:rPr sz="1875" b="0">
                          <a:solidFill>
                            <a:srgbClr val="142D4E"/>
                          </a:solidFill>
                          <a:latin typeface="Arial"/>
                          <a:ea typeface="Arial"/>
                          <a:cs typeface="Arial"/>
                        </a:rPr>
                        <a:t>Compute off the UI thread</a:t>
                      </a:r>
                    </a:p>
                  </a:txBody>
                  <a:tcPr marL="91440" marR="91440" marT="45720" marB="45720">
                    <a:solidFill>
                      <a:srgbClr val="FFFFFF"/>
                    </a:solidFill>
                  </a:tcPr>
                </a:tc>
                <a:tc>
                  <a:txBody>
                    <a:bodyPr lIns="95250" tIns="95250" rIns="95250" bIns="95250"/>
                    <a:lstStyle/>
                    <a:p>
                      <a:r>
                        <a:rPr sz="1875" b="0">
                          <a:solidFill>
                            <a:srgbClr val="142D4E"/>
                          </a:solidFill>
                          <a:latin typeface="Arial"/>
                          <a:ea typeface="Arial"/>
                          <a:cs typeface="Arial"/>
                        </a:rPr>
                        <a:t>Async scheduling bridge</a:t>
                      </a:r>
                    </a:p>
                  </a:txBody>
                  <a:tcPr marL="91440" marR="91440" marT="45720" marB="45720">
                    <a:solidFill>
                      <a:srgbClr val="FFFFFF"/>
                    </a:solidFill>
                  </a:tcPr>
                </a:tc>
              </a:tr>
            </a:tbl>
          </a:graphicData>
        </a:graphic>
      </p:graphicFrame>
      <p:sp>
        <p:nvSpPr>
          <p:cNvPr id="6" name="bridge">
            <a:extLst xmlns:a="http://schemas.openxmlformats.org/drawingml/2006/main">
              <a:ext uri="{FF2B5EF4-FFF2-40B4-BE49-F238E27FC236}">
                <a16:creationId xmlns:a16="http://schemas.microsoft.com/office/drawing/2014/main" id="{83E03461-DE25-460B-AD89-6B1E640C5BA1}"/>
              </a:ext>
            </a:extLst>
          </p:cNvPr>
          <p:cNvSpPr>
            <a:spLocks xmlns:a="http://schemas.openxmlformats.org/drawingml/2006/main" noGrp="1"/>
          </p:cNvSpPr>
          <p:nvPr/>
        </p:nvSpPr>
        <p:spPr>
          <a:xfrm xmlns:a="http://schemas.openxmlformats.org/drawingml/2006/main">
            <a:off x="609600" y="45148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42D4E"/>
                </a:solidFill>
                <a:latin typeface="Arial"/>
                <a:ea typeface="Arial"/>
                <a:cs typeface="Arial"/>
              </a:defRPr>
            </a:defPPr>
            <a:lvl1pPr>
              <a:defRPr sz="2025" b="0">
                <a:solidFill>
                  <a:srgbClr val="142D4E"/>
                </a:solidFill>
                <a:latin typeface="Arial"/>
                <a:ea typeface="Arial"/>
                <a:cs typeface="Arial"/>
              </a:defRPr>
            </a:lvl1pPr>
            <a:lvl2pPr>
              <a:defRPr sz="2025" b="0">
                <a:solidFill>
                  <a:srgbClr val="142D4E"/>
                </a:solidFill>
                <a:latin typeface="Arial"/>
                <a:ea typeface="Arial"/>
                <a:cs typeface="Arial"/>
              </a:defRPr>
            </a:lvl2pPr>
            <a:lvl3pPr>
              <a:defRPr sz="2025" b="0">
                <a:solidFill>
                  <a:srgbClr val="142D4E"/>
                </a:solidFill>
                <a:latin typeface="Arial"/>
                <a:ea typeface="Arial"/>
                <a:cs typeface="Arial"/>
              </a:defRPr>
            </a:lvl3pPr>
            <a:lvl4pPr>
              <a:defRPr sz="2025" b="0">
                <a:solidFill>
                  <a:srgbClr val="142D4E"/>
                </a:solidFill>
                <a:latin typeface="Arial"/>
                <a:ea typeface="Arial"/>
                <a:cs typeface="Arial"/>
              </a:defRPr>
            </a:lvl4pPr>
            <a:lvl5pPr>
              <a:defRPr sz="2025" b="0">
                <a:solidFill>
                  <a:srgbClr val="142D4E"/>
                </a:solidFill>
                <a:latin typeface="Arial"/>
                <a:ea typeface="Arial"/>
                <a:cs typeface="Arial"/>
              </a:defRPr>
            </a:lvl5pPr>
            <a:lvl6pPr>
              <a:defRPr sz="2025" b="0">
                <a:solidFill>
                  <a:srgbClr val="142D4E"/>
                </a:solidFill>
                <a:latin typeface="Arial"/>
                <a:ea typeface="Arial"/>
                <a:cs typeface="Arial"/>
              </a:defRPr>
            </a:lvl6pPr>
            <a:lvl7pPr>
              <a:defRPr sz="2025" b="0">
                <a:solidFill>
                  <a:srgbClr val="142D4E"/>
                </a:solidFill>
                <a:latin typeface="Arial"/>
                <a:ea typeface="Arial"/>
                <a:cs typeface="Arial"/>
              </a:defRPr>
            </a:lvl7pPr>
            <a:lvl8pPr>
              <a:defRPr sz="2025" b="0">
                <a:solidFill>
                  <a:srgbClr val="142D4E"/>
                </a:solidFill>
                <a:latin typeface="Arial"/>
                <a:ea typeface="Arial"/>
                <a:cs typeface="Arial"/>
              </a:defRPr>
            </a:lvl8pPr>
            <a:lvl9pPr>
              <a:defRPr sz="2025" b="0">
                <a:solidFill>
                  <a:srgbClr val="142D4E"/>
                </a:solidFill>
                <a:latin typeface="Arial"/>
                <a:ea typeface="Arial"/>
                <a:cs typeface="Arial"/>
              </a:defRPr>
            </a:lvl9pPr>
          </a:lstStyle>
          <a:p xmlns:a="http://schemas.openxmlformats.org/drawingml/2006/main">
            <a:pPr>
              <a:defRPr sz="2025" b="0">
                <a:solidFill>
                  <a:srgbClr val="142D4E"/>
                </a:solidFill>
                <a:latin typeface="Arial"/>
                <a:ea typeface="Arial"/>
                <a:cs typeface="Arial"/>
              </a:defRPr>
            </a:pPr>
            <a:r>
              <a:rPr sz="2025" b="0">
                <a:solidFill>
                  <a:srgbClr val="142D4E"/>
                </a:solidFill>
                <a:latin typeface="Arial"/>
                <a:ea typeface="Arial"/>
                <a:cs typeface="Arial"/>
              </a:rPr>
              <a:t>dash.js needs an immediate answer. A worker requires a scheduling bridge.</a:t>
            </a:r>
          </a:p>
          <a:p xmlns:a="http://schemas.openxmlformats.org/drawingml/2006/main">
            <a:pPr>
              <a:defRPr sz="2025" b="0">
                <a:solidFill>
                  <a:srgbClr val="142D4E"/>
                </a:solidFill>
                <a:latin typeface="Arial"/>
                <a:ea typeface="Arial"/>
                <a:cs typeface="Arial"/>
              </a:defRPr>
            </a:pPr>
            <a:r>
              <a:rPr sz="2025" b="0">
                <a:solidFill>
                  <a:srgbClr val="142D4E"/>
                </a:solidFill>
                <a:latin typeface="Arial"/>
                <a:ea typeface="Arial"/>
                <a:cs typeface="Arial"/>
              </a:rPr>
              <a:t>Returning a Promise alone does not satisfy its synchronous caller.</a:t>
            </a:r>
          </a:p>
        </p:txBody>
      </p:sp>
      <p:sp>
        <p:nvSpPr>
          <p:cNvPr id="7" name="rajat">
            <a:extLst xmlns:a="http://schemas.openxmlformats.org/drawingml/2006/main">
              <a:ext uri="{FF2B5EF4-FFF2-40B4-BE49-F238E27FC236}">
                <a16:creationId xmlns:a16="http://schemas.microsoft.com/office/drawing/2014/main" id="{FDC1BA22-B2FD-4F9C-9ED6-FD887F7C765B}"/>
              </a:ext>
            </a:extLst>
          </p:cNvPr>
          <p:cNvSpPr>
            <a:spLocks xmlns:a="http://schemas.openxmlformats.org/drawingml/2006/main" noGrp="1"/>
          </p:cNvSpPr>
          <p:nvPr/>
        </p:nvSpPr>
        <p:spPr>
          <a:xfrm xmlns:a="http://schemas.openxmlformats.org/drawingml/2006/main">
            <a:off x="609600" y="5486400"/>
            <a:ext cx="3381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0B7A75"/>
                </a:solidFill>
                <a:latin typeface="Arial"/>
                <a:ea typeface="Arial"/>
                <a:cs typeface="Arial"/>
              </a:defRPr>
            </a:defPPr>
            <a:lvl1pPr>
              <a:defRPr sz="2250" b="1">
                <a:solidFill>
                  <a:srgbClr val="0B7A75"/>
                </a:solidFill>
                <a:latin typeface="Arial"/>
                <a:ea typeface="Arial"/>
                <a:cs typeface="Arial"/>
              </a:defRPr>
            </a:lvl1pPr>
            <a:lvl2pPr>
              <a:defRPr sz="2250" b="1">
                <a:solidFill>
                  <a:srgbClr val="0B7A75"/>
                </a:solidFill>
                <a:latin typeface="Arial"/>
                <a:ea typeface="Arial"/>
                <a:cs typeface="Arial"/>
              </a:defRPr>
            </a:lvl2pPr>
            <a:lvl3pPr>
              <a:defRPr sz="2250" b="1">
                <a:solidFill>
                  <a:srgbClr val="0B7A75"/>
                </a:solidFill>
                <a:latin typeface="Arial"/>
                <a:ea typeface="Arial"/>
                <a:cs typeface="Arial"/>
              </a:defRPr>
            </a:lvl3pPr>
            <a:lvl4pPr>
              <a:defRPr sz="2250" b="1">
                <a:solidFill>
                  <a:srgbClr val="0B7A75"/>
                </a:solidFill>
                <a:latin typeface="Arial"/>
                <a:ea typeface="Arial"/>
                <a:cs typeface="Arial"/>
              </a:defRPr>
            </a:lvl4pPr>
            <a:lvl5pPr>
              <a:defRPr sz="2250" b="1">
                <a:solidFill>
                  <a:srgbClr val="0B7A75"/>
                </a:solidFill>
                <a:latin typeface="Arial"/>
                <a:ea typeface="Arial"/>
                <a:cs typeface="Arial"/>
              </a:defRPr>
            </a:lvl5pPr>
            <a:lvl6pPr>
              <a:defRPr sz="2250" b="1">
                <a:solidFill>
                  <a:srgbClr val="0B7A75"/>
                </a:solidFill>
                <a:latin typeface="Arial"/>
                <a:ea typeface="Arial"/>
                <a:cs typeface="Arial"/>
              </a:defRPr>
            </a:lvl6pPr>
            <a:lvl7pPr>
              <a:defRPr sz="2250" b="1">
                <a:solidFill>
                  <a:srgbClr val="0B7A75"/>
                </a:solidFill>
                <a:latin typeface="Arial"/>
                <a:ea typeface="Arial"/>
                <a:cs typeface="Arial"/>
              </a:defRPr>
            </a:lvl7pPr>
            <a:lvl8pPr>
              <a:defRPr sz="2250" b="1">
                <a:solidFill>
                  <a:srgbClr val="0B7A75"/>
                </a:solidFill>
                <a:latin typeface="Arial"/>
                <a:ea typeface="Arial"/>
                <a:cs typeface="Arial"/>
              </a:defRPr>
            </a:lvl8pPr>
            <a:lvl9pPr>
              <a:defRPr sz="2250" b="1">
                <a:solidFill>
                  <a:srgbClr val="0B7A75"/>
                </a:solidFill>
                <a:latin typeface="Arial"/>
                <a:ea typeface="Arial"/>
                <a:cs typeface="Arial"/>
              </a:defRPr>
            </a:lvl9pPr>
          </a:lstStyle>
          <a:p xmlns:a="http://schemas.openxmlformats.org/drawingml/2006/main">
            <a:pPr>
              <a:defRPr sz="2250" b="1">
                <a:solidFill>
                  <a:srgbClr val="0B7A75"/>
                </a:solidFill>
                <a:latin typeface="Arial"/>
                <a:ea typeface="Arial"/>
                <a:cs typeface="Arial"/>
              </a:defRPr>
            </a:pPr>
            <a:r>
              <a:rPr sz="2250" b="1">
                <a:solidFill>
                  <a:srgbClr val="0B7A75"/>
                </a:solidFill>
                <a:latin typeface="Arial"/>
                <a:ea typeface="Arial"/>
                <a:cs typeface="Arial"/>
              </a:rPr>
              <a:t>Rajat</a:t>
            </a:r>
          </a:p>
        </p:txBody>
      </p:sp>
      <p:sp>
        <p:nvSpPr>
          <p:cNvPr id="8" name="rajat-role">
            <a:extLst xmlns:a="http://schemas.openxmlformats.org/drawingml/2006/main">
              <a:ext uri="{FF2B5EF4-FFF2-40B4-BE49-F238E27FC236}">
                <a16:creationId xmlns:a16="http://schemas.microsoft.com/office/drawing/2014/main" id="{62903ACB-1E5E-40EC-A370-5ECF539EB8EE}"/>
              </a:ext>
            </a:extLst>
          </p:cNvPr>
          <p:cNvSpPr>
            <a:spLocks xmlns:a="http://schemas.openxmlformats.org/drawingml/2006/main" noGrp="1"/>
          </p:cNvSpPr>
          <p:nvPr/>
        </p:nvSpPr>
        <p:spPr>
          <a:xfrm xmlns:a="http://schemas.openxmlformats.org/drawingml/2006/main">
            <a:off x="609600" y="5886450"/>
            <a:ext cx="3381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42D4E"/>
                </a:solidFill>
                <a:latin typeface="Arial"/>
                <a:ea typeface="Arial"/>
                <a:cs typeface="Arial"/>
              </a:defRPr>
            </a:defPPr>
            <a:lvl1pPr>
              <a:defRPr sz="1875" b="0">
                <a:solidFill>
                  <a:srgbClr val="142D4E"/>
                </a:solidFill>
                <a:latin typeface="Arial"/>
                <a:ea typeface="Arial"/>
                <a:cs typeface="Arial"/>
              </a:defRPr>
            </a:lvl1pPr>
            <a:lvl2pPr>
              <a:defRPr sz="1875" b="0">
                <a:solidFill>
                  <a:srgbClr val="142D4E"/>
                </a:solidFill>
                <a:latin typeface="Arial"/>
                <a:ea typeface="Arial"/>
                <a:cs typeface="Arial"/>
              </a:defRPr>
            </a:lvl2pPr>
            <a:lvl3pPr>
              <a:defRPr sz="1875" b="0">
                <a:solidFill>
                  <a:srgbClr val="142D4E"/>
                </a:solidFill>
                <a:latin typeface="Arial"/>
                <a:ea typeface="Arial"/>
                <a:cs typeface="Arial"/>
              </a:defRPr>
            </a:lvl3pPr>
            <a:lvl4pPr>
              <a:defRPr sz="1875" b="0">
                <a:solidFill>
                  <a:srgbClr val="142D4E"/>
                </a:solidFill>
                <a:latin typeface="Arial"/>
                <a:ea typeface="Arial"/>
                <a:cs typeface="Arial"/>
              </a:defRPr>
            </a:lvl4pPr>
            <a:lvl5pPr>
              <a:defRPr sz="1875" b="0">
                <a:solidFill>
                  <a:srgbClr val="142D4E"/>
                </a:solidFill>
                <a:latin typeface="Arial"/>
                <a:ea typeface="Arial"/>
                <a:cs typeface="Arial"/>
              </a:defRPr>
            </a:lvl5pPr>
            <a:lvl6pPr>
              <a:defRPr sz="1875" b="0">
                <a:solidFill>
                  <a:srgbClr val="142D4E"/>
                </a:solidFill>
                <a:latin typeface="Arial"/>
                <a:ea typeface="Arial"/>
                <a:cs typeface="Arial"/>
              </a:defRPr>
            </a:lvl6pPr>
            <a:lvl7pPr>
              <a:defRPr sz="1875" b="0">
                <a:solidFill>
                  <a:srgbClr val="142D4E"/>
                </a:solidFill>
                <a:latin typeface="Arial"/>
                <a:ea typeface="Arial"/>
                <a:cs typeface="Arial"/>
              </a:defRPr>
            </a:lvl7pPr>
            <a:lvl8pPr>
              <a:defRPr sz="1875" b="0">
                <a:solidFill>
                  <a:srgbClr val="142D4E"/>
                </a:solidFill>
                <a:latin typeface="Arial"/>
                <a:ea typeface="Arial"/>
                <a:cs typeface="Arial"/>
              </a:defRPr>
            </a:lvl8pPr>
            <a:lvl9pPr>
              <a:defRPr sz="1875" b="0">
                <a:solidFill>
                  <a:srgbClr val="142D4E"/>
                </a:solidFill>
                <a:latin typeface="Arial"/>
                <a:ea typeface="Arial"/>
                <a:cs typeface="Arial"/>
              </a:defRPr>
            </a:lvl9pPr>
          </a:lstStyle>
          <a:p xmlns:a="http://schemas.openxmlformats.org/drawingml/2006/main">
            <a:pPr>
              <a:defRPr sz="1875" b="0">
                <a:solidFill>
                  <a:srgbClr val="142D4E"/>
                </a:solidFill>
                <a:latin typeface="Arial"/>
                <a:ea typeface="Arial"/>
                <a:cs typeface="Arial"/>
              </a:defRPr>
            </a:pPr>
            <a:r>
              <a:rPr sz="1875" b="0">
                <a:solidFill>
                  <a:srgbClr val="142D4E"/>
                </a:solidFill>
                <a:latin typeface="Arial"/>
                <a:ea typeface="Arial"/>
                <a:cs typeface="Arial"/>
              </a:rPr>
              <a:t>Player, builds and integration</a:t>
            </a:r>
          </a:p>
          <a:p xmlns:a="http://schemas.openxmlformats.org/drawingml/2006/main">
            <a:pPr>
              <a:defRPr sz="1875" b="0">
                <a:solidFill>
                  <a:srgbClr val="142D4E"/>
                </a:solidFill>
                <a:latin typeface="Arial"/>
                <a:ea typeface="Arial"/>
                <a:cs typeface="Arial"/>
              </a:defRPr>
            </a:pPr>
            <a:r>
              <a:rPr sz="1875" b="0">
                <a:solidFill>
                  <a:srgbClr val="142D4E"/>
                </a:solidFill>
                <a:latin typeface="Arial"/>
                <a:ea typeface="Arial"/>
                <a:cs typeface="Arial"/>
              </a:rPr>
              <a:t>Runtime bridge</a:t>
            </a:r>
          </a:p>
        </p:txBody>
      </p:sp>
      <p:sp>
        <p:nvSpPr>
          <p:cNvPr id="9" name="anjan">
            <a:extLst xmlns:a="http://schemas.openxmlformats.org/drawingml/2006/main">
              <a:ext uri="{FF2B5EF4-FFF2-40B4-BE49-F238E27FC236}">
                <a16:creationId xmlns:a16="http://schemas.microsoft.com/office/drawing/2014/main" id="{4DB1F051-C8E2-4B44-8F3B-5A826FA5036C}"/>
              </a:ext>
            </a:extLst>
          </p:cNvPr>
          <p:cNvSpPr>
            <a:spLocks xmlns:a="http://schemas.openxmlformats.org/drawingml/2006/main" noGrp="1"/>
          </p:cNvSpPr>
          <p:nvPr/>
        </p:nvSpPr>
        <p:spPr>
          <a:xfrm xmlns:a="http://schemas.openxmlformats.org/drawingml/2006/main">
            <a:off x="4381500" y="5486400"/>
            <a:ext cx="3381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0B7A75"/>
                </a:solidFill>
                <a:latin typeface="Arial"/>
                <a:ea typeface="Arial"/>
                <a:cs typeface="Arial"/>
              </a:defRPr>
            </a:defPPr>
            <a:lvl1pPr>
              <a:defRPr sz="2250" b="1">
                <a:solidFill>
                  <a:srgbClr val="0B7A75"/>
                </a:solidFill>
                <a:latin typeface="Arial"/>
                <a:ea typeface="Arial"/>
                <a:cs typeface="Arial"/>
              </a:defRPr>
            </a:lvl1pPr>
            <a:lvl2pPr>
              <a:defRPr sz="2250" b="1">
                <a:solidFill>
                  <a:srgbClr val="0B7A75"/>
                </a:solidFill>
                <a:latin typeface="Arial"/>
                <a:ea typeface="Arial"/>
                <a:cs typeface="Arial"/>
              </a:defRPr>
            </a:lvl2pPr>
            <a:lvl3pPr>
              <a:defRPr sz="2250" b="1">
                <a:solidFill>
                  <a:srgbClr val="0B7A75"/>
                </a:solidFill>
                <a:latin typeface="Arial"/>
                <a:ea typeface="Arial"/>
                <a:cs typeface="Arial"/>
              </a:defRPr>
            </a:lvl3pPr>
            <a:lvl4pPr>
              <a:defRPr sz="2250" b="1">
                <a:solidFill>
                  <a:srgbClr val="0B7A75"/>
                </a:solidFill>
                <a:latin typeface="Arial"/>
                <a:ea typeface="Arial"/>
                <a:cs typeface="Arial"/>
              </a:defRPr>
            </a:lvl4pPr>
            <a:lvl5pPr>
              <a:defRPr sz="2250" b="1">
                <a:solidFill>
                  <a:srgbClr val="0B7A75"/>
                </a:solidFill>
                <a:latin typeface="Arial"/>
                <a:ea typeface="Arial"/>
                <a:cs typeface="Arial"/>
              </a:defRPr>
            </a:lvl5pPr>
            <a:lvl6pPr>
              <a:defRPr sz="2250" b="1">
                <a:solidFill>
                  <a:srgbClr val="0B7A75"/>
                </a:solidFill>
                <a:latin typeface="Arial"/>
                <a:ea typeface="Arial"/>
                <a:cs typeface="Arial"/>
              </a:defRPr>
            </a:lvl6pPr>
            <a:lvl7pPr>
              <a:defRPr sz="2250" b="1">
                <a:solidFill>
                  <a:srgbClr val="0B7A75"/>
                </a:solidFill>
                <a:latin typeface="Arial"/>
                <a:ea typeface="Arial"/>
                <a:cs typeface="Arial"/>
              </a:defRPr>
            </a:lvl7pPr>
            <a:lvl8pPr>
              <a:defRPr sz="2250" b="1">
                <a:solidFill>
                  <a:srgbClr val="0B7A75"/>
                </a:solidFill>
                <a:latin typeface="Arial"/>
                <a:ea typeface="Arial"/>
                <a:cs typeface="Arial"/>
              </a:defRPr>
            </a:lvl8pPr>
            <a:lvl9pPr>
              <a:defRPr sz="2250" b="1">
                <a:solidFill>
                  <a:srgbClr val="0B7A75"/>
                </a:solidFill>
                <a:latin typeface="Arial"/>
                <a:ea typeface="Arial"/>
                <a:cs typeface="Arial"/>
              </a:defRPr>
            </a:lvl9pPr>
          </a:lstStyle>
          <a:p xmlns:a="http://schemas.openxmlformats.org/drawingml/2006/main">
            <a:pPr>
              <a:defRPr sz="2250" b="1">
                <a:solidFill>
                  <a:srgbClr val="0B7A75"/>
                </a:solidFill>
                <a:latin typeface="Arial"/>
                <a:ea typeface="Arial"/>
                <a:cs typeface="Arial"/>
              </a:defRPr>
            </a:pPr>
            <a:r>
              <a:rPr sz="2250" b="1">
                <a:solidFill>
                  <a:srgbClr val="0B7A75"/>
                </a:solidFill>
                <a:latin typeface="Arial"/>
                <a:ea typeface="Arial"/>
                <a:cs typeface="Arial"/>
              </a:rPr>
              <a:t>Anjan</a:t>
            </a:r>
          </a:p>
        </p:txBody>
      </p:sp>
      <p:sp>
        <p:nvSpPr>
          <p:cNvPr id="10" name="anjan-role">
            <a:extLst xmlns:a="http://schemas.openxmlformats.org/drawingml/2006/main">
              <a:ext uri="{FF2B5EF4-FFF2-40B4-BE49-F238E27FC236}">
                <a16:creationId xmlns:a16="http://schemas.microsoft.com/office/drawing/2014/main" id="{CD4255F4-E2D6-49A6-8E99-71A7B2D92C63}"/>
              </a:ext>
            </a:extLst>
          </p:cNvPr>
          <p:cNvSpPr>
            <a:spLocks xmlns:a="http://schemas.openxmlformats.org/drawingml/2006/main" noGrp="1"/>
          </p:cNvSpPr>
          <p:nvPr/>
        </p:nvSpPr>
        <p:spPr>
          <a:xfrm xmlns:a="http://schemas.openxmlformats.org/drawingml/2006/main">
            <a:off x="4381500" y="5886450"/>
            <a:ext cx="3381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42D4E"/>
                </a:solidFill>
                <a:latin typeface="Arial"/>
                <a:ea typeface="Arial"/>
                <a:cs typeface="Arial"/>
              </a:defRPr>
            </a:defPPr>
            <a:lvl1pPr>
              <a:defRPr sz="1875" b="0">
                <a:solidFill>
                  <a:srgbClr val="142D4E"/>
                </a:solidFill>
                <a:latin typeface="Arial"/>
                <a:ea typeface="Arial"/>
                <a:cs typeface="Arial"/>
              </a:defRPr>
            </a:lvl1pPr>
            <a:lvl2pPr>
              <a:defRPr sz="1875" b="0">
                <a:solidFill>
                  <a:srgbClr val="142D4E"/>
                </a:solidFill>
                <a:latin typeface="Arial"/>
                <a:ea typeface="Arial"/>
                <a:cs typeface="Arial"/>
              </a:defRPr>
            </a:lvl2pPr>
            <a:lvl3pPr>
              <a:defRPr sz="1875" b="0">
                <a:solidFill>
                  <a:srgbClr val="142D4E"/>
                </a:solidFill>
                <a:latin typeface="Arial"/>
                <a:ea typeface="Arial"/>
                <a:cs typeface="Arial"/>
              </a:defRPr>
            </a:lvl3pPr>
            <a:lvl4pPr>
              <a:defRPr sz="1875" b="0">
                <a:solidFill>
                  <a:srgbClr val="142D4E"/>
                </a:solidFill>
                <a:latin typeface="Arial"/>
                <a:ea typeface="Arial"/>
                <a:cs typeface="Arial"/>
              </a:defRPr>
            </a:lvl4pPr>
            <a:lvl5pPr>
              <a:defRPr sz="1875" b="0">
                <a:solidFill>
                  <a:srgbClr val="142D4E"/>
                </a:solidFill>
                <a:latin typeface="Arial"/>
                <a:ea typeface="Arial"/>
                <a:cs typeface="Arial"/>
              </a:defRPr>
            </a:lvl5pPr>
            <a:lvl6pPr>
              <a:defRPr sz="1875" b="0">
                <a:solidFill>
                  <a:srgbClr val="142D4E"/>
                </a:solidFill>
                <a:latin typeface="Arial"/>
                <a:ea typeface="Arial"/>
                <a:cs typeface="Arial"/>
              </a:defRPr>
            </a:lvl6pPr>
            <a:lvl7pPr>
              <a:defRPr sz="1875" b="0">
                <a:solidFill>
                  <a:srgbClr val="142D4E"/>
                </a:solidFill>
                <a:latin typeface="Arial"/>
                <a:ea typeface="Arial"/>
                <a:cs typeface="Arial"/>
              </a:defRPr>
            </a:lvl7pPr>
            <a:lvl8pPr>
              <a:defRPr sz="1875" b="0">
                <a:solidFill>
                  <a:srgbClr val="142D4E"/>
                </a:solidFill>
                <a:latin typeface="Arial"/>
                <a:ea typeface="Arial"/>
                <a:cs typeface="Arial"/>
              </a:defRPr>
            </a:lvl8pPr>
            <a:lvl9pPr>
              <a:defRPr sz="1875" b="0">
                <a:solidFill>
                  <a:srgbClr val="142D4E"/>
                </a:solidFill>
                <a:latin typeface="Arial"/>
                <a:ea typeface="Arial"/>
                <a:cs typeface="Arial"/>
              </a:defRPr>
            </a:lvl9pPr>
          </a:lstStyle>
          <a:p xmlns:a="http://schemas.openxmlformats.org/drawingml/2006/main">
            <a:pPr>
              <a:defRPr sz="1875" b="0">
                <a:solidFill>
                  <a:srgbClr val="142D4E"/>
                </a:solidFill>
                <a:latin typeface="Arial"/>
                <a:ea typeface="Arial"/>
                <a:cs typeface="Arial"/>
              </a:defRPr>
            </a:pPr>
            <a:r>
              <a:rPr sz="1875" b="0">
                <a:solidFill>
                  <a:srgbClr val="142D4E"/>
                </a:solidFill>
                <a:latin typeface="Arial"/>
                <a:ea typeface="Arial"/>
                <a:cs typeface="Arial"/>
              </a:rPr>
              <a:t>RL environment and training</a:t>
            </a:r>
          </a:p>
          <a:p xmlns:a="http://schemas.openxmlformats.org/drawingml/2006/main">
            <a:pPr>
              <a:defRPr sz="1875" b="0">
                <a:solidFill>
                  <a:srgbClr val="142D4E"/>
                </a:solidFill>
                <a:latin typeface="Arial"/>
                <a:ea typeface="Arial"/>
                <a:cs typeface="Arial"/>
              </a:defRPr>
            </a:pPr>
            <a:r>
              <a:rPr sz="1875" b="0">
                <a:solidFill>
                  <a:srgbClr val="142D4E"/>
                </a:solidFill>
                <a:latin typeface="Arial"/>
                <a:ea typeface="Arial"/>
                <a:cs typeface="Arial"/>
              </a:rPr>
              <a:t>Model exports</a:t>
            </a:r>
          </a:p>
        </p:txBody>
      </p:sp>
      <p:sp>
        <p:nvSpPr>
          <p:cNvPr id="11" name="devi">
            <a:extLst xmlns:a="http://schemas.openxmlformats.org/drawingml/2006/main">
              <a:ext uri="{FF2B5EF4-FFF2-40B4-BE49-F238E27FC236}">
                <a16:creationId xmlns:a16="http://schemas.microsoft.com/office/drawing/2014/main" id="{CAAB158B-5999-47CA-9AC8-E3FC2D64F7D4}"/>
              </a:ext>
            </a:extLst>
          </p:cNvPr>
          <p:cNvSpPr>
            <a:spLocks xmlns:a="http://schemas.openxmlformats.org/drawingml/2006/main" noGrp="1"/>
          </p:cNvSpPr>
          <p:nvPr/>
        </p:nvSpPr>
        <p:spPr>
          <a:xfrm xmlns:a="http://schemas.openxmlformats.org/drawingml/2006/main">
            <a:off x="8153400" y="5486400"/>
            <a:ext cx="342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0B7A75"/>
                </a:solidFill>
                <a:latin typeface="Arial"/>
                <a:ea typeface="Arial"/>
                <a:cs typeface="Arial"/>
              </a:defRPr>
            </a:defPPr>
            <a:lvl1pPr>
              <a:defRPr sz="2250" b="1">
                <a:solidFill>
                  <a:srgbClr val="0B7A75"/>
                </a:solidFill>
                <a:latin typeface="Arial"/>
                <a:ea typeface="Arial"/>
                <a:cs typeface="Arial"/>
              </a:defRPr>
            </a:lvl1pPr>
            <a:lvl2pPr>
              <a:defRPr sz="2250" b="1">
                <a:solidFill>
                  <a:srgbClr val="0B7A75"/>
                </a:solidFill>
                <a:latin typeface="Arial"/>
                <a:ea typeface="Arial"/>
                <a:cs typeface="Arial"/>
              </a:defRPr>
            </a:lvl2pPr>
            <a:lvl3pPr>
              <a:defRPr sz="2250" b="1">
                <a:solidFill>
                  <a:srgbClr val="0B7A75"/>
                </a:solidFill>
                <a:latin typeface="Arial"/>
                <a:ea typeface="Arial"/>
                <a:cs typeface="Arial"/>
              </a:defRPr>
            </a:lvl3pPr>
            <a:lvl4pPr>
              <a:defRPr sz="2250" b="1">
                <a:solidFill>
                  <a:srgbClr val="0B7A75"/>
                </a:solidFill>
                <a:latin typeface="Arial"/>
                <a:ea typeface="Arial"/>
                <a:cs typeface="Arial"/>
              </a:defRPr>
            </a:lvl4pPr>
            <a:lvl5pPr>
              <a:defRPr sz="2250" b="1">
                <a:solidFill>
                  <a:srgbClr val="0B7A75"/>
                </a:solidFill>
                <a:latin typeface="Arial"/>
                <a:ea typeface="Arial"/>
                <a:cs typeface="Arial"/>
              </a:defRPr>
            </a:lvl5pPr>
            <a:lvl6pPr>
              <a:defRPr sz="2250" b="1">
                <a:solidFill>
                  <a:srgbClr val="0B7A75"/>
                </a:solidFill>
                <a:latin typeface="Arial"/>
                <a:ea typeface="Arial"/>
                <a:cs typeface="Arial"/>
              </a:defRPr>
            </a:lvl6pPr>
            <a:lvl7pPr>
              <a:defRPr sz="2250" b="1">
                <a:solidFill>
                  <a:srgbClr val="0B7A75"/>
                </a:solidFill>
                <a:latin typeface="Arial"/>
                <a:ea typeface="Arial"/>
                <a:cs typeface="Arial"/>
              </a:defRPr>
            </a:lvl7pPr>
            <a:lvl8pPr>
              <a:defRPr sz="2250" b="1">
                <a:solidFill>
                  <a:srgbClr val="0B7A75"/>
                </a:solidFill>
                <a:latin typeface="Arial"/>
                <a:ea typeface="Arial"/>
                <a:cs typeface="Arial"/>
              </a:defRPr>
            </a:lvl8pPr>
            <a:lvl9pPr>
              <a:defRPr sz="2250" b="1">
                <a:solidFill>
                  <a:srgbClr val="0B7A75"/>
                </a:solidFill>
                <a:latin typeface="Arial"/>
                <a:ea typeface="Arial"/>
                <a:cs typeface="Arial"/>
              </a:defRPr>
            </a:lvl9pPr>
          </a:lstStyle>
          <a:p xmlns:a="http://schemas.openxmlformats.org/drawingml/2006/main">
            <a:pPr>
              <a:defRPr sz="2250" b="1">
                <a:solidFill>
                  <a:srgbClr val="0B7A75"/>
                </a:solidFill>
                <a:latin typeface="Arial"/>
                <a:ea typeface="Arial"/>
                <a:cs typeface="Arial"/>
              </a:defRPr>
            </a:pPr>
            <a:r>
              <a:rPr sz="2250" b="1">
                <a:solidFill>
                  <a:srgbClr val="0B7A75"/>
                </a:solidFill>
                <a:latin typeface="Arial"/>
                <a:ea typeface="Arial"/>
                <a:cs typeface="Arial"/>
              </a:rPr>
              <a:t>Deviprasad</a:t>
            </a:r>
          </a:p>
        </p:txBody>
      </p:sp>
      <p:sp>
        <p:nvSpPr>
          <p:cNvPr id="12" name="devi-role">
            <a:extLst xmlns:a="http://schemas.openxmlformats.org/drawingml/2006/main">
              <a:ext uri="{FF2B5EF4-FFF2-40B4-BE49-F238E27FC236}">
                <a16:creationId xmlns:a16="http://schemas.microsoft.com/office/drawing/2014/main" id="{CEDF8E51-9927-456C-BEA4-1630E769BC46}"/>
              </a:ext>
            </a:extLst>
          </p:cNvPr>
          <p:cNvSpPr>
            <a:spLocks xmlns:a="http://schemas.openxmlformats.org/drawingml/2006/main" noGrp="1"/>
          </p:cNvSpPr>
          <p:nvPr/>
        </p:nvSpPr>
        <p:spPr>
          <a:xfrm xmlns:a="http://schemas.openxmlformats.org/drawingml/2006/main">
            <a:off x="8153400" y="5886450"/>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42D4E"/>
                </a:solidFill>
                <a:latin typeface="Arial"/>
                <a:ea typeface="Arial"/>
                <a:cs typeface="Arial"/>
              </a:defRPr>
            </a:defPPr>
            <a:lvl1pPr>
              <a:defRPr sz="1875" b="0">
                <a:solidFill>
                  <a:srgbClr val="142D4E"/>
                </a:solidFill>
                <a:latin typeface="Arial"/>
                <a:ea typeface="Arial"/>
                <a:cs typeface="Arial"/>
              </a:defRPr>
            </a:lvl1pPr>
            <a:lvl2pPr>
              <a:defRPr sz="1875" b="0">
                <a:solidFill>
                  <a:srgbClr val="142D4E"/>
                </a:solidFill>
                <a:latin typeface="Arial"/>
                <a:ea typeface="Arial"/>
                <a:cs typeface="Arial"/>
              </a:defRPr>
            </a:lvl2pPr>
            <a:lvl3pPr>
              <a:defRPr sz="1875" b="0">
                <a:solidFill>
                  <a:srgbClr val="142D4E"/>
                </a:solidFill>
                <a:latin typeface="Arial"/>
                <a:ea typeface="Arial"/>
                <a:cs typeface="Arial"/>
              </a:defRPr>
            </a:lvl3pPr>
            <a:lvl4pPr>
              <a:defRPr sz="1875" b="0">
                <a:solidFill>
                  <a:srgbClr val="142D4E"/>
                </a:solidFill>
                <a:latin typeface="Arial"/>
                <a:ea typeface="Arial"/>
                <a:cs typeface="Arial"/>
              </a:defRPr>
            </a:lvl4pPr>
            <a:lvl5pPr>
              <a:defRPr sz="1875" b="0">
                <a:solidFill>
                  <a:srgbClr val="142D4E"/>
                </a:solidFill>
                <a:latin typeface="Arial"/>
                <a:ea typeface="Arial"/>
                <a:cs typeface="Arial"/>
              </a:defRPr>
            </a:lvl5pPr>
            <a:lvl6pPr>
              <a:defRPr sz="1875" b="0">
                <a:solidFill>
                  <a:srgbClr val="142D4E"/>
                </a:solidFill>
                <a:latin typeface="Arial"/>
                <a:ea typeface="Arial"/>
                <a:cs typeface="Arial"/>
              </a:defRPr>
            </a:lvl6pPr>
            <a:lvl7pPr>
              <a:defRPr sz="1875" b="0">
                <a:solidFill>
                  <a:srgbClr val="142D4E"/>
                </a:solidFill>
                <a:latin typeface="Arial"/>
                <a:ea typeface="Arial"/>
                <a:cs typeface="Arial"/>
              </a:defRPr>
            </a:lvl7pPr>
            <a:lvl8pPr>
              <a:defRPr sz="1875" b="0">
                <a:solidFill>
                  <a:srgbClr val="142D4E"/>
                </a:solidFill>
                <a:latin typeface="Arial"/>
                <a:ea typeface="Arial"/>
                <a:cs typeface="Arial"/>
              </a:defRPr>
            </a:lvl8pPr>
            <a:lvl9pPr>
              <a:defRPr sz="1875" b="0">
                <a:solidFill>
                  <a:srgbClr val="142D4E"/>
                </a:solidFill>
                <a:latin typeface="Arial"/>
                <a:ea typeface="Arial"/>
                <a:cs typeface="Arial"/>
              </a:defRPr>
            </a:lvl9pPr>
          </a:lstStyle>
          <a:p xmlns:a="http://schemas.openxmlformats.org/drawingml/2006/main">
            <a:pPr>
              <a:defRPr sz="1875" b="0">
                <a:solidFill>
                  <a:srgbClr val="142D4E"/>
                </a:solidFill>
                <a:latin typeface="Arial"/>
                <a:ea typeface="Arial"/>
                <a:cs typeface="Arial"/>
              </a:defRPr>
            </a:pPr>
            <a:r>
              <a:rPr sz="1875" b="0">
                <a:solidFill>
                  <a:srgbClr val="142D4E"/>
                </a:solidFill>
                <a:latin typeface="Arial"/>
                <a:ea typeface="Arial"/>
                <a:cs typeface="Arial"/>
              </a:rPr>
              <a:t>Emulation and scenarios</a:t>
            </a:r>
          </a:p>
          <a:p xmlns:a="http://schemas.openxmlformats.org/drawingml/2006/main">
            <a:pPr>
              <a:defRPr sz="1875" b="0">
                <a:solidFill>
                  <a:srgbClr val="142D4E"/>
                </a:solidFill>
                <a:latin typeface="Arial"/>
                <a:ea typeface="Arial"/>
                <a:cs typeface="Arial"/>
              </a:defRPr>
            </a:pPr>
            <a:r>
              <a:rPr sz="1875" b="0">
                <a:solidFill>
                  <a:srgbClr val="142D4E"/>
                </a:solidFill>
                <a:latin typeface="Arial"/>
                <a:ea typeface="Arial"/>
                <a:cs typeface="Arial"/>
              </a:rPr>
              <a:t>QoE evaluation</a:t>
            </a:r>
          </a:p>
        </p:txBody>
      </p:sp>
    </p:spTree>
    <p:extLst>
      <p:ext uri="{BB962C8B-B14F-4D97-AF65-F5344CB8AC3E}">
        <p14:creationId xmlns:p14="http://schemas.microsoft.com/office/powerpoint/2010/main" val="2173674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2026-10-30T04:01:11.7540000Z</dcterms:created>
  <dcterms:modified xsi:type="dcterms:W3CDTF">2026-10-30T04:01:11.7540000Z</dcterms:modified>
</coreProperties>
</file>